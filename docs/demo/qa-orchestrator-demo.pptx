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969a4eb-5de2-9446-f67e-6330d9b18a9c}">
          <p14:sldIdLst>
            <p14:sldId id="256"/>
            <p14:sldId id="257"/>
            <p14:sldId id="258"/>
          </p14:sldIdLst>
        </p14:section>
        <p14:section name="Basics" id="{3159ccee-9f74-9c45-2e35-f00212b05ccb}">
          <p14:sldIdLst>
            <p14:sldId id="259"/>
            <p14:sldId id="260"/>
            <p14:sldId id="261"/>
            <p14:sldId id="262"/>
            <p14:sldId id="263"/>
            <p14:sldId id="264"/>
            <p14:sldId id="265"/>
            <p14:sldId id="266"/>
          </p14:sldIdLst>
        </p14:section>
        <p14:section name="QA Orchestrator" id="{d4697109-1a71-ab13-0257-9a04a5580b31}">
          <p14:sldIdLst>
            <p14:sldId id="267"/>
            <p14:sldId id="268"/>
            <p14:sldId id="269"/>
          </p14:sldIdLst>
        </p14:section>
        <p14:section name="The Flow" id="{9bd325e9-cfa8-e22c-873a-0cf84d20f329}">
          <p14:sldIdLst>
            <p14:sldId id="270"/>
            <p14:sldId id="271"/>
            <p14:sldId id="272"/>
          </p14:sldIdLst>
        </p14:section>
        <p14:section name="Guardrails" id="{13a86b19-dd01-b0fe-7a43-cfe778780504}">
          <p14:sldIdLst>
            <p14:sldId id="273"/>
            <p14:sldId id="274"/>
            <p14:sldId id="275"/>
            <p14:sldId id="276"/>
          </p14:sldIdLst>
        </p14:section>
        <p14:section name="Demo" id="{017e290e-43be-4abb-be1e-679a976822b3}">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148840"/>
            <a:ext cx="109728" cy="1600200"/>
          </a:xfrm>
          <a:prstGeom prst="rect">
            <a:avLst/>
          </a:prstGeom>
          <a:solidFill>
            <a:srgbClr val="405AE7"/>
          </a:solidFill>
          <a:ln/>
        </p:spPr>
        <p:txBody>
          <a:bodyPr/>
          <a:p/>
        </p:txBody>
      </p:sp>
      <p:sp>
        <p:nvSpPr>
          <p:cNvPr id="3" name="Text 1"/>
          <p:cNvSpPr txBox="1"/>
          <p:nvPr/>
        </p:nvSpPr>
        <p:spPr>
          <a:xfrm>
            <a:off x="868680" y="2057400"/>
            <a:ext cx="10360152" cy="1234440"/>
          </a:xfrm>
          <a:prstGeom prst="rect">
            <a:avLst/>
          </a:prstGeom>
          <a:noFill/>
          <a:ln/>
        </p:spPr>
        <p:txBody>
          <a:bodyPr wrap="square" lIns="0" tIns="0" rIns="0" bIns="0" rtlCol="0" anchor="ctr"/>
          <a:lstStyle/>
          <a:p>
            <a:pPr indent="0" marL="0">
              <a:buNone/>
            </a:pPr>
            <a:r>
              <a:rPr lang="en-US" sz="3600" dirty="0">
                <a:solidFill>
                  <a:srgbClr val="1A1A1A"/>
                </a:solidFill>
                <a:latin typeface="Poppins SemiBold" pitchFamily="34" charset="0"/>
                <a:ea typeface="Poppins SemiBold" pitchFamily="34" charset="-122"/>
                <a:cs typeface="Poppins SemiBold" pitchFamily="34" charset="-120"/>
              </a:rPr>
              <a:t>Multi-Agent QA</a:t>
            </a:r>
            <a:endParaRPr lang="en-US" sz="3600" dirty="0"/>
          </a:p>
          <a:p>
            <a:pPr indent="0" marL="0">
              <a:buNone/>
            </a:pPr>
            <a:r>
              <a:rPr lang="en-US" sz="3600" dirty="0">
                <a:solidFill>
                  <a:srgbClr val="1A1A1A"/>
                </a:solidFill>
                <a:latin typeface="Poppins SemiBold" pitchFamily="34" charset="0"/>
                <a:ea typeface="Poppins SemiBold" pitchFamily="34" charset="-122"/>
                <a:cs typeface="Poppins SemiBold" pitchFamily="34" charset="-120"/>
              </a:rPr>
              <a:t>with Claude Code</a:t>
            </a:r>
            <a:endParaRPr lang="en-US" sz="3600" dirty="0"/>
          </a:p>
        </p:txBody>
      </p:sp>
      <p:sp>
        <p:nvSpPr>
          <p:cNvPr id="4" name="Text 2"/>
          <p:cNvSpPr txBox="1"/>
          <p:nvPr/>
        </p:nvSpPr>
        <p:spPr>
          <a:xfrm>
            <a:off x="868680" y="3291840"/>
            <a:ext cx="10360152" cy="548640"/>
          </a:xfrm>
          <a:prstGeom prst="rect">
            <a:avLst/>
          </a:prstGeom>
          <a:noFill/>
          <a:ln/>
        </p:spPr>
        <p:txBody>
          <a:bodyPr wrap="square" lIns="0" tIns="0" rIns="0" bIns="0" rtlCol="0" anchor="ctr"/>
          <a:lstStyle/>
          <a:p>
            <a:pPr indent="0" marL="0">
              <a:buNone/>
            </a:pPr>
            <a:r>
              <a:rPr lang="en-US" sz="2200" dirty="0">
                <a:solidFill>
                  <a:srgbClr val="405AE7"/>
                </a:solidFill>
                <a:latin typeface="Poppins" pitchFamily="34" charset="0"/>
                <a:ea typeface="Poppins" pitchFamily="34" charset="-122"/>
                <a:cs typeface="Poppins" pitchFamily="34" charset="-120"/>
              </a:rPr>
              <a:t>From a Jira ticket to a reviewed QA pull request</a:t>
            </a:r>
            <a:endParaRPr lang="en-US" sz="2200" dirty="0"/>
          </a:p>
        </p:txBody>
      </p:sp>
      <p:sp>
        <p:nvSpPr>
          <p:cNvPr id="5" name="Text 3"/>
          <p:cNvSpPr txBox="1"/>
          <p:nvPr/>
        </p:nvSpPr>
        <p:spPr>
          <a:xfrm>
            <a:off x="868680" y="3840480"/>
            <a:ext cx="10360152" cy="320040"/>
          </a:xfrm>
          <a:prstGeom prst="rect">
            <a:avLst/>
          </a:prstGeom>
          <a:noFill/>
          <a:ln/>
        </p:spPr>
        <p:txBody>
          <a:bodyPr wrap="square" lIns="0" tIns="0" rIns="0" bIns="0" rtlCol="0" anchor="ctr"/>
          <a:lstStyle/>
          <a:p>
            <a:pPr indent="0" marL="0">
              <a:buNone/>
            </a:pPr>
            <a:r>
              <a:rPr lang="en-US" sz="1200" spc="200" kern="0" dirty="0">
                <a:solidFill>
                  <a:srgbClr val="999999"/>
                </a:solidFill>
                <a:latin typeface="Poppins SemiBold" pitchFamily="34" charset="0"/>
                <a:ea typeface="Poppins SemiBold" pitchFamily="34" charset="-122"/>
                <a:cs typeface="Poppins SemiBold" pitchFamily="34" charset="-120"/>
              </a:rPr>
              <a:t>TEAM KNOWLEDGE SHARING · QA ORCHESTRATOR DEMO</a:t>
            </a:r>
            <a:endParaRPr lang="en-US" sz="1200" dirty="0"/>
          </a:p>
        </p:txBody>
      </p:sp>
      <p:sp>
        <p:nvSpPr>
          <p:cNvPr id="6" name="Text 4"/>
          <p:cNvSpPr txBox="1"/>
          <p:nvPr/>
        </p:nvSpPr>
        <p:spPr>
          <a:xfrm>
            <a:off x="548640" y="6217920"/>
            <a:ext cx="2743200" cy="274320"/>
          </a:xfrm>
          <a:prstGeom prst="rect">
            <a:avLst/>
          </a:prstGeom>
          <a:noFill/>
          <a:ln/>
        </p:spPr>
        <p:txBody>
          <a:bodyPr wrap="square" lIns="0" tIns="0" rIns="0" bIns="0" rtlCol="0" anchor="t"/>
          <a:lstStyle/>
          <a:p>
            <a:pPr indent="0" marL="0">
              <a:buNone/>
            </a:pPr>
            <a:r>
              <a:rPr lang="en-US" sz="1200" dirty="0">
                <a:solidFill>
                  <a:srgbClr val="999999"/>
                </a:solidFill>
                <a:latin typeface="Poppins Light" pitchFamily="34" charset="0"/>
                <a:ea typeface="Poppins Light" pitchFamily="34" charset="-122"/>
                <a:cs typeface="Poppins Light" pitchFamily="34" charset="-120"/>
              </a:rPr>
              <a:t>October 2026</a:t>
            </a:r>
            <a:endParaRPr lang="en-US" sz="1200" dirty="0"/>
          </a:p>
        </p:txBody>
      </p:sp>
      <p:pic>
        <p:nvPicPr>
          <p:cNvPr id="7" name="Image 0" descr="logo">    </p:cNvPr>
          <p:cNvPicPr>
            <a:picLocks noChangeAspect="1"/>
          </p:cNvPicPr>
          <p:nvPr/>
        </p:nvPicPr>
        <p:blipFill>
          <a:blip r:embed="rId1"/>
          <a:stretch>
            <a:fillRect/>
          </a:stretch>
        </p:blipFill>
        <p:spPr>
          <a:xfrm>
            <a:off x="11365992" y="60807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Agenda</a:t>
            </a:r>
            <a:endParaRPr lang="en-US" sz="3000" dirty="0"/>
          </a:p>
        </p:txBody>
      </p:sp>
      <p:sp>
        <p:nvSpPr>
          <p:cNvPr id="5" name="Text 3"/>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2 —</a:t>
            </a:r>
            <a:endParaRPr lang="en-US" sz="1000" dirty="0"/>
          </a:p>
        </p:txBody>
      </p:sp>
      <p:pic>
        <p:nvPicPr>
          <p:cNvPr id="6"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8" name="Shape 4"/>
          <p:cNvSpPr/>
          <p:nvPr/>
        </p:nvSpPr>
        <p:spPr>
          <a:xfrm>
            <a:off x="685800" y="1417320"/>
            <a:ext cx="8778240" cy="457200"/>
          </a:xfrm>
          <a:prstGeom prst="roundRect">
            <a:avLst>
              <a:gd name="adj" fmla="val 8000"/>
            </a:avLst>
          </a:prstGeom>
          <a:solidFill>
            <a:srgbClr val="F7F9FC"/>
          </a:solidFill>
          <a:ln/>
        </p:spPr>
        <p:txBody>
          <a:bodyPr/>
          <a:p/>
        </p:txBody>
      </p:sp>
      <p:sp>
        <p:nvSpPr>
          <p:cNvPr id="9" name="Shape 5"/>
          <p:cNvSpPr/>
          <p:nvPr/>
        </p:nvSpPr>
        <p:spPr>
          <a:xfrm>
            <a:off x="868680" y="1481328"/>
            <a:ext cx="310896" cy="310896"/>
          </a:xfrm>
          <a:prstGeom prst="ellipse">
            <a:avLst/>
          </a:prstGeom>
          <a:solidFill>
            <a:srgbClr val="405AE7"/>
          </a:solidFill>
          <a:ln/>
        </p:spPr>
        <p:txBody>
          <a:bodyPr/>
          <a:p/>
        </p:txBody>
      </p:sp>
      <p:sp>
        <p:nvSpPr>
          <p:cNvPr id="10" name="Text 6"/>
          <p:cNvSpPr txBox="1"/>
          <p:nvPr/>
        </p:nvSpPr>
        <p:spPr>
          <a:xfrm>
            <a:off x="868680" y="148132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1" name="Text 7"/>
          <p:cNvSpPr txBox="1"/>
          <p:nvPr/>
        </p:nvSpPr>
        <p:spPr>
          <a:xfrm>
            <a:off x="1371600" y="148132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Where we are: from doing the work to reviewing it</a:t>
            </a:r>
            <a:endParaRPr lang="en-US" sz="1400" dirty="0"/>
          </a:p>
        </p:txBody>
      </p:sp>
      <p:sp>
        <p:nvSpPr>
          <p:cNvPr id="12" name="Shape 8"/>
          <p:cNvSpPr/>
          <p:nvPr/>
        </p:nvSpPr>
        <p:spPr>
          <a:xfrm>
            <a:off x="868680" y="2029968"/>
            <a:ext cx="310896" cy="310896"/>
          </a:xfrm>
          <a:prstGeom prst="ellipse">
            <a:avLst/>
          </a:prstGeom>
          <a:solidFill>
            <a:srgbClr val="405AE7"/>
          </a:solidFill>
          <a:ln/>
        </p:spPr>
        <p:txBody>
          <a:bodyPr/>
          <a:p/>
        </p:txBody>
      </p:sp>
      <p:sp>
        <p:nvSpPr>
          <p:cNvPr id="13" name="Text 9"/>
          <p:cNvSpPr txBox="1"/>
          <p:nvPr/>
        </p:nvSpPr>
        <p:spPr>
          <a:xfrm>
            <a:off x="868680" y="202996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4" name="Text 10"/>
          <p:cNvSpPr txBox="1"/>
          <p:nvPr/>
        </p:nvSpPr>
        <p:spPr>
          <a:xfrm>
            <a:off x="1371600" y="202996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Claude Code basics: agent, tools, MCP, skill, subagent, hook, plugin</a:t>
            </a:r>
            <a:endParaRPr lang="en-US" sz="1400" dirty="0"/>
          </a:p>
        </p:txBody>
      </p:sp>
      <p:sp>
        <p:nvSpPr>
          <p:cNvPr id="15" name="Shape 11"/>
          <p:cNvSpPr/>
          <p:nvPr/>
        </p:nvSpPr>
        <p:spPr>
          <a:xfrm>
            <a:off x="685800" y="2514600"/>
            <a:ext cx="8778240" cy="457200"/>
          </a:xfrm>
          <a:prstGeom prst="roundRect">
            <a:avLst>
              <a:gd name="adj" fmla="val 8000"/>
            </a:avLst>
          </a:prstGeom>
          <a:solidFill>
            <a:srgbClr val="F7F9FC"/>
          </a:solidFill>
          <a:ln/>
        </p:spPr>
        <p:txBody>
          <a:bodyPr/>
          <a:p/>
        </p:txBody>
      </p:sp>
      <p:sp>
        <p:nvSpPr>
          <p:cNvPr id="16" name="Shape 12"/>
          <p:cNvSpPr/>
          <p:nvPr/>
        </p:nvSpPr>
        <p:spPr>
          <a:xfrm>
            <a:off x="868680" y="2578608"/>
            <a:ext cx="310896" cy="310896"/>
          </a:xfrm>
          <a:prstGeom prst="ellipse">
            <a:avLst/>
          </a:prstGeom>
          <a:solidFill>
            <a:srgbClr val="405AE7"/>
          </a:solidFill>
          <a:ln/>
        </p:spPr>
        <p:txBody>
          <a:bodyPr/>
          <a:p/>
        </p:txBody>
      </p:sp>
      <p:sp>
        <p:nvSpPr>
          <p:cNvPr id="17" name="Text 13"/>
          <p:cNvSpPr txBox="1"/>
          <p:nvPr/>
        </p:nvSpPr>
        <p:spPr>
          <a:xfrm>
            <a:off x="868680" y="257860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18" name="Text 14"/>
          <p:cNvSpPr txBox="1"/>
          <p:nvPr/>
        </p:nvSpPr>
        <p:spPr>
          <a:xfrm>
            <a:off x="1371600" y="257860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Skill vs. subagent vs. hook: when to use what</a:t>
            </a:r>
            <a:endParaRPr lang="en-US" sz="1400" dirty="0"/>
          </a:p>
        </p:txBody>
      </p:sp>
      <p:sp>
        <p:nvSpPr>
          <p:cNvPr id="19" name="Shape 15"/>
          <p:cNvSpPr/>
          <p:nvPr/>
        </p:nvSpPr>
        <p:spPr>
          <a:xfrm>
            <a:off x="868680" y="3127248"/>
            <a:ext cx="310896" cy="310896"/>
          </a:xfrm>
          <a:prstGeom prst="ellipse">
            <a:avLst/>
          </a:prstGeom>
          <a:solidFill>
            <a:srgbClr val="405AE7"/>
          </a:solidFill>
          <a:ln/>
        </p:spPr>
        <p:txBody>
          <a:bodyPr/>
          <a:p/>
        </p:txBody>
      </p:sp>
      <p:sp>
        <p:nvSpPr>
          <p:cNvPr id="20" name="Text 16"/>
          <p:cNvSpPr txBox="1"/>
          <p:nvPr/>
        </p:nvSpPr>
        <p:spPr>
          <a:xfrm>
            <a:off x="868680" y="312724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4</a:t>
            </a:r>
            <a:endParaRPr lang="en-US" sz="1200" dirty="0"/>
          </a:p>
        </p:txBody>
      </p:sp>
      <p:sp>
        <p:nvSpPr>
          <p:cNvPr id="21" name="Text 17"/>
          <p:cNvSpPr txBox="1"/>
          <p:nvPr/>
        </p:nvSpPr>
        <p:spPr>
          <a:xfrm>
            <a:off x="1371600" y="312724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Deterministic vs. AI judgment, and the workflow patterns</a:t>
            </a:r>
            <a:endParaRPr lang="en-US" sz="1400" dirty="0"/>
          </a:p>
        </p:txBody>
      </p:sp>
      <p:sp>
        <p:nvSpPr>
          <p:cNvPr id="22" name="Shape 18"/>
          <p:cNvSpPr/>
          <p:nvPr/>
        </p:nvSpPr>
        <p:spPr>
          <a:xfrm>
            <a:off x="685800" y="3611880"/>
            <a:ext cx="8778240" cy="457200"/>
          </a:xfrm>
          <a:prstGeom prst="roundRect">
            <a:avLst>
              <a:gd name="adj" fmla="val 8000"/>
            </a:avLst>
          </a:prstGeom>
          <a:solidFill>
            <a:srgbClr val="F7F9FC"/>
          </a:solidFill>
          <a:ln/>
        </p:spPr>
        <p:txBody>
          <a:bodyPr/>
          <a:p/>
        </p:txBody>
      </p:sp>
      <p:sp>
        <p:nvSpPr>
          <p:cNvPr id="23" name="Shape 19"/>
          <p:cNvSpPr/>
          <p:nvPr/>
        </p:nvSpPr>
        <p:spPr>
          <a:xfrm>
            <a:off x="868680" y="3675888"/>
            <a:ext cx="310896" cy="310896"/>
          </a:xfrm>
          <a:prstGeom prst="ellipse">
            <a:avLst/>
          </a:prstGeom>
          <a:solidFill>
            <a:srgbClr val="405AE7"/>
          </a:solidFill>
          <a:ln/>
        </p:spPr>
        <p:txBody>
          <a:bodyPr/>
          <a:p/>
        </p:txBody>
      </p:sp>
      <p:sp>
        <p:nvSpPr>
          <p:cNvPr id="24" name="Text 20"/>
          <p:cNvSpPr txBox="1"/>
          <p:nvPr/>
        </p:nvSpPr>
        <p:spPr>
          <a:xfrm>
            <a:off x="868680" y="367588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a:t>
            </a:r>
            <a:endParaRPr lang="en-US" sz="1200" dirty="0"/>
          </a:p>
        </p:txBody>
      </p:sp>
      <p:sp>
        <p:nvSpPr>
          <p:cNvPr id="25" name="Text 21"/>
          <p:cNvSpPr txBox="1"/>
          <p:nvPr/>
        </p:nvSpPr>
        <p:spPr>
          <a:xfrm>
            <a:off x="1371600" y="367588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The QA Orchestrator: three layers, seven agents</a:t>
            </a:r>
            <a:endParaRPr lang="en-US" sz="1400" dirty="0"/>
          </a:p>
        </p:txBody>
      </p:sp>
      <p:sp>
        <p:nvSpPr>
          <p:cNvPr id="26" name="Shape 22"/>
          <p:cNvSpPr/>
          <p:nvPr/>
        </p:nvSpPr>
        <p:spPr>
          <a:xfrm>
            <a:off x="868680" y="4224528"/>
            <a:ext cx="310896" cy="310896"/>
          </a:xfrm>
          <a:prstGeom prst="ellipse">
            <a:avLst/>
          </a:prstGeom>
          <a:solidFill>
            <a:srgbClr val="405AE7"/>
          </a:solidFill>
          <a:ln/>
        </p:spPr>
        <p:txBody>
          <a:bodyPr/>
          <a:p/>
        </p:txBody>
      </p:sp>
      <p:sp>
        <p:nvSpPr>
          <p:cNvPr id="27" name="Text 23"/>
          <p:cNvSpPr txBox="1"/>
          <p:nvPr/>
        </p:nvSpPr>
        <p:spPr>
          <a:xfrm>
            <a:off x="868680" y="422452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6</a:t>
            </a:r>
            <a:endParaRPr lang="en-US" sz="1200" dirty="0"/>
          </a:p>
        </p:txBody>
      </p:sp>
      <p:sp>
        <p:nvSpPr>
          <p:cNvPr id="28" name="Text 24"/>
          <p:cNvSpPr txBox="1"/>
          <p:nvPr/>
        </p:nvSpPr>
        <p:spPr>
          <a:xfrm>
            <a:off x="1371600" y="422452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The flow: human gates, loops, decisions</a:t>
            </a:r>
            <a:endParaRPr lang="en-US" sz="1400" dirty="0"/>
          </a:p>
        </p:txBody>
      </p:sp>
      <p:sp>
        <p:nvSpPr>
          <p:cNvPr id="29" name="Shape 25"/>
          <p:cNvSpPr/>
          <p:nvPr/>
        </p:nvSpPr>
        <p:spPr>
          <a:xfrm>
            <a:off x="685800" y="4709160"/>
            <a:ext cx="8778240" cy="457200"/>
          </a:xfrm>
          <a:prstGeom prst="roundRect">
            <a:avLst>
              <a:gd name="adj" fmla="val 8000"/>
            </a:avLst>
          </a:prstGeom>
          <a:solidFill>
            <a:srgbClr val="F7F9FC"/>
          </a:solidFill>
          <a:ln/>
        </p:spPr>
        <p:txBody>
          <a:bodyPr/>
          <a:p/>
        </p:txBody>
      </p:sp>
      <p:sp>
        <p:nvSpPr>
          <p:cNvPr id="30" name="Shape 26"/>
          <p:cNvSpPr/>
          <p:nvPr/>
        </p:nvSpPr>
        <p:spPr>
          <a:xfrm>
            <a:off x="868680" y="4773168"/>
            <a:ext cx="310896" cy="310896"/>
          </a:xfrm>
          <a:prstGeom prst="ellipse">
            <a:avLst/>
          </a:prstGeom>
          <a:solidFill>
            <a:srgbClr val="405AE7"/>
          </a:solidFill>
          <a:ln/>
        </p:spPr>
        <p:txBody>
          <a:bodyPr/>
          <a:p/>
        </p:txBody>
      </p:sp>
      <p:sp>
        <p:nvSpPr>
          <p:cNvPr id="31" name="Text 27"/>
          <p:cNvSpPr txBox="1"/>
          <p:nvPr/>
        </p:nvSpPr>
        <p:spPr>
          <a:xfrm>
            <a:off x="868680" y="477316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7</a:t>
            </a:r>
            <a:endParaRPr lang="en-US" sz="1200" dirty="0"/>
          </a:p>
        </p:txBody>
      </p:sp>
      <p:sp>
        <p:nvSpPr>
          <p:cNvPr id="32" name="Text 28"/>
          <p:cNvSpPr txBox="1"/>
          <p:nvPr/>
        </p:nvSpPr>
        <p:spPr>
          <a:xfrm>
            <a:off x="1371600" y="477316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Guardrails, run data, and honest limits</a:t>
            </a:r>
            <a:endParaRPr lang="en-US" sz="1400" dirty="0"/>
          </a:p>
        </p:txBody>
      </p:sp>
      <p:sp>
        <p:nvSpPr>
          <p:cNvPr id="33" name="Shape 29"/>
          <p:cNvSpPr/>
          <p:nvPr/>
        </p:nvSpPr>
        <p:spPr>
          <a:xfrm>
            <a:off x="868680" y="5321808"/>
            <a:ext cx="310896" cy="310896"/>
          </a:xfrm>
          <a:prstGeom prst="ellipse">
            <a:avLst/>
          </a:prstGeom>
          <a:solidFill>
            <a:srgbClr val="405AE7"/>
          </a:solidFill>
          <a:ln/>
        </p:spPr>
        <p:txBody>
          <a:bodyPr/>
          <a:p/>
        </p:txBody>
      </p:sp>
      <p:sp>
        <p:nvSpPr>
          <p:cNvPr id="34" name="Text 30"/>
          <p:cNvSpPr txBox="1"/>
          <p:nvPr/>
        </p:nvSpPr>
        <p:spPr>
          <a:xfrm>
            <a:off x="868680" y="532180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8</a:t>
            </a:r>
            <a:endParaRPr lang="en-US" sz="1200" dirty="0"/>
          </a:p>
        </p:txBody>
      </p:sp>
      <p:sp>
        <p:nvSpPr>
          <p:cNvPr id="35" name="Text 31"/>
          <p:cNvSpPr txBox="1"/>
          <p:nvPr/>
        </p:nvSpPr>
        <p:spPr>
          <a:xfrm>
            <a:off x="1371600" y="5321808"/>
            <a:ext cx="7955280" cy="310896"/>
          </a:xfrm>
          <a:prstGeom prst="rect">
            <a:avLst/>
          </a:prstGeom>
          <a:noFill/>
          <a:ln/>
        </p:spPr>
        <p:txBody>
          <a:bodyPr wrap="square" lIns="0" tIns="0" rIns="0" bIns="0" rtlCol="0" anchor="ctr"/>
          <a:lstStyle/>
          <a:p>
            <a:pPr indent="0" marL="0">
              <a:buNone/>
            </a:pPr>
            <a:r>
              <a:rPr lang="en-US" sz="1400" dirty="0">
                <a:solidFill>
                  <a:srgbClr val="1A1A1A"/>
                </a:solidFill>
                <a:latin typeface="Poppins" pitchFamily="34" charset="0"/>
                <a:ea typeface="Poppins" pitchFamily="34" charset="-122"/>
                <a:cs typeface="Poppins" pitchFamily="34" charset="-120"/>
              </a:rPr>
              <a:t>Live demo, then Q&amp;A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Where We Are</a:t>
            </a:r>
            <a:endParaRPr lang="en-US" sz="30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3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0" name="Shape 6"/>
          <p:cNvSpPr/>
          <p:nvPr/>
        </p:nvSpPr>
        <p:spPr>
          <a:xfrm>
            <a:off x="685800" y="1737360"/>
            <a:ext cx="3429000" cy="1600200"/>
          </a:xfrm>
          <a:prstGeom prst="roundRect">
            <a:avLst>
              <a:gd name="adj" fmla="val 3429"/>
            </a:avLst>
          </a:prstGeom>
          <a:solidFill>
            <a:srgbClr val="F7F9FC"/>
          </a:solidFill>
          <a:ln/>
        </p:spPr>
        <p:txBody>
          <a:bodyPr/>
          <a:p/>
        </p:txBody>
      </p:sp>
      <p:sp>
        <p:nvSpPr>
          <p:cNvPr id="11" name="Text 7"/>
          <p:cNvSpPr txBox="1"/>
          <p:nvPr/>
        </p:nvSpPr>
        <p:spPr>
          <a:xfrm>
            <a:off x="960120" y="1965960"/>
            <a:ext cx="2926080" cy="256032"/>
          </a:xfrm>
          <a:prstGeom prst="rect">
            <a:avLst/>
          </a:prstGeom>
          <a:noFill/>
          <a:ln/>
        </p:spPr>
        <p:txBody>
          <a:bodyPr wrap="square" lIns="0" tIns="0" rIns="0" bIns="0" rtlCol="0" anchor="t"/>
          <a:lstStyle/>
          <a:p>
            <a:pPr indent="0" marL="0">
              <a:buNone/>
            </a:pPr>
            <a:r>
              <a:rPr lang="en-US" sz="1050" spc="100" kern="0" dirty="0">
                <a:solidFill>
                  <a:srgbClr val="999999"/>
                </a:solidFill>
                <a:latin typeface="Poppins SemiBold" pitchFamily="34" charset="0"/>
                <a:ea typeface="Poppins SemiBold" pitchFamily="34" charset="-122"/>
                <a:cs typeface="Poppins SemiBold" pitchFamily="34" charset="-120"/>
              </a:rPr>
              <a:t>TODAY</a:t>
            </a:r>
            <a:endParaRPr lang="en-US" sz="1050" dirty="0"/>
          </a:p>
        </p:txBody>
      </p:sp>
      <p:sp>
        <p:nvSpPr>
          <p:cNvPr id="12" name="Text 8"/>
          <p:cNvSpPr txBox="1"/>
          <p:nvPr/>
        </p:nvSpPr>
        <p:spPr>
          <a:xfrm>
            <a:off x="960120" y="2286000"/>
            <a:ext cx="2926080" cy="457200"/>
          </a:xfrm>
          <a:prstGeom prst="rect">
            <a:avLst/>
          </a:prstGeom>
          <a:noFill/>
          <a:ln/>
        </p:spPr>
        <p:txBody>
          <a:bodyPr wrap="square" lIns="0" tIns="0" rIns="0" bIns="0" rtlCol="0" anchor="t"/>
          <a:lstStyle/>
          <a:p>
            <a:pPr indent="0" marL="0">
              <a:buNone/>
            </a:pPr>
            <a:r>
              <a:rPr lang="en-US" sz="1800" dirty="0">
                <a:solidFill>
                  <a:srgbClr val="1A1A1A"/>
                </a:solidFill>
                <a:latin typeface="Poppins SemiBold" pitchFamily="34" charset="0"/>
                <a:ea typeface="Poppins SemiBold" pitchFamily="34" charset="-122"/>
                <a:cs typeface="Poppins SemiBold" pitchFamily="34" charset="-120"/>
              </a:rPr>
              <a:t>People do the work</a:t>
            </a:r>
            <a:endParaRPr lang="en-US" sz="1800" dirty="0"/>
          </a:p>
        </p:txBody>
      </p:sp>
      <p:sp>
        <p:nvSpPr>
          <p:cNvPr id="13" name="Text 9"/>
          <p:cNvSpPr txBox="1"/>
          <p:nvPr/>
        </p:nvSpPr>
        <p:spPr>
          <a:xfrm>
            <a:off x="960120" y="2743200"/>
            <a:ext cx="2926080" cy="457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AI drafts, a person drives every step</a:t>
            </a:r>
            <a:endParaRPr lang="en-US" sz="1200" dirty="0"/>
          </a:p>
        </p:txBody>
      </p:sp>
      <p:sp>
        <p:nvSpPr>
          <p:cNvPr id="14" name="Text 10"/>
          <p:cNvSpPr txBox="1"/>
          <p:nvPr/>
        </p:nvSpPr>
        <p:spPr>
          <a:xfrm>
            <a:off x="4206240" y="2240280"/>
            <a:ext cx="548640" cy="548640"/>
          </a:xfrm>
          <a:prstGeom prst="rect">
            <a:avLst/>
          </a:prstGeom>
          <a:noFill/>
          <a:ln/>
        </p:spPr>
        <p:txBody>
          <a:bodyPr wrap="square" lIns="0" tIns="0" rIns="0" bIns="0" rtlCol="0" anchor="t"/>
          <a:lstStyle/>
          <a:p>
            <a:pPr algn="ctr" indent="0" marL="0">
              <a:buNone/>
            </a:pPr>
            <a:r>
              <a:rPr lang="en-US" sz="2800" dirty="0">
                <a:solidFill>
                  <a:srgbClr val="405AE7"/>
                </a:solidFill>
                <a:latin typeface="Poppins" pitchFamily="34" charset="0"/>
                <a:ea typeface="Poppins" pitchFamily="34" charset="-122"/>
                <a:cs typeface="Poppins" pitchFamily="34" charset="-120"/>
              </a:rPr>
              <a:t>→</a:t>
            </a:r>
            <a:endParaRPr lang="en-US" sz="2800" dirty="0"/>
          </a:p>
        </p:txBody>
      </p:sp>
      <p:sp>
        <p:nvSpPr>
          <p:cNvPr id="15" name="Shape 11"/>
          <p:cNvSpPr/>
          <p:nvPr/>
        </p:nvSpPr>
        <p:spPr>
          <a:xfrm>
            <a:off x="4846320" y="1737360"/>
            <a:ext cx="3429000" cy="1600200"/>
          </a:xfrm>
          <a:prstGeom prst="roundRect">
            <a:avLst>
              <a:gd name="adj" fmla="val 3429"/>
            </a:avLst>
          </a:prstGeom>
          <a:solidFill>
            <a:srgbClr val="EEF0FF"/>
          </a:solidFill>
          <a:ln/>
        </p:spPr>
        <p:txBody>
          <a:bodyPr/>
          <a:p/>
        </p:txBody>
      </p:sp>
      <p:sp>
        <p:nvSpPr>
          <p:cNvPr id="16" name="Text 12"/>
          <p:cNvSpPr txBox="1"/>
          <p:nvPr/>
        </p:nvSpPr>
        <p:spPr>
          <a:xfrm>
            <a:off x="5120640" y="1965960"/>
            <a:ext cx="2926080" cy="256032"/>
          </a:xfrm>
          <a:prstGeom prst="rect">
            <a:avLst/>
          </a:prstGeom>
          <a:noFill/>
          <a:ln/>
        </p:spPr>
        <p:txBody>
          <a:bodyPr wrap="square" lIns="0" tIns="0" rIns="0" bIns="0" rtlCol="0" anchor="t"/>
          <a:lstStyle/>
          <a:p>
            <a:pPr indent="0" marL="0">
              <a:buNone/>
            </a:pPr>
            <a:r>
              <a:rPr lang="en-US" sz="1050" spc="100" kern="0" dirty="0">
                <a:solidFill>
                  <a:srgbClr val="405AE7"/>
                </a:solidFill>
                <a:latin typeface="Poppins SemiBold" pitchFamily="34" charset="0"/>
                <a:ea typeface="Poppins SemiBold" pitchFamily="34" charset="-122"/>
                <a:cs typeface="Poppins SemiBold" pitchFamily="34" charset="-120"/>
              </a:rPr>
              <a:t>WHERE WE'RE HEADING</a:t>
            </a:r>
            <a:endParaRPr lang="en-US" sz="1050" dirty="0"/>
          </a:p>
        </p:txBody>
      </p:sp>
      <p:sp>
        <p:nvSpPr>
          <p:cNvPr id="17" name="Text 13"/>
          <p:cNvSpPr txBox="1"/>
          <p:nvPr/>
        </p:nvSpPr>
        <p:spPr>
          <a:xfrm>
            <a:off x="5120640" y="2286000"/>
            <a:ext cx="2926080" cy="457200"/>
          </a:xfrm>
          <a:prstGeom prst="rect">
            <a:avLst/>
          </a:prstGeom>
          <a:noFill/>
          <a:ln/>
        </p:spPr>
        <p:txBody>
          <a:bodyPr wrap="square" lIns="0" tIns="0" rIns="0" bIns="0" rtlCol="0" anchor="t"/>
          <a:lstStyle/>
          <a:p>
            <a:pPr indent="0" marL="0">
              <a:buNone/>
            </a:pPr>
            <a:r>
              <a:rPr lang="en-US" sz="1800" dirty="0">
                <a:solidFill>
                  <a:srgbClr val="2C3FB0"/>
                </a:solidFill>
                <a:latin typeface="Poppins SemiBold" pitchFamily="34" charset="0"/>
                <a:ea typeface="Poppins SemiBold" pitchFamily="34" charset="-122"/>
                <a:cs typeface="Poppins SemiBold" pitchFamily="34" charset="-120"/>
              </a:rPr>
              <a:t>People review the work</a:t>
            </a:r>
            <a:endParaRPr lang="en-US" sz="1800" dirty="0"/>
          </a:p>
        </p:txBody>
      </p:sp>
      <p:sp>
        <p:nvSpPr>
          <p:cNvPr id="18" name="Text 14"/>
          <p:cNvSpPr txBox="1"/>
          <p:nvPr/>
        </p:nvSpPr>
        <p:spPr>
          <a:xfrm>
            <a:off x="5120640" y="2743200"/>
            <a:ext cx="2926080" cy="457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Agents carry a task end to end; people decide</a:t>
            </a:r>
            <a:endParaRPr lang="en-US" sz="1200" dirty="0"/>
          </a:p>
        </p:txBody>
      </p:sp>
      <p:sp>
        <p:nvSpPr>
          <p:cNvPr id="19" name="Text 15"/>
          <p:cNvSpPr txBox="1"/>
          <p:nvPr/>
        </p:nvSpPr>
        <p:spPr>
          <a:xfrm>
            <a:off x="8366760" y="2240280"/>
            <a:ext cx="548640" cy="548640"/>
          </a:xfrm>
          <a:prstGeom prst="rect">
            <a:avLst/>
          </a:prstGeom>
          <a:noFill/>
          <a:ln/>
        </p:spPr>
        <p:txBody>
          <a:bodyPr wrap="square" lIns="0" tIns="0" rIns="0" bIns="0" rtlCol="0" anchor="t"/>
          <a:lstStyle/>
          <a:p>
            <a:pPr algn="ctr" indent="0" marL="0">
              <a:buNone/>
            </a:pPr>
            <a:r>
              <a:rPr lang="en-US" sz="2800" dirty="0">
                <a:solidFill>
                  <a:srgbClr val="2D8C55"/>
                </a:solidFill>
                <a:latin typeface="Poppins" pitchFamily="34" charset="0"/>
                <a:ea typeface="Poppins" pitchFamily="34" charset="-122"/>
                <a:cs typeface="Poppins" pitchFamily="34" charset="-120"/>
              </a:rPr>
              <a:t>→</a:t>
            </a:r>
            <a:endParaRPr lang="en-US" sz="2800" dirty="0"/>
          </a:p>
        </p:txBody>
      </p:sp>
      <p:sp>
        <p:nvSpPr>
          <p:cNvPr id="20" name="Shape 16"/>
          <p:cNvSpPr/>
          <p:nvPr/>
        </p:nvSpPr>
        <p:spPr>
          <a:xfrm>
            <a:off x="9006840" y="1737360"/>
            <a:ext cx="2496312" cy="1600200"/>
          </a:xfrm>
          <a:prstGeom prst="roundRect">
            <a:avLst>
              <a:gd name="adj" fmla="val 3429"/>
            </a:avLst>
          </a:prstGeom>
          <a:solidFill>
            <a:srgbClr val="E6F3EC"/>
          </a:solidFill>
          <a:ln/>
        </p:spPr>
        <p:txBody>
          <a:bodyPr/>
          <a:p/>
        </p:txBody>
      </p:sp>
      <p:sp>
        <p:nvSpPr>
          <p:cNvPr id="21" name="Text 17"/>
          <p:cNvSpPr txBox="1"/>
          <p:nvPr/>
        </p:nvSpPr>
        <p:spPr>
          <a:xfrm>
            <a:off x="9235440" y="1965960"/>
            <a:ext cx="2103120" cy="256032"/>
          </a:xfrm>
          <a:prstGeom prst="rect">
            <a:avLst/>
          </a:prstGeom>
          <a:noFill/>
          <a:ln/>
        </p:spPr>
        <p:txBody>
          <a:bodyPr wrap="square" lIns="0" tIns="0" rIns="0" bIns="0" rtlCol="0" anchor="t"/>
          <a:lstStyle/>
          <a:p>
            <a:pPr indent="0" marL="0">
              <a:buNone/>
            </a:pPr>
            <a:r>
              <a:rPr lang="en-US" sz="1050" spc="100" kern="0" dirty="0">
                <a:solidFill>
                  <a:srgbClr val="2D8C55"/>
                </a:solidFill>
                <a:latin typeface="Poppins SemiBold" pitchFamily="34" charset="0"/>
                <a:ea typeface="Poppins SemiBold" pitchFamily="34" charset="-122"/>
                <a:cs typeface="Poppins SemiBold" pitchFamily="34" charset="-120"/>
              </a:rPr>
              <a:t>TODAY'S DEMO</a:t>
            </a:r>
            <a:endParaRPr lang="en-US" sz="1050" dirty="0"/>
          </a:p>
        </p:txBody>
      </p:sp>
      <p:sp>
        <p:nvSpPr>
          <p:cNvPr id="22" name="Text 18"/>
          <p:cNvSpPr txBox="1"/>
          <p:nvPr/>
        </p:nvSpPr>
        <p:spPr>
          <a:xfrm>
            <a:off x="9235440" y="2286000"/>
            <a:ext cx="2103120" cy="731520"/>
          </a:xfrm>
          <a:prstGeom prst="rect">
            <a:avLst/>
          </a:prstGeom>
          <a:noFill/>
          <a:ln/>
        </p:spPr>
        <p:txBody>
          <a:bodyPr wrap="square" lIns="0" tIns="0" rIns="0" bIns="0" rtlCol="0" anchor="t"/>
          <a:lstStyle/>
          <a:p>
            <a:pPr indent="0" marL="0">
              <a:buNone/>
            </a:pPr>
            <a:r>
              <a:rPr lang="en-US" sz="1600" dirty="0">
                <a:solidFill>
                  <a:srgbClr val="2D8C55"/>
                </a:solidFill>
                <a:latin typeface="Poppins SemiBold" pitchFamily="34" charset="0"/>
                <a:ea typeface="Poppins SemiBold" pitchFamily="34" charset="-122"/>
                <a:cs typeface="Poppins SemiBold" pitchFamily="34" charset="-120"/>
              </a:rPr>
              <a:t>One ticket, QA'd by agents</a:t>
            </a:r>
            <a:endParaRPr lang="en-US" sz="1600" dirty="0"/>
          </a:p>
        </p:txBody>
      </p:sp>
      <p:sp>
        <p:nvSpPr>
          <p:cNvPr id="23" name="Shape 19"/>
          <p:cNvSpPr/>
          <p:nvPr/>
        </p:nvSpPr>
        <p:spPr>
          <a:xfrm>
            <a:off x="685800" y="3749040"/>
            <a:ext cx="10817352" cy="914400"/>
          </a:xfrm>
          <a:prstGeom prst="roundRect">
            <a:avLst>
              <a:gd name="adj" fmla="val 6000"/>
            </a:avLst>
          </a:prstGeom>
          <a:solidFill>
            <a:srgbClr val="FFFFFF"/>
          </a:solidFill>
          <a:ln w="12700">
            <a:solidFill>
              <a:srgbClr val="DDDDDD"/>
            </a:solidFill>
            <a:prstDash val="solid"/>
          </a:ln>
        </p:spPr>
        <p:txBody>
          <a:bodyPr/>
          <a:p/>
        </p:txBody>
      </p:sp>
      <p:sp>
        <p:nvSpPr>
          <p:cNvPr id="24" name="Text 20"/>
          <p:cNvSpPr txBox="1"/>
          <p:nvPr/>
        </p:nvSpPr>
        <p:spPr>
          <a:xfrm>
            <a:off x="960120" y="3840480"/>
            <a:ext cx="10241280" cy="73152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The question for today: </a:t>
            </a:r>
            <a:pPr indent="0" marL="0">
              <a:buNone/>
            </a:pPr>
            <a:r>
              <a:rPr lang="en-US" sz="1300" dirty="0">
                <a:solidFill>
                  <a:srgbClr val="666666"/>
                </a:solidFill>
                <a:latin typeface="Poppins" pitchFamily="34" charset="0"/>
                <a:ea typeface="Poppins" pitchFamily="34" charset="-122"/>
                <a:cs typeface="Poppins" pitchFamily="34" charset="-120"/>
              </a:rPr>
              <a:t>what does it take to let agents run a whole QA task, and still trust the result? Two things: the right Claude Code building blocks, and rules the AI can't talk its way around.</a:t>
            </a:r>
            <a:endParaRPr lang="en-US" sz="1300" dirty="0"/>
          </a:p>
        </p:txBody>
      </p:sp>
      <p:sp>
        <p:nvSpPr>
          <p:cNvPr id="25" name="Text 21"/>
          <p:cNvSpPr txBox="1"/>
          <p:nvPr/>
        </p:nvSpPr>
        <p:spPr>
          <a:xfrm>
            <a:off x="685800" y="502920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The direction: move toward agentic task execution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From Chat to Agent</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A chat answers once. An agent works in a loop until the goal is met.</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4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783080"/>
            <a:ext cx="3017520" cy="3566160"/>
          </a:xfrm>
          <a:prstGeom prst="roundRect">
            <a:avLst>
              <a:gd name="adj" fmla="val 1818"/>
            </a:avLst>
          </a:prstGeom>
          <a:solidFill>
            <a:srgbClr val="F7F9FC"/>
          </a:solidFill>
          <a:ln/>
        </p:spPr>
        <p:txBody>
          <a:bodyPr/>
          <a:p/>
        </p:txBody>
      </p:sp>
      <p:sp>
        <p:nvSpPr>
          <p:cNvPr id="12" name="Text 8"/>
          <p:cNvSpPr txBox="1"/>
          <p:nvPr/>
        </p:nvSpPr>
        <p:spPr>
          <a:xfrm>
            <a:off x="914400" y="1965960"/>
            <a:ext cx="2560320" cy="256032"/>
          </a:xfrm>
          <a:prstGeom prst="rect">
            <a:avLst/>
          </a:prstGeom>
          <a:noFill/>
          <a:ln/>
        </p:spPr>
        <p:txBody>
          <a:bodyPr wrap="square" lIns="0" tIns="0" rIns="0" bIns="0" rtlCol="0" anchor="t"/>
          <a:lstStyle/>
          <a:p>
            <a:pPr indent="0" marL="0">
              <a:buNone/>
            </a:pPr>
            <a:r>
              <a:rPr lang="en-US" sz="1050" spc="100" kern="0" dirty="0">
                <a:solidFill>
                  <a:srgbClr val="999999"/>
                </a:solidFill>
                <a:latin typeface="Poppins SemiBold" pitchFamily="34" charset="0"/>
                <a:ea typeface="Poppins SemiBold" pitchFamily="34" charset="-122"/>
                <a:cs typeface="Poppins SemiBold" pitchFamily="34" charset="-120"/>
              </a:rPr>
              <a:t>SINGLE LLM CALL</a:t>
            </a:r>
            <a:endParaRPr lang="en-US" sz="1050" dirty="0"/>
          </a:p>
        </p:txBody>
      </p:sp>
      <p:sp>
        <p:nvSpPr>
          <p:cNvPr id="13" name="Shape 9"/>
          <p:cNvSpPr/>
          <p:nvPr/>
        </p:nvSpPr>
        <p:spPr>
          <a:xfrm>
            <a:off x="914400" y="2377440"/>
            <a:ext cx="2560320" cy="548640"/>
          </a:xfrm>
          <a:prstGeom prst="roundRect">
            <a:avLst>
              <a:gd name="adj" fmla="val 10000"/>
            </a:avLst>
          </a:prstGeom>
          <a:solidFill>
            <a:srgbClr val="FFFFFF"/>
          </a:solidFill>
          <a:ln w="12700">
            <a:solidFill>
              <a:srgbClr val="DDDDDD"/>
            </a:solidFill>
            <a:prstDash val="solid"/>
          </a:ln>
        </p:spPr>
        <p:txBody>
          <a:bodyPr/>
          <a:p/>
        </p:txBody>
      </p:sp>
      <p:sp>
        <p:nvSpPr>
          <p:cNvPr id="14" name="Text 10"/>
          <p:cNvSpPr txBox="1"/>
          <p:nvPr/>
        </p:nvSpPr>
        <p:spPr>
          <a:xfrm>
            <a:off x="914400" y="2377440"/>
            <a:ext cx="2560320" cy="548640"/>
          </a:xfrm>
          <a:prstGeom prst="rect">
            <a:avLst/>
          </a:prstGeom>
          <a:noFill/>
          <a:ln/>
        </p:spPr>
        <p:txBody>
          <a:bodyPr wrap="square" lIns="0" tIns="0" rIns="0" bIns="0" rtlCol="0" anchor="ctr"/>
          <a:lstStyle/>
          <a:p>
            <a:pPr algn="ctr" indent="0" marL="0">
              <a:buNone/>
            </a:pPr>
            <a:r>
              <a:rPr lang="en-US" sz="1300" dirty="0">
                <a:solidFill>
                  <a:srgbClr val="1A1A1A"/>
                </a:solidFill>
                <a:latin typeface="Poppins SemiBold" pitchFamily="34" charset="0"/>
                <a:ea typeface="Poppins SemiBold" pitchFamily="34" charset="-122"/>
                <a:cs typeface="Poppins SemiBold" pitchFamily="34" charset="-120"/>
              </a:rPr>
              <a:t>Question</a:t>
            </a:r>
            <a:endParaRPr lang="en-US" sz="1300" dirty="0"/>
          </a:p>
        </p:txBody>
      </p:sp>
      <p:sp>
        <p:nvSpPr>
          <p:cNvPr id="15" name="Shape 11"/>
          <p:cNvSpPr/>
          <p:nvPr/>
        </p:nvSpPr>
        <p:spPr>
          <a:xfrm>
            <a:off x="2194560" y="2926080"/>
            <a:ext cx="0" cy="320040"/>
          </a:xfrm>
          <a:prstGeom prst="line">
            <a:avLst/>
          </a:prstGeom>
          <a:noFill/>
          <a:ln w="15875">
            <a:solidFill>
              <a:srgbClr val="999999"/>
            </a:solidFill>
            <a:prstDash val="solid"/>
            <a:tailEnd type="triangle"/>
          </a:ln>
        </p:spPr>
        <p:txBody>
          <a:bodyPr/>
          <a:p/>
        </p:txBody>
      </p:sp>
      <p:sp>
        <p:nvSpPr>
          <p:cNvPr id="16" name="Shape 12"/>
          <p:cNvSpPr/>
          <p:nvPr/>
        </p:nvSpPr>
        <p:spPr>
          <a:xfrm>
            <a:off x="914400" y="3246120"/>
            <a:ext cx="2560320" cy="548640"/>
          </a:xfrm>
          <a:prstGeom prst="roundRect">
            <a:avLst>
              <a:gd name="adj" fmla="val 10000"/>
            </a:avLst>
          </a:prstGeom>
          <a:solidFill>
            <a:srgbClr val="FFFFFF"/>
          </a:solidFill>
          <a:ln w="12700">
            <a:solidFill>
              <a:srgbClr val="DDDDDD"/>
            </a:solidFill>
            <a:prstDash val="solid"/>
          </a:ln>
        </p:spPr>
        <p:txBody>
          <a:bodyPr/>
          <a:p/>
        </p:txBody>
      </p:sp>
      <p:sp>
        <p:nvSpPr>
          <p:cNvPr id="17" name="Text 13"/>
          <p:cNvSpPr txBox="1"/>
          <p:nvPr/>
        </p:nvSpPr>
        <p:spPr>
          <a:xfrm>
            <a:off x="914400" y="3246120"/>
            <a:ext cx="2560320" cy="548640"/>
          </a:xfrm>
          <a:prstGeom prst="rect">
            <a:avLst/>
          </a:prstGeom>
          <a:noFill/>
          <a:ln/>
        </p:spPr>
        <p:txBody>
          <a:bodyPr wrap="square" lIns="0" tIns="0" rIns="0" bIns="0" rtlCol="0" anchor="ctr"/>
          <a:lstStyle/>
          <a:p>
            <a:pPr algn="ctr" indent="0" marL="0">
              <a:buNone/>
            </a:pPr>
            <a:r>
              <a:rPr lang="en-US" sz="1300" dirty="0">
                <a:solidFill>
                  <a:srgbClr val="1A1A1A"/>
                </a:solidFill>
                <a:latin typeface="Poppins SemiBold" pitchFamily="34" charset="0"/>
                <a:ea typeface="Poppins SemiBold" pitchFamily="34" charset="-122"/>
                <a:cs typeface="Poppins SemiBold" pitchFamily="34" charset="-120"/>
              </a:rPr>
              <a:t>Answer (text)</a:t>
            </a:r>
            <a:endParaRPr lang="en-US" sz="1300" dirty="0"/>
          </a:p>
        </p:txBody>
      </p:sp>
      <p:sp>
        <p:nvSpPr>
          <p:cNvPr id="18" name="Text 14"/>
          <p:cNvSpPr txBox="1"/>
          <p:nvPr/>
        </p:nvSpPr>
        <p:spPr>
          <a:xfrm>
            <a:off x="914400" y="4023360"/>
            <a:ext cx="2560320"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No actions, no checking. It can only tell you what to do.</a:t>
            </a:r>
            <a:endParaRPr lang="en-US" sz="1200" dirty="0"/>
          </a:p>
        </p:txBody>
      </p:sp>
      <p:sp>
        <p:nvSpPr>
          <p:cNvPr id="19" name="Shape 15"/>
          <p:cNvSpPr/>
          <p:nvPr/>
        </p:nvSpPr>
        <p:spPr>
          <a:xfrm>
            <a:off x="4023360" y="1783080"/>
            <a:ext cx="7479792" cy="3566160"/>
          </a:xfrm>
          <a:prstGeom prst="roundRect">
            <a:avLst>
              <a:gd name="adj" fmla="val 1538"/>
            </a:avLst>
          </a:prstGeom>
          <a:solidFill>
            <a:srgbClr val="EEF0FF"/>
          </a:solidFill>
          <a:ln/>
        </p:spPr>
        <p:txBody>
          <a:bodyPr/>
          <a:p/>
        </p:txBody>
      </p:sp>
      <p:sp>
        <p:nvSpPr>
          <p:cNvPr id="20" name="Text 16"/>
          <p:cNvSpPr txBox="1"/>
          <p:nvPr/>
        </p:nvSpPr>
        <p:spPr>
          <a:xfrm>
            <a:off x="4251960" y="1965960"/>
            <a:ext cx="5486400" cy="256032"/>
          </a:xfrm>
          <a:prstGeom prst="rect">
            <a:avLst/>
          </a:prstGeom>
          <a:noFill/>
          <a:ln/>
        </p:spPr>
        <p:txBody>
          <a:bodyPr wrap="square" lIns="0" tIns="0" rIns="0" bIns="0" rtlCol="0" anchor="t"/>
          <a:lstStyle/>
          <a:p>
            <a:pPr indent="0" marL="0">
              <a:buNone/>
            </a:pPr>
            <a:r>
              <a:rPr lang="en-US" sz="1050" spc="100" kern="0" dirty="0">
                <a:solidFill>
                  <a:srgbClr val="405AE7"/>
                </a:solidFill>
                <a:latin typeface="Poppins SemiBold" pitchFamily="34" charset="0"/>
                <a:ea typeface="Poppins SemiBold" pitchFamily="34" charset="-122"/>
                <a:cs typeface="Poppins SemiBold" pitchFamily="34" charset="-120"/>
              </a:rPr>
              <a:t>AGENT = MODEL + TOOLS + LOOP</a:t>
            </a:r>
            <a:endParaRPr lang="en-US" sz="1050" dirty="0"/>
          </a:p>
        </p:txBody>
      </p:sp>
      <p:sp>
        <p:nvSpPr>
          <p:cNvPr id="21" name="Shape 17"/>
          <p:cNvSpPr/>
          <p:nvPr/>
        </p:nvSpPr>
        <p:spPr>
          <a:xfrm>
            <a:off x="4251960" y="2926080"/>
            <a:ext cx="1600200" cy="868680"/>
          </a:xfrm>
          <a:prstGeom prst="roundRect">
            <a:avLst>
              <a:gd name="adj" fmla="val 6316"/>
            </a:avLst>
          </a:prstGeom>
          <a:solidFill>
            <a:srgbClr val="FFFFFF"/>
          </a:solidFill>
          <a:ln w="12700">
            <a:solidFill>
              <a:srgbClr val="C9D6F5"/>
            </a:solidFill>
            <a:prstDash val="solid"/>
          </a:ln>
        </p:spPr>
        <p:txBody>
          <a:bodyPr/>
          <a:p/>
        </p:txBody>
      </p:sp>
      <p:sp>
        <p:nvSpPr>
          <p:cNvPr id="22" name="Text 18"/>
          <p:cNvSpPr txBox="1"/>
          <p:nvPr/>
        </p:nvSpPr>
        <p:spPr>
          <a:xfrm>
            <a:off x="4389120" y="2999232"/>
            <a:ext cx="1554480" cy="320040"/>
          </a:xfrm>
          <a:prstGeom prst="rect">
            <a:avLst/>
          </a:prstGeom>
          <a:noFill/>
          <a:ln/>
        </p:spPr>
        <p:txBody>
          <a:bodyPr wrap="square" lIns="0" tIns="0" rIns="0" bIns="0" rtlCol="0" anchor="t"/>
          <a:lstStyle/>
          <a:p>
            <a:pPr indent="0" marL="0">
              <a:buNone/>
            </a:pPr>
            <a:r>
              <a:rPr lang="en-US" sz="1300" dirty="0">
                <a:solidFill>
                  <a:srgbClr val="2C3FB0"/>
                </a:solidFill>
                <a:latin typeface="Poppins SemiBold" pitchFamily="34" charset="0"/>
                <a:ea typeface="Poppins SemiBold" pitchFamily="34" charset="-122"/>
                <a:cs typeface="Poppins SemiBold" pitchFamily="34" charset="-120"/>
              </a:rPr>
              <a:t>Goal</a:t>
            </a:r>
            <a:endParaRPr lang="en-US" sz="1300" dirty="0"/>
          </a:p>
        </p:txBody>
      </p:sp>
      <p:sp>
        <p:nvSpPr>
          <p:cNvPr id="23" name="Text 19"/>
          <p:cNvSpPr txBox="1"/>
          <p:nvPr/>
        </p:nvSpPr>
        <p:spPr>
          <a:xfrm>
            <a:off x="4389120" y="3310128"/>
            <a:ext cx="1600200" cy="45720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"QA ticket PROJ-11"</a:t>
            </a:r>
            <a:endParaRPr lang="en-US" sz="1000" dirty="0"/>
          </a:p>
        </p:txBody>
      </p:sp>
      <p:sp>
        <p:nvSpPr>
          <p:cNvPr id="24" name="Shape 20"/>
          <p:cNvSpPr/>
          <p:nvPr/>
        </p:nvSpPr>
        <p:spPr>
          <a:xfrm>
            <a:off x="6172200" y="2377440"/>
            <a:ext cx="1828800" cy="868680"/>
          </a:xfrm>
          <a:prstGeom prst="roundRect">
            <a:avLst>
              <a:gd name="adj" fmla="val 6316"/>
            </a:avLst>
          </a:prstGeom>
          <a:solidFill>
            <a:srgbClr val="FFFFFF"/>
          </a:solidFill>
          <a:ln w="12700">
            <a:solidFill>
              <a:srgbClr val="C9D6F5"/>
            </a:solidFill>
            <a:prstDash val="solid"/>
          </a:ln>
        </p:spPr>
        <p:txBody>
          <a:bodyPr/>
          <a:p/>
        </p:txBody>
      </p:sp>
      <p:sp>
        <p:nvSpPr>
          <p:cNvPr id="25" name="Text 21"/>
          <p:cNvSpPr txBox="1"/>
          <p:nvPr/>
        </p:nvSpPr>
        <p:spPr>
          <a:xfrm>
            <a:off x="6309360" y="2450592"/>
            <a:ext cx="1554480" cy="320040"/>
          </a:xfrm>
          <a:prstGeom prst="rect">
            <a:avLst/>
          </a:prstGeom>
          <a:noFill/>
          <a:ln/>
        </p:spPr>
        <p:txBody>
          <a:bodyPr wrap="square" lIns="0" tIns="0" rIns="0" bIns="0" rtlCol="0" anchor="t"/>
          <a:lstStyle/>
          <a:p>
            <a:pPr indent="0" marL="0">
              <a:buNone/>
            </a:pPr>
            <a:r>
              <a:rPr lang="en-US" sz="1300" dirty="0">
                <a:solidFill>
                  <a:srgbClr val="2C3FB0"/>
                </a:solidFill>
                <a:latin typeface="Poppins SemiBold" pitchFamily="34" charset="0"/>
                <a:ea typeface="Poppins SemiBold" pitchFamily="34" charset="-122"/>
                <a:cs typeface="Poppins SemiBold" pitchFamily="34" charset="-120"/>
              </a:rPr>
              <a:t>Think</a:t>
            </a:r>
            <a:endParaRPr lang="en-US" sz="1300" dirty="0"/>
          </a:p>
        </p:txBody>
      </p:sp>
      <p:sp>
        <p:nvSpPr>
          <p:cNvPr id="26" name="Text 22"/>
          <p:cNvSpPr txBox="1"/>
          <p:nvPr/>
        </p:nvSpPr>
        <p:spPr>
          <a:xfrm>
            <a:off x="6309360" y="2761488"/>
            <a:ext cx="1600200" cy="45720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model picks the next step</a:t>
            </a:r>
            <a:endParaRPr lang="en-US" sz="1000" dirty="0"/>
          </a:p>
        </p:txBody>
      </p:sp>
      <p:sp>
        <p:nvSpPr>
          <p:cNvPr id="27" name="Shape 23"/>
          <p:cNvSpPr/>
          <p:nvPr/>
        </p:nvSpPr>
        <p:spPr>
          <a:xfrm>
            <a:off x="8275320" y="2926080"/>
            <a:ext cx="1828800" cy="868680"/>
          </a:xfrm>
          <a:prstGeom prst="roundRect">
            <a:avLst>
              <a:gd name="adj" fmla="val 6316"/>
            </a:avLst>
          </a:prstGeom>
          <a:solidFill>
            <a:srgbClr val="FFFFFF"/>
          </a:solidFill>
          <a:ln w="12700">
            <a:solidFill>
              <a:srgbClr val="C9D6F5"/>
            </a:solidFill>
            <a:prstDash val="solid"/>
          </a:ln>
        </p:spPr>
        <p:txBody>
          <a:bodyPr/>
          <a:p/>
        </p:txBody>
      </p:sp>
      <p:sp>
        <p:nvSpPr>
          <p:cNvPr id="28" name="Text 24"/>
          <p:cNvSpPr txBox="1"/>
          <p:nvPr/>
        </p:nvSpPr>
        <p:spPr>
          <a:xfrm>
            <a:off x="8412480" y="2999232"/>
            <a:ext cx="1554480" cy="320040"/>
          </a:xfrm>
          <a:prstGeom prst="rect">
            <a:avLst/>
          </a:prstGeom>
          <a:noFill/>
          <a:ln/>
        </p:spPr>
        <p:txBody>
          <a:bodyPr wrap="square" lIns="0" tIns="0" rIns="0" bIns="0" rtlCol="0" anchor="t"/>
          <a:lstStyle/>
          <a:p>
            <a:pPr indent="0" marL="0">
              <a:buNone/>
            </a:pPr>
            <a:r>
              <a:rPr lang="en-US" sz="1300" dirty="0">
                <a:solidFill>
                  <a:srgbClr val="2C3FB0"/>
                </a:solidFill>
                <a:latin typeface="Poppins SemiBold" pitchFamily="34" charset="0"/>
                <a:ea typeface="Poppins SemiBold" pitchFamily="34" charset="-122"/>
                <a:cs typeface="Poppins SemiBold" pitchFamily="34" charset="-120"/>
              </a:rPr>
              <a:t>Act</a:t>
            </a:r>
            <a:endParaRPr lang="en-US" sz="1300" dirty="0"/>
          </a:p>
        </p:txBody>
      </p:sp>
      <p:sp>
        <p:nvSpPr>
          <p:cNvPr id="29" name="Text 25"/>
          <p:cNvSpPr txBox="1"/>
          <p:nvPr/>
        </p:nvSpPr>
        <p:spPr>
          <a:xfrm>
            <a:off x="8412480" y="3310128"/>
            <a:ext cx="1600200" cy="45720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a tool call: Read, Bash, Edit, Jira…</a:t>
            </a:r>
            <a:endParaRPr lang="en-US" sz="1000" dirty="0"/>
          </a:p>
        </p:txBody>
      </p:sp>
      <p:sp>
        <p:nvSpPr>
          <p:cNvPr id="30" name="Shape 26"/>
          <p:cNvSpPr/>
          <p:nvPr/>
        </p:nvSpPr>
        <p:spPr>
          <a:xfrm>
            <a:off x="6172200" y="3977640"/>
            <a:ext cx="1828800" cy="868680"/>
          </a:xfrm>
          <a:prstGeom prst="roundRect">
            <a:avLst>
              <a:gd name="adj" fmla="val 6316"/>
            </a:avLst>
          </a:prstGeom>
          <a:solidFill>
            <a:srgbClr val="FFFFFF"/>
          </a:solidFill>
          <a:ln w="12700">
            <a:solidFill>
              <a:srgbClr val="C9D6F5"/>
            </a:solidFill>
            <a:prstDash val="solid"/>
          </a:ln>
        </p:spPr>
        <p:txBody>
          <a:bodyPr/>
          <a:p/>
        </p:txBody>
      </p:sp>
      <p:sp>
        <p:nvSpPr>
          <p:cNvPr id="31" name="Text 27"/>
          <p:cNvSpPr txBox="1"/>
          <p:nvPr/>
        </p:nvSpPr>
        <p:spPr>
          <a:xfrm>
            <a:off x="6309360" y="4050792"/>
            <a:ext cx="1554480" cy="320040"/>
          </a:xfrm>
          <a:prstGeom prst="rect">
            <a:avLst/>
          </a:prstGeom>
          <a:noFill/>
          <a:ln/>
        </p:spPr>
        <p:txBody>
          <a:bodyPr wrap="square" lIns="0" tIns="0" rIns="0" bIns="0" rtlCol="0" anchor="t"/>
          <a:lstStyle/>
          <a:p>
            <a:pPr indent="0" marL="0">
              <a:buNone/>
            </a:pPr>
            <a:r>
              <a:rPr lang="en-US" sz="1300" dirty="0">
                <a:solidFill>
                  <a:srgbClr val="2C3FB0"/>
                </a:solidFill>
                <a:latin typeface="Poppins SemiBold" pitchFamily="34" charset="0"/>
                <a:ea typeface="Poppins SemiBold" pitchFamily="34" charset="-122"/>
                <a:cs typeface="Poppins SemiBold" pitchFamily="34" charset="-120"/>
              </a:rPr>
              <a:t>Observe</a:t>
            </a:r>
            <a:endParaRPr lang="en-US" sz="1300" dirty="0"/>
          </a:p>
        </p:txBody>
      </p:sp>
      <p:sp>
        <p:nvSpPr>
          <p:cNvPr id="32" name="Text 28"/>
          <p:cNvSpPr txBox="1"/>
          <p:nvPr/>
        </p:nvSpPr>
        <p:spPr>
          <a:xfrm>
            <a:off x="6309360" y="4361688"/>
            <a:ext cx="1600200" cy="45720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the result goes into context</a:t>
            </a:r>
            <a:endParaRPr lang="en-US" sz="1000" dirty="0"/>
          </a:p>
        </p:txBody>
      </p:sp>
      <p:sp>
        <p:nvSpPr>
          <p:cNvPr id="33" name="Shape 29"/>
          <p:cNvSpPr/>
          <p:nvPr/>
        </p:nvSpPr>
        <p:spPr>
          <a:xfrm flipV="1">
            <a:off x="5852160" y="3017520"/>
            <a:ext cx="320040" cy="338328"/>
          </a:xfrm>
          <a:prstGeom prst="line">
            <a:avLst/>
          </a:prstGeom>
          <a:noFill/>
          <a:ln w="15875">
            <a:solidFill>
              <a:srgbClr val="405AE7"/>
            </a:solidFill>
            <a:prstDash val="solid"/>
            <a:tailEnd type="triangle"/>
          </a:ln>
        </p:spPr>
        <p:txBody>
          <a:bodyPr/>
          <a:p/>
        </p:txBody>
      </p:sp>
      <p:sp>
        <p:nvSpPr>
          <p:cNvPr id="34" name="Shape 30"/>
          <p:cNvSpPr/>
          <p:nvPr/>
        </p:nvSpPr>
        <p:spPr>
          <a:xfrm>
            <a:off x="8001000" y="2807208"/>
            <a:ext cx="274320" cy="347472"/>
          </a:xfrm>
          <a:prstGeom prst="line">
            <a:avLst/>
          </a:prstGeom>
          <a:noFill/>
          <a:ln w="15875">
            <a:solidFill>
              <a:srgbClr val="405AE7"/>
            </a:solidFill>
            <a:prstDash val="solid"/>
            <a:tailEnd type="triangle"/>
          </a:ln>
        </p:spPr>
        <p:txBody>
          <a:bodyPr/>
          <a:p/>
        </p:txBody>
      </p:sp>
      <p:sp>
        <p:nvSpPr>
          <p:cNvPr id="35" name="Shape 31"/>
          <p:cNvSpPr/>
          <p:nvPr/>
        </p:nvSpPr>
        <p:spPr>
          <a:xfrm flipH="1">
            <a:off x="8001000" y="3794760"/>
            <a:ext cx="777240" cy="502920"/>
          </a:xfrm>
          <a:prstGeom prst="line">
            <a:avLst/>
          </a:prstGeom>
          <a:noFill/>
          <a:ln w="15875">
            <a:solidFill>
              <a:srgbClr val="405AE7"/>
            </a:solidFill>
            <a:prstDash val="solid"/>
            <a:tailEnd type="triangle"/>
          </a:ln>
        </p:spPr>
        <p:txBody>
          <a:bodyPr/>
          <a:p/>
        </p:txBody>
      </p:sp>
      <p:sp>
        <p:nvSpPr>
          <p:cNvPr id="36" name="Shape 32"/>
          <p:cNvSpPr/>
          <p:nvPr/>
        </p:nvSpPr>
        <p:spPr>
          <a:xfrm flipV="1">
            <a:off x="7086600" y="3246120"/>
            <a:ext cx="0" cy="731520"/>
          </a:xfrm>
          <a:prstGeom prst="line">
            <a:avLst/>
          </a:prstGeom>
          <a:noFill/>
          <a:ln w="15875">
            <a:solidFill>
              <a:srgbClr val="405AE7"/>
            </a:solidFill>
            <a:prstDash val="solid"/>
            <a:tailEnd type="triangle"/>
          </a:ln>
        </p:spPr>
        <p:txBody>
          <a:bodyPr/>
          <a:p/>
        </p:txBody>
      </p:sp>
      <p:sp>
        <p:nvSpPr>
          <p:cNvPr id="37" name="Shape 33"/>
          <p:cNvSpPr/>
          <p:nvPr/>
        </p:nvSpPr>
        <p:spPr>
          <a:xfrm>
            <a:off x="10287000" y="2926080"/>
            <a:ext cx="1005840" cy="868680"/>
          </a:xfrm>
          <a:prstGeom prst="roundRect">
            <a:avLst>
              <a:gd name="adj" fmla="val 6316"/>
            </a:avLst>
          </a:prstGeom>
          <a:solidFill>
            <a:srgbClr val="E6F3EC"/>
          </a:solidFill>
          <a:ln/>
        </p:spPr>
        <p:txBody>
          <a:bodyPr/>
          <a:p/>
        </p:txBody>
      </p:sp>
      <p:sp>
        <p:nvSpPr>
          <p:cNvPr id="38" name="Text 34"/>
          <p:cNvSpPr txBox="1"/>
          <p:nvPr/>
        </p:nvSpPr>
        <p:spPr>
          <a:xfrm>
            <a:off x="10287000" y="2926080"/>
            <a:ext cx="1005840" cy="868680"/>
          </a:xfrm>
          <a:prstGeom prst="rect">
            <a:avLst/>
          </a:prstGeom>
          <a:noFill/>
          <a:ln/>
        </p:spPr>
        <p:txBody>
          <a:bodyPr wrap="square" lIns="0" tIns="0" rIns="0" bIns="0" rtlCol="0" anchor="ctr"/>
          <a:lstStyle/>
          <a:p>
            <a:pPr algn="ctr" indent="0" marL="0">
              <a:buNone/>
            </a:pPr>
            <a:r>
              <a:rPr lang="en-US" sz="1300" dirty="0">
                <a:solidFill>
                  <a:srgbClr val="2D8C55"/>
                </a:solidFill>
                <a:latin typeface="Poppins SemiBold" pitchFamily="34" charset="0"/>
                <a:ea typeface="Poppins SemiBold" pitchFamily="34" charset="-122"/>
                <a:cs typeface="Poppins SemiBold" pitchFamily="34" charset="-120"/>
              </a:rPr>
              <a:t>Done</a:t>
            </a:r>
            <a:endParaRPr lang="en-US" sz="1300" dirty="0"/>
          </a:p>
        </p:txBody>
      </p:sp>
      <p:sp>
        <p:nvSpPr>
          <p:cNvPr id="39" name="Shape 35"/>
          <p:cNvSpPr/>
          <p:nvPr/>
        </p:nvSpPr>
        <p:spPr>
          <a:xfrm>
            <a:off x="10104120" y="3355848"/>
            <a:ext cx="182880" cy="0"/>
          </a:xfrm>
          <a:prstGeom prst="line">
            <a:avLst/>
          </a:prstGeom>
          <a:noFill/>
          <a:ln w="15875">
            <a:solidFill>
              <a:srgbClr val="2D8C55"/>
            </a:solidFill>
            <a:prstDash val="solid"/>
            <a:tailEnd type="triangle"/>
          </a:ln>
        </p:spPr>
        <p:txBody>
          <a:bodyPr/>
          <a:p/>
        </p:txBody>
      </p:sp>
      <p:sp>
        <p:nvSpPr>
          <p:cNvPr id="40" name="Text 36"/>
          <p:cNvSpPr txBox="1"/>
          <p:nvPr/>
        </p:nvSpPr>
        <p:spPr>
          <a:xfrm>
            <a:off x="4251960" y="4846320"/>
            <a:ext cx="7040880" cy="411480"/>
          </a:xfrm>
          <a:prstGeom prst="rect">
            <a:avLst/>
          </a:prstGeom>
          <a:noFill/>
          <a:ln/>
        </p:spPr>
        <p:txBody>
          <a:bodyPr wrap="square" lIns="0" tIns="0" rIns="0" bIns="0" rtlCol="0" anchor="t"/>
          <a:lstStyle/>
          <a:p>
            <a:pPr indent="0" marL="0">
              <a:buNone/>
            </a:pPr>
            <a:r>
              <a:rPr lang="en-US" sz="1100" i="1" dirty="0">
                <a:solidFill>
                  <a:srgbClr val="666666"/>
                </a:solidFill>
                <a:latin typeface="Poppins" pitchFamily="34" charset="0"/>
                <a:ea typeface="Poppins" pitchFamily="34" charset="-122"/>
                <a:cs typeface="Poppins" pitchFamily="34" charset="-120"/>
              </a:rPr>
              <a:t>Context window = the agent's working memory: everything it read and did so far, and it is limited.</a:t>
            </a:r>
            <a:endParaRPr lang="en-US" sz="1100" dirty="0"/>
          </a:p>
        </p:txBody>
      </p:sp>
      <p:sp>
        <p:nvSpPr>
          <p:cNvPr id="41" name="Text 37"/>
          <p:cNvSpPr txBox="1"/>
          <p:nvPr/>
        </p:nvSpPr>
        <p:spPr>
          <a:xfrm>
            <a:off x="685800" y="566928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Everything else in Claude Code (skills, subagents, hooks) shapes what goes into this loop or limits what comes out of 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The Building Blocks</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Eight words you'll hear for the rest of the talk</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5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737360"/>
            <a:ext cx="2587752" cy="2011680"/>
          </a:xfrm>
          <a:prstGeom prst="roundRect">
            <a:avLst>
              <a:gd name="adj" fmla="val 2727"/>
            </a:avLst>
          </a:prstGeom>
          <a:solidFill>
            <a:srgbClr val="F7F9FC"/>
          </a:solidFill>
          <a:ln/>
        </p:spPr>
        <p:txBody>
          <a:bodyPr/>
          <a:p/>
        </p:txBody>
      </p:sp>
      <p:sp>
        <p:nvSpPr>
          <p:cNvPr id="12" name="Shape 8"/>
          <p:cNvSpPr/>
          <p:nvPr/>
        </p:nvSpPr>
        <p:spPr>
          <a:xfrm>
            <a:off x="685800" y="1737360"/>
            <a:ext cx="2587752" cy="73152"/>
          </a:xfrm>
          <a:prstGeom prst="rect">
            <a:avLst/>
          </a:prstGeom>
          <a:solidFill>
            <a:srgbClr val="999999"/>
          </a:solidFill>
          <a:ln/>
        </p:spPr>
        <p:txBody>
          <a:bodyPr/>
          <a:p/>
        </p:txBody>
      </p:sp>
      <p:sp>
        <p:nvSpPr>
          <p:cNvPr id="13" name="Text 9"/>
          <p:cNvSpPr txBox="1"/>
          <p:nvPr/>
        </p:nvSpPr>
        <p:spPr>
          <a:xfrm>
            <a:off x="914400" y="196596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MEMORY</a:t>
            </a:r>
            <a:endParaRPr lang="en-US" sz="1000" dirty="0"/>
          </a:p>
        </p:txBody>
      </p:sp>
      <p:sp>
        <p:nvSpPr>
          <p:cNvPr id="14" name="Text 10"/>
          <p:cNvSpPr txBox="1"/>
          <p:nvPr/>
        </p:nvSpPr>
        <p:spPr>
          <a:xfrm>
            <a:off x="914400" y="2212848"/>
            <a:ext cx="2130552" cy="411480"/>
          </a:xfrm>
          <a:prstGeom prst="rect">
            <a:avLst/>
          </a:prstGeom>
          <a:noFill/>
          <a:ln/>
        </p:spPr>
        <p:txBody>
          <a:bodyPr wrap="square" lIns="0" tIns="0" rIns="0" bIns="0" rtlCol="0" anchor="t"/>
          <a:lstStyle/>
          <a:p>
            <a:pPr indent="0" marL="0">
              <a:buNone/>
            </a:pPr>
            <a:r>
              <a:rPr lang="en-US" sz="1800" dirty="0">
                <a:solidFill>
                  <a:srgbClr val="1A1A1A"/>
                </a:solidFill>
                <a:latin typeface="Poppins SemiBold" pitchFamily="34" charset="0"/>
                <a:ea typeface="Poppins SemiBold" pitchFamily="34" charset="-122"/>
                <a:cs typeface="Poppins SemiBold" pitchFamily="34" charset="-120"/>
              </a:rPr>
              <a:t>CLAUDE.md</a:t>
            </a:r>
            <a:endParaRPr lang="en-US" sz="1800" dirty="0"/>
          </a:p>
        </p:txBody>
      </p:sp>
      <p:sp>
        <p:nvSpPr>
          <p:cNvPr id="15" name="Text 11"/>
          <p:cNvSpPr txBox="1"/>
          <p:nvPr/>
        </p:nvSpPr>
        <p:spPr>
          <a:xfrm>
            <a:off x="914400" y="267004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Project rules, loaded into every session. Advisory: the model reads it, nothing enforces it.</a:t>
            </a:r>
            <a:endParaRPr lang="en-US" sz="1100" dirty="0"/>
          </a:p>
        </p:txBody>
      </p:sp>
      <p:sp>
        <p:nvSpPr>
          <p:cNvPr id="16" name="Shape 12"/>
          <p:cNvSpPr/>
          <p:nvPr/>
        </p:nvSpPr>
        <p:spPr>
          <a:xfrm>
            <a:off x="3429000" y="1737360"/>
            <a:ext cx="2587752" cy="2011680"/>
          </a:xfrm>
          <a:prstGeom prst="roundRect">
            <a:avLst>
              <a:gd name="adj" fmla="val 2727"/>
            </a:avLst>
          </a:prstGeom>
          <a:solidFill>
            <a:srgbClr val="F7F9FC"/>
          </a:solidFill>
          <a:ln/>
        </p:spPr>
        <p:txBody>
          <a:bodyPr/>
          <a:p/>
        </p:txBody>
      </p:sp>
      <p:sp>
        <p:nvSpPr>
          <p:cNvPr id="17" name="Shape 13"/>
          <p:cNvSpPr/>
          <p:nvPr/>
        </p:nvSpPr>
        <p:spPr>
          <a:xfrm>
            <a:off x="3429000" y="1737360"/>
            <a:ext cx="2587752" cy="73152"/>
          </a:xfrm>
          <a:prstGeom prst="rect">
            <a:avLst/>
          </a:prstGeom>
          <a:solidFill>
            <a:srgbClr val="999999"/>
          </a:solidFill>
          <a:ln/>
        </p:spPr>
        <p:txBody>
          <a:bodyPr/>
          <a:p/>
        </p:txBody>
      </p:sp>
      <p:sp>
        <p:nvSpPr>
          <p:cNvPr id="18" name="Text 14"/>
          <p:cNvSpPr txBox="1"/>
          <p:nvPr/>
        </p:nvSpPr>
        <p:spPr>
          <a:xfrm>
            <a:off x="3657600" y="196596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HANDS</a:t>
            </a:r>
            <a:endParaRPr lang="en-US" sz="1000" dirty="0"/>
          </a:p>
        </p:txBody>
      </p:sp>
      <p:sp>
        <p:nvSpPr>
          <p:cNvPr id="19" name="Text 15"/>
          <p:cNvSpPr txBox="1"/>
          <p:nvPr/>
        </p:nvSpPr>
        <p:spPr>
          <a:xfrm>
            <a:off x="3657600" y="2212848"/>
            <a:ext cx="2130552" cy="411480"/>
          </a:xfrm>
          <a:prstGeom prst="rect">
            <a:avLst/>
          </a:prstGeom>
          <a:noFill/>
          <a:ln/>
        </p:spPr>
        <p:txBody>
          <a:bodyPr wrap="square" lIns="0" tIns="0" rIns="0" bIns="0" rtlCol="0" anchor="t"/>
          <a:lstStyle/>
          <a:p>
            <a:pPr indent="0" marL="0">
              <a:buNone/>
            </a:pPr>
            <a:r>
              <a:rPr lang="en-US" sz="1800" dirty="0">
                <a:solidFill>
                  <a:srgbClr val="1A1A1A"/>
                </a:solidFill>
                <a:latin typeface="Poppins SemiBold" pitchFamily="34" charset="0"/>
                <a:ea typeface="Poppins SemiBold" pitchFamily="34" charset="-122"/>
                <a:cs typeface="Poppins SemiBold" pitchFamily="34" charset="-120"/>
              </a:rPr>
              <a:t>Tools</a:t>
            </a:r>
            <a:endParaRPr lang="en-US" sz="1800" dirty="0"/>
          </a:p>
        </p:txBody>
      </p:sp>
      <p:sp>
        <p:nvSpPr>
          <p:cNvPr id="20" name="Text 16"/>
          <p:cNvSpPr txBox="1"/>
          <p:nvPr/>
        </p:nvSpPr>
        <p:spPr>
          <a:xfrm>
            <a:off x="3657600" y="267004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What the agent can do: Read, Edit, Write, Bash, Grep, Agent, AskUserQuestion…</a:t>
            </a:r>
            <a:endParaRPr lang="en-US" sz="1100" dirty="0"/>
          </a:p>
        </p:txBody>
      </p:sp>
      <p:sp>
        <p:nvSpPr>
          <p:cNvPr id="21" name="Shape 17"/>
          <p:cNvSpPr/>
          <p:nvPr/>
        </p:nvSpPr>
        <p:spPr>
          <a:xfrm>
            <a:off x="6172200" y="1737360"/>
            <a:ext cx="2587752" cy="2011680"/>
          </a:xfrm>
          <a:prstGeom prst="roundRect">
            <a:avLst>
              <a:gd name="adj" fmla="val 2727"/>
            </a:avLst>
          </a:prstGeom>
          <a:solidFill>
            <a:srgbClr val="F7F9FC"/>
          </a:solidFill>
          <a:ln/>
        </p:spPr>
        <p:txBody>
          <a:bodyPr/>
          <a:p/>
        </p:txBody>
      </p:sp>
      <p:sp>
        <p:nvSpPr>
          <p:cNvPr id="22" name="Shape 18"/>
          <p:cNvSpPr/>
          <p:nvPr/>
        </p:nvSpPr>
        <p:spPr>
          <a:xfrm>
            <a:off x="6172200" y="1737360"/>
            <a:ext cx="2587752" cy="73152"/>
          </a:xfrm>
          <a:prstGeom prst="rect">
            <a:avLst/>
          </a:prstGeom>
          <a:solidFill>
            <a:srgbClr val="999999"/>
          </a:solidFill>
          <a:ln/>
        </p:spPr>
        <p:txBody>
          <a:bodyPr/>
          <a:p/>
        </p:txBody>
      </p:sp>
      <p:sp>
        <p:nvSpPr>
          <p:cNvPr id="23" name="Text 19"/>
          <p:cNvSpPr txBox="1"/>
          <p:nvPr/>
        </p:nvSpPr>
        <p:spPr>
          <a:xfrm>
            <a:off x="6400800" y="196596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CONNECTOR</a:t>
            </a:r>
            <a:endParaRPr lang="en-US" sz="1000" dirty="0"/>
          </a:p>
        </p:txBody>
      </p:sp>
      <p:sp>
        <p:nvSpPr>
          <p:cNvPr id="24" name="Text 20"/>
          <p:cNvSpPr txBox="1"/>
          <p:nvPr/>
        </p:nvSpPr>
        <p:spPr>
          <a:xfrm>
            <a:off x="6400800" y="2212848"/>
            <a:ext cx="2130552" cy="411480"/>
          </a:xfrm>
          <a:prstGeom prst="rect">
            <a:avLst/>
          </a:prstGeom>
          <a:noFill/>
          <a:ln/>
        </p:spPr>
        <p:txBody>
          <a:bodyPr wrap="square" lIns="0" tIns="0" rIns="0" bIns="0" rtlCol="0" anchor="t"/>
          <a:lstStyle/>
          <a:p>
            <a:pPr indent="0" marL="0">
              <a:buNone/>
            </a:pPr>
            <a:r>
              <a:rPr lang="en-US" sz="1800" dirty="0">
                <a:solidFill>
                  <a:srgbClr val="1A1A1A"/>
                </a:solidFill>
                <a:latin typeface="Poppins SemiBold" pitchFamily="34" charset="0"/>
                <a:ea typeface="Poppins SemiBold" pitchFamily="34" charset="-122"/>
                <a:cs typeface="Poppins SemiBold" pitchFamily="34" charset="-120"/>
              </a:rPr>
              <a:t>MCP server</a:t>
            </a:r>
            <a:endParaRPr lang="en-US" sz="1800" dirty="0"/>
          </a:p>
        </p:txBody>
      </p:sp>
      <p:sp>
        <p:nvSpPr>
          <p:cNvPr id="25" name="Text 21"/>
          <p:cNvSpPr txBox="1"/>
          <p:nvPr/>
        </p:nvSpPr>
        <p:spPr>
          <a:xfrm>
            <a:off x="6400800" y="267004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Plugs an external system in as tools: Jira, GitHub, a database. Named mcp__server__tool.</a:t>
            </a:r>
            <a:endParaRPr lang="en-US" sz="1100" dirty="0"/>
          </a:p>
        </p:txBody>
      </p:sp>
      <p:sp>
        <p:nvSpPr>
          <p:cNvPr id="26" name="Shape 22"/>
          <p:cNvSpPr/>
          <p:nvPr/>
        </p:nvSpPr>
        <p:spPr>
          <a:xfrm>
            <a:off x="8915400" y="1737360"/>
            <a:ext cx="2587752" cy="2011680"/>
          </a:xfrm>
          <a:prstGeom prst="roundRect">
            <a:avLst>
              <a:gd name="adj" fmla="val 2727"/>
            </a:avLst>
          </a:prstGeom>
          <a:solidFill>
            <a:srgbClr val="F7F9FC"/>
          </a:solidFill>
          <a:ln/>
        </p:spPr>
        <p:txBody>
          <a:bodyPr/>
          <a:p/>
        </p:txBody>
      </p:sp>
      <p:sp>
        <p:nvSpPr>
          <p:cNvPr id="27" name="Shape 23"/>
          <p:cNvSpPr/>
          <p:nvPr/>
        </p:nvSpPr>
        <p:spPr>
          <a:xfrm>
            <a:off x="8915400" y="1737360"/>
            <a:ext cx="2587752" cy="73152"/>
          </a:xfrm>
          <a:prstGeom prst="rect">
            <a:avLst/>
          </a:prstGeom>
          <a:solidFill>
            <a:srgbClr val="999999"/>
          </a:solidFill>
          <a:ln/>
        </p:spPr>
        <p:txBody>
          <a:bodyPr/>
          <a:p/>
        </p:txBody>
      </p:sp>
      <p:sp>
        <p:nvSpPr>
          <p:cNvPr id="28" name="Text 24"/>
          <p:cNvSpPr txBox="1"/>
          <p:nvPr/>
        </p:nvSpPr>
        <p:spPr>
          <a:xfrm>
            <a:off x="9144000" y="196596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TRIGGER</a:t>
            </a:r>
            <a:endParaRPr lang="en-US" sz="1000" dirty="0"/>
          </a:p>
        </p:txBody>
      </p:sp>
      <p:sp>
        <p:nvSpPr>
          <p:cNvPr id="29" name="Text 25"/>
          <p:cNvSpPr txBox="1"/>
          <p:nvPr/>
        </p:nvSpPr>
        <p:spPr>
          <a:xfrm>
            <a:off x="9144000" y="2212848"/>
            <a:ext cx="2130552" cy="411480"/>
          </a:xfrm>
          <a:prstGeom prst="rect">
            <a:avLst/>
          </a:prstGeom>
          <a:noFill/>
          <a:ln/>
        </p:spPr>
        <p:txBody>
          <a:bodyPr wrap="square" lIns="0" tIns="0" rIns="0" bIns="0" rtlCol="0" anchor="t"/>
          <a:lstStyle/>
          <a:p>
            <a:pPr indent="0" marL="0">
              <a:buNone/>
            </a:pPr>
            <a:r>
              <a:rPr lang="en-US" sz="1800" dirty="0">
                <a:solidFill>
                  <a:srgbClr val="1A1A1A"/>
                </a:solidFill>
                <a:latin typeface="Poppins SemiBold" pitchFamily="34" charset="0"/>
                <a:ea typeface="Poppins SemiBold" pitchFamily="34" charset="-122"/>
                <a:cs typeface="Poppins SemiBold" pitchFamily="34" charset="-120"/>
              </a:rPr>
              <a:t>Slash command</a:t>
            </a:r>
            <a:endParaRPr lang="en-US" sz="1800" dirty="0"/>
          </a:p>
        </p:txBody>
      </p:sp>
      <p:sp>
        <p:nvSpPr>
          <p:cNvPr id="30" name="Text 26"/>
          <p:cNvSpPr txBox="1"/>
          <p:nvPr/>
        </p:nvSpPr>
        <p:spPr>
          <a:xfrm>
            <a:off x="9144000" y="267004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/name typed by a person. Today a command is simply a skill you start by name.</a:t>
            </a:r>
            <a:endParaRPr lang="en-US" sz="1100" dirty="0"/>
          </a:p>
        </p:txBody>
      </p:sp>
      <p:sp>
        <p:nvSpPr>
          <p:cNvPr id="31" name="Shape 27"/>
          <p:cNvSpPr/>
          <p:nvPr/>
        </p:nvSpPr>
        <p:spPr>
          <a:xfrm>
            <a:off x="685800" y="3931920"/>
            <a:ext cx="2587752" cy="2011680"/>
          </a:xfrm>
          <a:prstGeom prst="roundRect">
            <a:avLst>
              <a:gd name="adj" fmla="val 2727"/>
            </a:avLst>
          </a:prstGeom>
          <a:solidFill>
            <a:srgbClr val="F7F9FC"/>
          </a:solidFill>
          <a:ln/>
        </p:spPr>
        <p:txBody>
          <a:bodyPr/>
          <a:p/>
        </p:txBody>
      </p:sp>
      <p:sp>
        <p:nvSpPr>
          <p:cNvPr id="32" name="Shape 28"/>
          <p:cNvSpPr/>
          <p:nvPr/>
        </p:nvSpPr>
        <p:spPr>
          <a:xfrm>
            <a:off x="685800" y="3931920"/>
            <a:ext cx="2587752" cy="73152"/>
          </a:xfrm>
          <a:prstGeom prst="rect">
            <a:avLst/>
          </a:prstGeom>
          <a:solidFill>
            <a:srgbClr val="405AE7"/>
          </a:solidFill>
          <a:ln/>
        </p:spPr>
        <p:txBody>
          <a:bodyPr/>
          <a:p/>
        </p:txBody>
      </p:sp>
      <p:sp>
        <p:nvSpPr>
          <p:cNvPr id="33" name="Text 29"/>
          <p:cNvSpPr txBox="1"/>
          <p:nvPr/>
        </p:nvSpPr>
        <p:spPr>
          <a:xfrm>
            <a:off x="914400" y="416052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PLAYBOOK</a:t>
            </a:r>
            <a:endParaRPr lang="en-US" sz="1000" dirty="0"/>
          </a:p>
        </p:txBody>
      </p:sp>
      <p:sp>
        <p:nvSpPr>
          <p:cNvPr id="34" name="Text 30"/>
          <p:cNvSpPr txBox="1"/>
          <p:nvPr/>
        </p:nvSpPr>
        <p:spPr>
          <a:xfrm>
            <a:off x="914400" y="4407408"/>
            <a:ext cx="2130552" cy="411480"/>
          </a:xfrm>
          <a:prstGeom prst="rect">
            <a:avLst/>
          </a:prstGeom>
          <a:noFill/>
          <a:ln/>
        </p:spPr>
        <p:txBody>
          <a:bodyPr wrap="square" lIns="0" tIns="0" rIns="0" bIns="0" rtlCol="0" anchor="t"/>
          <a:lstStyle/>
          <a:p>
            <a:pPr indent="0" marL="0">
              <a:buNone/>
            </a:pPr>
            <a:r>
              <a:rPr lang="en-US" sz="1800" dirty="0">
                <a:solidFill>
                  <a:srgbClr val="405AE7"/>
                </a:solidFill>
                <a:latin typeface="Poppins SemiBold" pitchFamily="34" charset="0"/>
                <a:ea typeface="Poppins SemiBold" pitchFamily="34" charset="-122"/>
                <a:cs typeface="Poppins SemiBold" pitchFamily="34" charset="-120"/>
              </a:rPr>
              <a:t>Skill</a:t>
            </a:r>
            <a:endParaRPr lang="en-US" sz="1800" dirty="0"/>
          </a:p>
        </p:txBody>
      </p:sp>
      <p:sp>
        <p:nvSpPr>
          <p:cNvPr id="35" name="Text 31"/>
          <p:cNvSpPr txBox="1"/>
          <p:nvPr/>
        </p:nvSpPr>
        <p:spPr>
          <a:xfrm>
            <a:off x="914400" y="486460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A SKILL.md with instructions, loaded into the current conversation when needed.</a:t>
            </a:r>
            <a:endParaRPr lang="en-US" sz="1100" dirty="0"/>
          </a:p>
        </p:txBody>
      </p:sp>
      <p:sp>
        <p:nvSpPr>
          <p:cNvPr id="36" name="Shape 32"/>
          <p:cNvSpPr/>
          <p:nvPr/>
        </p:nvSpPr>
        <p:spPr>
          <a:xfrm>
            <a:off x="3429000" y="3931920"/>
            <a:ext cx="2587752" cy="2011680"/>
          </a:xfrm>
          <a:prstGeom prst="roundRect">
            <a:avLst>
              <a:gd name="adj" fmla="val 2727"/>
            </a:avLst>
          </a:prstGeom>
          <a:solidFill>
            <a:srgbClr val="F7F9FC"/>
          </a:solidFill>
          <a:ln/>
        </p:spPr>
        <p:txBody>
          <a:bodyPr/>
          <a:p/>
        </p:txBody>
      </p:sp>
      <p:sp>
        <p:nvSpPr>
          <p:cNvPr id="37" name="Shape 33"/>
          <p:cNvSpPr/>
          <p:nvPr/>
        </p:nvSpPr>
        <p:spPr>
          <a:xfrm>
            <a:off x="3429000" y="3931920"/>
            <a:ext cx="2587752" cy="73152"/>
          </a:xfrm>
          <a:prstGeom prst="rect">
            <a:avLst/>
          </a:prstGeom>
          <a:solidFill>
            <a:srgbClr val="7B5EA7"/>
          </a:solidFill>
          <a:ln/>
        </p:spPr>
        <p:txBody>
          <a:bodyPr/>
          <a:p/>
        </p:txBody>
      </p:sp>
      <p:sp>
        <p:nvSpPr>
          <p:cNvPr id="38" name="Text 34"/>
          <p:cNvSpPr txBox="1"/>
          <p:nvPr/>
        </p:nvSpPr>
        <p:spPr>
          <a:xfrm>
            <a:off x="3657600" y="416052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SPECIALIST</a:t>
            </a:r>
            <a:endParaRPr lang="en-US" sz="1000" dirty="0"/>
          </a:p>
        </p:txBody>
      </p:sp>
      <p:sp>
        <p:nvSpPr>
          <p:cNvPr id="39" name="Text 35"/>
          <p:cNvSpPr txBox="1"/>
          <p:nvPr/>
        </p:nvSpPr>
        <p:spPr>
          <a:xfrm>
            <a:off x="3657600" y="4407408"/>
            <a:ext cx="2130552" cy="411480"/>
          </a:xfrm>
          <a:prstGeom prst="rect">
            <a:avLst/>
          </a:prstGeom>
          <a:noFill/>
          <a:ln/>
        </p:spPr>
        <p:txBody>
          <a:bodyPr wrap="square" lIns="0" tIns="0" rIns="0" bIns="0" rtlCol="0" anchor="t"/>
          <a:lstStyle/>
          <a:p>
            <a:pPr indent="0" marL="0">
              <a:buNone/>
            </a:pPr>
            <a:r>
              <a:rPr lang="en-US" sz="1800" dirty="0">
                <a:solidFill>
                  <a:srgbClr val="7B5EA7"/>
                </a:solidFill>
                <a:latin typeface="Poppins SemiBold" pitchFamily="34" charset="0"/>
                <a:ea typeface="Poppins SemiBold" pitchFamily="34" charset="-122"/>
                <a:cs typeface="Poppins SemiBold" pitchFamily="34" charset="-120"/>
              </a:rPr>
              <a:t>Subagent</a:t>
            </a:r>
            <a:endParaRPr lang="en-US" sz="1800" dirty="0"/>
          </a:p>
        </p:txBody>
      </p:sp>
      <p:sp>
        <p:nvSpPr>
          <p:cNvPr id="40" name="Text 36"/>
          <p:cNvSpPr txBox="1"/>
          <p:nvPr/>
        </p:nvSpPr>
        <p:spPr>
          <a:xfrm>
            <a:off x="3657600" y="486460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A separate worker: own context, prompt, tools and model. Returns one result.</a:t>
            </a:r>
            <a:endParaRPr lang="en-US" sz="1100" dirty="0"/>
          </a:p>
        </p:txBody>
      </p:sp>
      <p:sp>
        <p:nvSpPr>
          <p:cNvPr id="41" name="Shape 37"/>
          <p:cNvSpPr/>
          <p:nvPr/>
        </p:nvSpPr>
        <p:spPr>
          <a:xfrm>
            <a:off x="6172200" y="3931920"/>
            <a:ext cx="2587752" cy="2011680"/>
          </a:xfrm>
          <a:prstGeom prst="roundRect">
            <a:avLst>
              <a:gd name="adj" fmla="val 2727"/>
            </a:avLst>
          </a:prstGeom>
          <a:solidFill>
            <a:srgbClr val="F7F9FC"/>
          </a:solidFill>
          <a:ln/>
        </p:spPr>
        <p:txBody>
          <a:bodyPr/>
          <a:p/>
        </p:txBody>
      </p:sp>
      <p:sp>
        <p:nvSpPr>
          <p:cNvPr id="42" name="Shape 38"/>
          <p:cNvSpPr/>
          <p:nvPr/>
        </p:nvSpPr>
        <p:spPr>
          <a:xfrm>
            <a:off x="6172200" y="3931920"/>
            <a:ext cx="2587752" cy="73152"/>
          </a:xfrm>
          <a:prstGeom prst="rect">
            <a:avLst/>
          </a:prstGeom>
          <a:solidFill>
            <a:srgbClr val="2D8C55"/>
          </a:solidFill>
          <a:ln/>
        </p:spPr>
        <p:txBody>
          <a:bodyPr/>
          <a:p/>
        </p:txBody>
      </p:sp>
      <p:sp>
        <p:nvSpPr>
          <p:cNvPr id="43" name="Text 39"/>
          <p:cNvSpPr txBox="1"/>
          <p:nvPr/>
        </p:nvSpPr>
        <p:spPr>
          <a:xfrm>
            <a:off x="6400800" y="416052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RULE</a:t>
            </a:r>
            <a:endParaRPr lang="en-US" sz="1000" dirty="0"/>
          </a:p>
        </p:txBody>
      </p:sp>
      <p:sp>
        <p:nvSpPr>
          <p:cNvPr id="44" name="Text 40"/>
          <p:cNvSpPr txBox="1"/>
          <p:nvPr/>
        </p:nvSpPr>
        <p:spPr>
          <a:xfrm>
            <a:off x="6400800" y="4407408"/>
            <a:ext cx="2130552" cy="411480"/>
          </a:xfrm>
          <a:prstGeom prst="rect">
            <a:avLst/>
          </a:prstGeom>
          <a:noFill/>
          <a:ln/>
        </p:spPr>
        <p:txBody>
          <a:bodyPr wrap="square" lIns="0" tIns="0" rIns="0" bIns="0" rtlCol="0" anchor="t"/>
          <a:lstStyle/>
          <a:p>
            <a:pPr indent="0" marL="0">
              <a:buNone/>
            </a:pPr>
            <a:r>
              <a:rPr lang="en-US" sz="1800" dirty="0">
                <a:solidFill>
                  <a:srgbClr val="2D8C55"/>
                </a:solidFill>
                <a:latin typeface="Poppins SemiBold" pitchFamily="34" charset="0"/>
                <a:ea typeface="Poppins SemiBold" pitchFamily="34" charset="-122"/>
                <a:cs typeface="Poppins SemiBold" pitchFamily="34" charset="-120"/>
              </a:rPr>
              <a:t>Hook</a:t>
            </a:r>
            <a:endParaRPr lang="en-US" sz="1800" dirty="0"/>
          </a:p>
        </p:txBody>
      </p:sp>
      <p:sp>
        <p:nvSpPr>
          <p:cNvPr id="45" name="Text 41"/>
          <p:cNvSpPr txBox="1"/>
          <p:nvPr/>
        </p:nvSpPr>
        <p:spPr>
          <a:xfrm>
            <a:off x="6400800" y="486460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Your code that runs on an event, every time. It can block a tool call.</a:t>
            </a:r>
            <a:endParaRPr lang="en-US" sz="1100" dirty="0"/>
          </a:p>
        </p:txBody>
      </p:sp>
      <p:sp>
        <p:nvSpPr>
          <p:cNvPr id="46" name="Shape 42"/>
          <p:cNvSpPr/>
          <p:nvPr/>
        </p:nvSpPr>
        <p:spPr>
          <a:xfrm>
            <a:off x="8915400" y="3931920"/>
            <a:ext cx="2587752" cy="2011680"/>
          </a:xfrm>
          <a:prstGeom prst="roundRect">
            <a:avLst>
              <a:gd name="adj" fmla="val 2727"/>
            </a:avLst>
          </a:prstGeom>
          <a:solidFill>
            <a:srgbClr val="F7F9FC"/>
          </a:solidFill>
          <a:ln/>
        </p:spPr>
        <p:txBody>
          <a:bodyPr/>
          <a:p/>
        </p:txBody>
      </p:sp>
      <p:sp>
        <p:nvSpPr>
          <p:cNvPr id="47" name="Shape 43"/>
          <p:cNvSpPr/>
          <p:nvPr/>
        </p:nvSpPr>
        <p:spPr>
          <a:xfrm>
            <a:off x="8915400" y="3931920"/>
            <a:ext cx="2587752" cy="73152"/>
          </a:xfrm>
          <a:prstGeom prst="rect">
            <a:avLst/>
          </a:prstGeom>
          <a:solidFill>
            <a:srgbClr val="2C3FB0"/>
          </a:solidFill>
          <a:ln/>
        </p:spPr>
        <p:txBody>
          <a:bodyPr/>
          <a:p/>
        </p:txBody>
      </p:sp>
      <p:sp>
        <p:nvSpPr>
          <p:cNvPr id="48" name="Text 44"/>
          <p:cNvSpPr txBox="1"/>
          <p:nvPr/>
        </p:nvSpPr>
        <p:spPr>
          <a:xfrm>
            <a:off x="9144000" y="4160520"/>
            <a:ext cx="2130552" cy="237744"/>
          </a:xfrm>
          <a:prstGeom prst="rect">
            <a:avLst/>
          </a:prstGeom>
          <a:noFill/>
          <a:ln/>
        </p:spPr>
        <p:txBody>
          <a:bodyPr wrap="square" lIns="0" tIns="0" rIns="0" bIns="0" rtlCol="0" anchor="t"/>
          <a:lstStyle/>
          <a:p>
            <a:pPr indent="0" marL="0">
              <a:buNone/>
            </a:pPr>
            <a:r>
              <a:rPr lang="en-US" sz="1000" spc="100" kern="0" dirty="0">
                <a:solidFill>
                  <a:srgbClr val="999999"/>
                </a:solidFill>
                <a:latin typeface="Poppins SemiBold" pitchFamily="34" charset="0"/>
                <a:ea typeface="Poppins SemiBold" pitchFamily="34" charset="-122"/>
                <a:cs typeface="Poppins SemiBold" pitchFamily="34" charset="-120"/>
              </a:rPr>
              <a:t>PACKAGE</a:t>
            </a:r>
            <a:endParaRPr lang="en-US" sz="1000" dirty="0"/>
          </a:p>
        </p:txBody>
      </p:sp>
      <p:sp>
        <p:nvSpPr>
          <p:cNvPr id="49" name="Text 45"/>
          <p:cNvSpPr txBox="1"/>
          <p:nvPr/>
        </p:nvSpPr>
        <p:spPr>
          <a:xfrm>
            <a:off x="9144000" y="4407408"/>
            <a:ext cx="2130552" cy="411480"/>
          </a:xfrm>
          <a:prstGeom prst="rect">
            <a:avLst/>
          </a:prstGeom>
          <a:noFill/>
          <a:ln/>
        </p:spPr>
        <p:txBody>
          <a:bodyPr wrap="square" lIns="0" tIns="0" rIns="0" bIns="0" rtlCol="0" anchor="t"/>
          <a:lstStyle/>
          <a:p>
            <a:pPr indent="0" marL="0">
              <a:buNone/>
            </a:pPr>
            <a:r>
              <a:rPr lang="en-US" sz="1800" dirty="0">
                <a:solidFill>
                  <a:srgbClr val="2C3FB0"/>
                </a:solidFill>
                <a:latin typeface="Poppins SemiBold" pitchFamily="34" charset="0"/>
                <a:ea typeface="Poppins SemiBold" pitchFamily="34" charset="-122"/>
                <a:cs typeface="Poppins SemiBold" pitchFamily="34" charset="-120"/>
              </a:rPr>
              <a:t>Plugin</a:t>
            </a:r>
            <a:endParaRPr lang="en-US" sz="1800" dirty="0"/>
          </a:p>
        </p:txBody>
      </p:sp>
      <p:sp>
        <p:nvSpPr>
          <p:cNvPr id="50" name="Text 46"/>
          <p:cNvSpPr txBox="1"/>
          <p:nvPr/>
        </p:nvSpPr>
        <p:spPr>
          <a:xfrm>
            <a:off x="9144000" y="4864608"/>
            <a:ext cx="2130552" cy="100584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Skills + agents + hooks + MCP + scripts, installed together, per project.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Skill vs. Subagent</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The most common confusion: both are Markdown files with instructions, but they run very differently</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6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10817352" cy="914400"/>
        </p:xfrm>
        <a:graphic>
          <a:graphicData uri="http://schemas.openxmlformats.org/drawingml/2006/table">
            <a:tbl>
              <a:tblPr/>
              <a:tblGrid>
                <a:gridCol w="2377440"/>
                <a:gridCol w="4219956"/>
                <a:gridCol w="4219956"/>
              </a:tblGrid>
              <a:tr h="429768">
                <a:tc>
                  <a:txBody>
                    <a:bodyPr/>
                    <a:lstStyle/>
                    <a:p>
                      <a:pPr indent="0" marL="0">
                        <a:buNone/>
                      </a:pPr>
                      <a:endParaRPr lang="en-US" sz="11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F0FF"/>
                    </a:solidFill>
                  </a:tcPr>
                </a:tc>
                <a:tc>
                  <a:txBody>
                    <a:bodyPr/>
                    <a:lstStyle/>
                    <a:p>
                      <a:pPr indent="0" marL="0">
                        <a:buNone/>
                      </a:pPr>
                      <a:r>
                        <a:rPr lang="en-US" sz="1100" dirty="0">
                          <a:solidFill>
                            <a:srgbClr val="2C3FB0"/>
                          </a:solidFill>
                          <a:latin typeface="Poppins SemiBold" pitchFamily="34" charset="0"/>
                          <a:ea typeface="Poppins SemiBold" pitchFamily="34" charset="-122"/>
                          <a:cs typeface="Poppins SemiBold" pitchFamily="34" charset="-120"/>
                        </a:rPr>
                        <a:t>Skill  (skills/&lt;name&gt;/SKILL.md)</a:t>
                      </a:r>
                      <a:endParaRPr lang="en-US" sz="11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F0FF"/>
                    </a:solidFill>
                  </a:tcPr>
                </a:tc>
                <a:tc>
                  <a:txBody>
                    <a:bodyPr/>
                    <a:lstStyle/>
                    <a:p>
                      <a:pPr indent="0" marL="0">
                        <a:buNone/>
                      </a:pPr>
                      <a:r>
                        <a:rPr lang="en-US" sz="1100" dirty="0">
                          <a:solidFill>
                            <a:srgbClr val="2C3FB0"/>
                          </a:solidFill>
                          <a:latin typeface="Poppins SemiBold" pitchFamily="34" charset="0"/>
                          <a:ea typeface="Poppins SemiBold" pitchFamily="34" charset="-122"/>
                          <a:cs typeface="Poppins SemiBold" pitchFamily="34" charset="-120"/>
                        </a:rPr>
                        <a:t>Subagent  (agents/&lt;name&gt;.md)</a:t>
                      </a:r>
                      <a:endParaRPr lang="en-US" sz="11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F0FF"/>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Where it runs</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Inside the current conversation</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In its own, fresh context window</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Sees the chat history</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Yes, everything so far</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No: only the prompt it's given</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Can ask the human</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Yes (AskUserQuestion)</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No: that tool is removed for subagents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Model</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The session's model (can be set)</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Its own, fixed in frontmatter (e.g. opus)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Tools</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The session's tools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Its own allowlist (tools:)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What comes back</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The conversation just continues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One final message; the rest stays isolated</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Who starts it</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Claude (matches the description) or /name</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The main session, through the Agent tool</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2976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Use it for</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Procedures, playbooks, gates, orchestration</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Focused jobs, parallel work, a clean context</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bl>
          </a:graphicData>
        </a:graphic>
      </p:graphicFrame>
      <p:sp>
        <p:nvSpPr>
          <p:cNvPr id="12" name="Text 7"/>
          <p:cNvSpPr txBox="1"/>
          <p:nvPr/>
        </p:nvSpPr>
        <p:spPr>
          <a:xfrm>
            <a:off x="685800" y="585216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Rule of thumb: the skill is the manager who talks to you; subagents are the specialists it sends off with a written brief.</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When to Use What</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Start from the need, not from the feature</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7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10817352" cy="594360"/>
          </a:xfrm>
          <a:prstGeom prst="roundRect">
            <a:avLst>
              <a:gd name="adj" fmla="val 6154"/>
            </a:avLst>
          </a:prstGeom>
          <a:solidFill>
            <a:srgbClr val="F7F9FC"/>
          </a:solidFill>
          <a:ln/>
        </p:spPr>
        <p:txBody>
          <a:bodyPr/>
          <a:p/>
        </p:txBody>
      </p:sp>
      <p:sp>
        <p:nvSpPr>
          <p:cNvPr id="12" name="Text 8"/>
          <p:cNvSpPr txBox="1"/>
          <p:nvPr/>
        </p:nvSpPr>
        <p:spPr>
          <a:xfrm>
            <a:off x="914400" y="1691640"/>
            <a:ext cx="5120640" cy="59436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It must happen every time, no exceptions</a:t>
            </a:r>
            <a:endParaRPr lang="en-US" sz="1300" dirty="0"/>
          </a:p>
        </p:txBody>
      </p:sp>
      <p:sp>
        <p:nvSpPr>
          <p:cNvPr id="13" name="Text 9"/>
          <p:cNvSpPr txBox="1"/>
          <p:nvPr/>
        </p:nvSpPr>
        <p:spPr>
          <a:xfrm>
            <a:off x="5989320" y="1691640"/>
            <a:ext cx="365760" cy="594360"/>
          </a:xfrm>
          <a:prstGeom prst="rect">
            <a:avLst/>
          </a:prstGeom>
          <a:noFill/>
          <a:ln/>
        </p:spPr>
        <p:txBody>
          <a:bodyPr wrap="square" lIns="0" tIns="0" rIns="0" bIns="0" rtlCol="0" anchor="ctr"/>
          <a:lstStyle/>
          <a:p>
            <a:pPr algn="ctr" indent="0" marL="0">
              <a:buNone/>
            </a:pPr>
            <a:r>
              <a:rPr lang="en-US" sz="1800" dirty="0">
                <a:solidFill>
                  <a:srgbClr val="999999"/>
                </a:solidFill>
                <a:latin typeface="Poppins" pitchFamily="34" charset="0"/>
                <a:ea typeface="Poppins" pitchFamily="34" charset="-122"/>
                <a:cs typeface="Poppins" pitchFamily="34" charset="-120"/>
              </a:rPr>
              <a:t>→</a:t>
            </a:r>
            <a:endParaRPr lang="en-US" sz="1800" dirty="0"/>
          </a:p>
        </p:txBody>
      </p:sp>
      <p:sp>
        <p:nvSpPr>
          <p:cNvPr id="14" name="Shape 10"/>
          <p:cNvSpPr/>
          <p:nvPr/>
        </p:nvSpPr>
        <p:spPr>
          <a:xfrm>
            <a:off x="6446520" y="1819656"/>
            <a:ext cx="1463040" cy="338328"/>
          </a:xfrm>
          <a:prstGeom prst="roundRect">
            <a:avLst>
              <a:gd name="adj" fmla="val 50000"/>
            </a:avLst>
          </a:prstGeom>
          <a:solidFill>
            <a:srgbClr val="FFFFFF"/>
          </a:solidFill>
          <a:ln/>
        </p:spPr>
        <p:txBody>
          <a:bodyPr/>
          <a:p/>
        </p:txBody>
      </p:sp>
      <p:sp>
        <p:nvSpPr>
          <p:cNvPr id="15" name="Text 11"/>
          <p:cNvSpPr txBox="1"/>
          <p:nvPr/>
        </p:nvSpPr>
        <p:spPr>
          <a:xfrm>
            <a:off x="6446520" y="1819656"/>
            <a:ext cx="1463040" cy="338328"/>
          </a:xfrm>
          <a:prstGeom prst="rect">
            <a:avLst/>
          </a:prstGeom>
          <a:noFill/>
          <a:ln/>
        </p:spPr>
        <p:txBody>
          <a:bodyPr wrap="square" lIns="0" tIns="0" rIns="0" bIns="0" rtlCol="0" anchor="ctr"/>
          <a:lstStyle/>
          <a:p>
            <a:pPr algn="ctr" indent="0" marL="0">
              <a:buNone/>
            </a:pPr>
            <a:r>
              <a:rPr lang="en-US" sz="1200" dirty="0">
                <a:solidFill>
                  <a:srgbClr val="2D8C55"/>
                </a:solidFill>
                <a:latin typeface="Poppins SemiBold" pitchFamily="34" charset="0"/>
                <a:ea typeface="Poppins SemiBold" pitchFamily="34" charset="-122"/>
                <a:cs typeface="Poppins SemiBold" pitchFamily="34" charset="-120"/>
              </a:rPr>
              <a:t>Hook</a:t>
            </a:r>
            <a:endParaRPr lang="en-US" sz="1200" dirty="0"/>
          </a:p>
        </p:txBody>
      </p:sp>
      <p:sp>
        <p:nvSpPr>
          <p:cNvPr id="16" name="Text 12"/>
          <p:cNvSpPr txBox="1"/>
          <p:nvPr/>
        </p:nvSpPr>
        <p:spPr>
          <a:xfrm>
            <a:off x="8092440" y="1691640"/>
            <a:ext cx="3246120" cy="594360"/>
          </a:xfrm>
          <a:prstGeom prst="rect">
            <a:avLst/>
          </a:prstGeom>
          <a:noFill/>
          <a:ln/>
        </p:spPr>
        <p:txBody>
          <a:bodyPr wrap="square" lIns="0" tIns="0" rIns="0" bIns="0" rtlCol="0" anchor="ctr"/>
          <a:lstStyle/>
          <a:p>
            <a:pPr indent="0" marL="0">
              <a:buNone/>
            </a:pPr>
            <a:r>
              <a:rPr lang="en-US" sz="1100" dirty="0">
                <a:solidFill>
                  <a:srgbClr val="666666"/>
                </a:solidFill>
                <a:latin typeface="Poppins" pitchFamily="34" charset="0"/>
                <a:ea typeface="Poppins" pitchFamily="34" charset="-122"/>
                <a:cs typeface="Poppins" pitchFamily="34" charset="-120"/>
              </a:rPr>
              <a:t>A rule in code. The model can't skip it or talk its way around it.</a:t>
            </a:r>
            <a:endParaRPr lang="en-US" sz="1100" dirty="0"/>
          </a:p>
        </p:txBody>
      </p:sp>
      <p:sp>
        <p:nvSpPr>
          <p:cNvPr id="17" name="Shape 13"/>
          <p:cNvSpPr/>
          <p:nvPr/>
        </p:nvSpPr>
        <p:spPr>
          <a:xfrm>
            <a:off x="685800" y="2395728"/>
            <a:ext cx="10817352" cy="594360"/>
          </a:xfrm>
          <a:prstGeom prst="roundRect">
            <a:avLst>
              <a:gd name="adj" fmla="val 6154"/>
            </a:avLst>
          </a:prstGeom>
          <a:solidFill>
            <a:srgbClr val="F7F9FC"/>
          </a:solidFill>
          <a:ln/>
        </p:spPr>
        <p:txBody>
          <a:bodyPr/>
          <a:p/>
        </p:txBody>
      </p:sp>
      <p:sp>
        <p:nvSpPr>
          <p:cNvPr id="18" name="Text 14"/>
          <p:cNvSpPr txBox="1"/>
          <p:nvPr/>
        </p:nvSpPr>
        <p:spPr>
          <a:xfrm>
            <a:off x="914400" y="2395728"/>
            <a:ext cx="5120640" cy="59436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A repeatable procedure, possibly with human decisions</a:t>
            </a:r>
            <a:endParaRPr lang="en-US" sz="1300" dirty="0"/>
          </a:p>
        </p:txBody>
      </p:sp>
      <p:sp>
        <p:nvSpPr>
          <p:cNvPr id="19" name="Text 15"/>
          <p:cNvSpPr txBox="1"/>
          <p:nvPr/>
        </p:nvSpPr>
        <p:spPr>
          <a:xfrm>
            <a:off x="5989320" y="2395728"/>
            <a:ext cx="365760" cy="594360"/>
          </a:xfrm>
          <a:prstGeom prst="rect">
            <a:avLst/>
          </a:prstGeom>
          <a:noFill/>
          <a:ln/>
        </p:spPr>
        <p:txBody>
          <a:bodyPr wrap="square" lIns="0" tIns="0" rIns="0" bIns="0" rtlCol="0" anchor="ctr"/>
          <a:lstStyle/>
          <a:p>
            <a:pPr algn="ctr" indent="0" marL="0">
              <a:buNone/>
            </a:pPr>
            <a:r>
              <a:rPr lang="en-US" sz="1800" dirty="0">
                <a:solidFill>
                  <a:srgbClr val="999999"/>
                </a:solidFill>
                <a:latin typeface="Poppins" pitchFamily="34" charset="0"/>
                <a:ea typeface="Poppins" pitchFamily="34" charset="-122"/>
                <a:cs typeface="Poppins" pitchFamily="34" charset="-120"/>
              </a:rPr>
              <a:t>→</a:t>
            </a:r>
            <a:endParaRPr lang="en-US" sz="1800" dirty="0"/>
          </a:p>
        </p:txBody>
      </p:sp>
      <p:sp>
        <p:nvSpPr>
          <p:cNvPr id="20" name="Shape 16"/>
          <p:cNvSpPr/>
          <p:nvPr/>
        </p:nvSpPr>
        <p:spPr>
          <a:xfrm>
            <a:off x="6446520" y="2523744"/>
            <a:ext cx="1463040" cy="338328"/>
          </a:xfrm>
          <a:prstGeom prst="roundRect">
            <a:avLst>
              <a:gd name="adj" fmla="val 50000"/>
            </a:avLst>
          </a:prstGeom>
          <a:solidFill>
            <a:srgbClr val="FFFFFF"/>
          </a:solidFill>
          <a:ln/>
        </p:spPr>
        <p:txBody>
          <a:bodyPr/>
          <a:p/>
        </p:txBody>
      </p:sp>
      <p:sp>
        <p:nvSpPr>
          <p:cNvPr id="21" name="Text 17"/>
          <p:cNvSpPr txBox="1"/>
          <p:nvPr/>
        </p:nvSpPr>
        <p:spPr>
          <a:xfrm>
            <a:off x="6446520" y="2523744"/>
            <a:ext cx="1463040" cy="338328"/>
          </a:xfrm>
          <a:prstGeom prst="rect">
            <a:avLst/>
          </a:prstGeom>
          <a:noFill/>
          <a:ln/>
        </p:spPr>
        <p:txBody>
          <a:bodyPr wrap="square" lIns="0" tIns="0" rIns="0" bIns="0" rtlCol="0" anchor="ctr"/>
          <a:lstStyle/>
          <a:p>
            <a:pPr algn="ctr" indent="0" marL="0">
              <a:buNone/>
            </a:pPr>
            <a:r>
              <a:rPr lang="en-US" sz="1200" dirty="0">
                <a:solidFill>
                  <a:srgbClr val="405AE7"/>
                </a:solidFill>
                <a:latin typeface="Poppins SemiBold" pitchFamily="34" charset="0"/>
                <a:ea typeface="Poppins SemiBold" pitchFamily="34" charset="-122"/>
                <a:cs typeface="Poppins SemiBold" pitchFamily="34" charset="-120"/>
              </a:rPr>
              <a:t>Skill</a:t>
            </a:r>
            <a:endParaRPr lang="en-US" sz="1200" dirty="0"/>
          </a:p>
        </p:txBody>
      </p:sp>
      <p:sp>
        <p:nvSpPr>
          <p:cNvPr id="22" name="Text 18"/>
          <p:cNvSpPr txBox="1"/>
          <p:nvPr/>
        </p:nvSpPr>
        <p:spPr>
          <a:xfrm>
            <a:off x="8092440" y="2395728"/>
            <a:ext cx="3246120" cy="594360"/>
          </a:xfrm>
          <a:prstGeom prst="rect">
            <a:avLst/>
          </a:prstGeom>
          <a:noFill/>
          <a:ln/>
        </p:spPr>
        <p:txBody>
          <a:bodyPr wrap="square" lIns="0" tIns="0" rIns="0" bIns="0" rtlCol="0" anchor="ctr"/>
          <a:lstStyle/>
          <a:p>
            <a:pPr indent="0" marL="0">
              <a:buNone/>
            </a:pPr>
            <a:r>
              <a:rPr lang="en-US" sz="1100" dirty="0">
                <a:solidFill>
                  <a:srgbClr val="666666"/>
                </a:solidFill>
                <a:latin typeface="Poppins" pitchFamily="34" charset="0"/>
                <a:ea typeface="Poppins" pitchFamily="34" charset="-122"/>
                <a:cs typeface="Poppins" pitchFamily="34" charset="-120"/>
              </a:rPr>
              <a:t>Instructions loaded on demand; it can stop and ask.</a:t>
            </a:r>
            <a:endParaRPr lang="en-US" sz="1100" dirty="0"/>
          </a:p>
        </p:txBody>
      </p:sp>
      <p:sp>
        <p:nvSpPr>
          <p:cNvPr id="23" name="Shape 19"/>
          <p:cNvSpPr/>
          <p:nvPr/>
        </p:nvSpPr>
        <p:spPr>
          <a:xfrm>
            <a:off x="685800" y="3099816"/>
            <a:ext cx="10817352" cy="594360"/>
          </a:xfrm>
          <a:prstGeom prst="roundRect">
            <a:avLst>
              <a:gd name="adj" fmla="val 6154"/>
            </a:avLst>
          </a:prstGeom>
          <a:solidFill>
            <a:srgbClr val="F7F9FC"/>
          </a:solidFill>
          <a:ln/>
        </p:spPr>
        <p:txBody>
          <a:bodyPr/>
          <a:p/>
        </p:txBody>
      </p:sp>
      <p:sp>
        <p:nvSpPr>
          <p:cNvPr id="24" name="Text 20"/>
          <p:cNvSpPr txBox="1"/>
          <p:nvPr/>
        </p:nvSpPr>
        <p:spPr>
          <a:xfrm>
            <a:off x="914400" y="3099816"/>
            <a:ext cx="5120640" cy="59436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A focused job that needs its own context, model or parallelism</a:t>
            </a:r>
            <a:endParaRPr lang="en-US" sz="1300" dirty="0"/>
          </a:p>
        </p:txBody>
      </p:sp>
      <p:sp>
        <p:nvSpPr>
          <p:cNvPr id="25" name="Text 21"/>
          <p:cNvSpPr txBox="1"/>
          <p:nvPr/>
        </p:nvSpPr>
        <p:spPr>
          <a:xfrm>
            <a:off x="5989320" y="3099816"/>
            <a:ext cx="365760" cy="594360"/>
          </a:xfrm>
          <a:prstGeom prst="rect">
            <a:avLst/>
          </a:prstGeom>
          <a:noFill/>
          <a:ln/>
        </p:spPr>
        <p:txBody>
          <a:bodyPr wrap="square" lIns="0" tIns="0" rIns="0" bIns="0" rtlCol="0" anchor="ctr"/>
          <a:lstStyle/>
          <a:p>
            <a:pPr algn="ctr" indent="0" marL="0">
              <a:buNone/>
            </a:pPr>
            <a:r>
              <a:rPr lang="en-US" sz="1800" dirty="0">
                <a:solidFill>
                  <a:srgbClr val="999999"/>
                </a:solidFill>
                <a:latin typeface="Poppins" pitchFamily="34" charset="0"/>
                <a:ea typeface="Poppins" pitchFamily="34" charset="-122"/>
                <a:cs typeface="Poppins" pitchFamily="34" charset="-120"/>
              </a:rPr>
              <a:t>→</a:t>
            </a:r>
            <a:endParaRPr lang="en-US" sz="1800" dirty="0"/>
          </a:p>
        </p:txBody>
      </p:sp>
      <p:sp>
        <p:nvSpPr>
          <p:cNvPr id="26" name="Shape 22"/>
          <p:cNvSpPr/>
          <p:nvPr/>
        </p:nvSpPr>
        <p:spPr>
          <a:xfrm>
            <a:off x="6446520" y="3227832"/>
            <a:ext cx="1463040" cy="338328"/>
          </a:xfrm>
          <a:prstGeom prst="roundRect">
            <a:avLst>
              <a:gd name="adj" fmla="val 50000"/>
            </a:avLst>
          </a:prstGeom>
          <a:solidFill>
            <a:srgbClr val="FFFFFF"/>
          </a:solidFill>
          <a:ln/>
        </p:spPr>
        <p:txBody>
          <a:bodyPr/>
          <a:p/>
        </p:txBody>
      </p:sp>
      <p:sp>
        <p:nvSpPr>
          <p:cNvPr id="27" name="Text 23"/>
          <p:cNvSpPr txBox="1"/>
          <p:nvPr/>
        </p:nvSpPr>
        <p:spPr>
          <a:xfrm>
            <a:off x="6446520" y="3227832"/>
            <a:ext cx="1463040" cy="338328"/>
          </a:xfrm>
          <a:prstGeom prst="rect">
            <a:avLst/>
          </a:prstGeom>
          <a:noFill/>
          <a:ln/>
        </p:spPr>
        <p:txBody>
          <a:bodyPr wrap="square" lIns="0" tIns="0" rIns="0" bIns="0" rtlCol="0" anchor="ctr"/>
          <a:lstStyle/>
          <a:p>
            <a:pPr algn="ctr" indent="0" marL="0">
              <a:buNone/>
            </a:pPr>
            <a:r>
              <a:rPr lang="en-US" sz="1200" dirty="0">
                <a:solidFill>
                  <a:srgbClr val="7B5EA7"/>
                </a:solidFill>
                <a:latin typeface="Poppins SemiBold" pitchFamily="34" charset="0"/>
                <a:ea typeface="Poppins SemiBold" pitchFamily="34" charset="-122"/>
                <a:cs typeface="Poppins SemiBold" pitchFamily="34" charset="-120"/>
              </a:rPr>
              <a:t>Subagent</a:t>
            </a:r>
            <a:endParaRPr lang="en-US" sz="1200" dirty="0"/>
          </a:p>
        </p:txBody>
      </p:sp>
      <p:sp>
        <p:nvSpPr>
          <p:cNvPr id="28" name="Text 24"/>
          <p:cNvSpPr txBox="1"/>
          <p:nvPr/>
        </p:nvSpPr>
        <p:spPr>
          <a:xfrm>
            <a:off x="8092440" y="3099816"/>
            <a:ext cx="3246120" cy="594360"/>
          </a:xfrm>
          <a:prstGeom prst="rect">
            <a:avLst/>
          </a:prstGeom>
          <a:noFill/>
          <a:ln/>
        </p:spPr>
        <p:txBody>
          <a:bodyPr wrap="square" lIns="0" tIns="0" rIns="0" bIns="0" rtlCol="0" anchor="ctr"/>
          <a:lstStyle/>
          <a:p>
            <a:pPr indent="0" marL="0">
              <a:buNone/>
            </a:pPr>
            <a:r>
              <a:rPr lang="en-US" sz="1100" dirty="0">
                <a:solidFill>
                  <a:srgbClr val="666666"/>
                </a:solidFill>
                <a:latin typeface="Poppins" pitchFamily="34" charset="0"/>
                <a:ea typeface="Poppins" pitchFamily="34" charset="-122"/>
                <a:cs typeface="Poppins" pitchFamily="34" charset="-120"/>
              </a:rPr>
              <a:t>Keeps the main conversation small and runs in parallel.</a:t>
            </a:r>
            <a:endParaRPr lang="en-US" sz="1100" dirty="0"/>
          </a:p>
        </p:txBody>
      </p:sp>
      <p:sp>
        <p:nvSpPr>
          <p:cNvPr id="29" name="Shape 25"/>
          <p:cNvSpPr/>
          <p:nvPr/>
        </p:nvSpPr>
        <p:spPr>
          <a:xfrm>
            <a:off x="685800" y="3803904"/>
            <a:ext cx="10817352" cy="594360"/>
          </a:xfrm>
          <a:prstGeom prst="roundRect">
            <a:avLst>
              <a:gd name="adj" fmla="val 6154"/>
            </a:avLst>
          </a:prstGeom>
          <a:solidFill>
            <a:srgbClr val="F7F9FC"/>
          </a:solidFill>
          <a:ln/>
        </p:spPr>
        <p:txBody>
          <a:bodyPr/>
          <a:p/>
        </p:txBody>
      </p:sp>
      <p:sp>
        <p:nvSpPr>
          <p:cNvPr id="30" name="Text 26"/>
          <p:cNvSpPr txBox="1"/>
          <p:nvPr/>
        </p:nvSpPr>
        <p:spPr>
          <a:xfrm>
            <a:off x="914400" y="3803904"/>
            <a:ext cx="5120640" cy="59436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Read or change an external system</a:t>
            </a:r>
            <a:endParaRPr lang="en-US" sz="1300" dirty="0"/>
          </a:p>
        </p:txBody>
      </p:sp>
      <p:sp>
        <p:nvSpPr>
          <p:cNvPr id="31" name="Text 27"/>
          <p:cNvSpPr txBox="1"/>
          <p:nvPr/>
        </p:nvSpPr>
        <p:spPr>
          <a:xfrm>
            <a:off x="5989320" y="3803904"/>
            <a:ext cx="365760" cy="594360"/>
          </a:xfrm>
          <a:prstGeom prst="rect">
            <a:avLst/>
          </a:prstGeom>
          <a:noFill/>
          <a:ln/>
        </p:spPr>
        <p:txBody>
          <a:bodyPr wrap="square" lIns="0" tIns="0" rIns="0" bIns="0" rtlCol="0" anchor="ctr"/>
          <a:lstStyle/>
          <a:p>
            <a:pPr algn="ctr" indent="0" marL="0">
              <a:buNone/>
            </a:pPr>
            <a:r>
              <a:rPr lang="en-US" sz="1800" dirty="0">
                <a:solidFill>
                  <a:srgbClr val="999999"/>
                </a:solidFill>
                <a:latin typeface="Poppins" pitchFamily="34" charset="0"/>
                <a:ea typeface="Poppins" pitchFamily="34" charset="-122"/>
                <a:cs typeface="Poppins" pitchFamily="34" charset="-120"/>
              </a:rPr>
              <a:t>→</a:t>
            </a:r>
            <a:endParaRPr lang="en-US" sz="1800" dirty="0"/>
          </a:p>
        </p:txBody>
      </p:sp>
      <p:sp>
        <p:nvSpPr>
          <p:cNvPr id="32" name="Shape 28"/>
          <p:cNvSpPr/>
          <p:nvPr/>
        </p:nvSpPr>
        <p:spPr>
          <a:xfrm>
            <a:off x="6446520" y="3931920"/>
            <a:ext cx="1463040" cy="338328"/>
          </a:xfrm>
          <a:prstGeom prst="roundRect">
            <a:avLst>
              <a:gd name="adj" fmla="val 50000"/>
            </a:avLst>
          </a:prstGeom>
          <a:solidFill>
            <a:srgbClr val="FFFFFF"/>
          </a:solidFill>
          <a:ln/>
        </p:spPr>
        <p:txBody>
          <a:bodyPr/>
          <a:p/>
        </p:txBody>
      </p:sp>
      <p:sp>
        <p:nvSpPr>
          <p:cNvPr id="33" name="Text 29"/>
          <p:cNvSpPr txBox="1"/>
          <p:nvPr/>
        </p:nvSpPr>
        <p:spPr>
          <a:xfrm>
            <a:off x="6446520" y="3931920"/>
            <a:ext cx="1463040" cy="338328"/>
          </a:xfrm>
          <a:prstGeom prst="rect">
            <a:avLst/>
          </a:prstGeom>
          <a:noFill/>
          <a:ln/>
        </p:spPr>
        <p:txBody>
          <a:bodyPr wrap="square" lIns="0" tIns="0" rIns="0" bIns="0" rtlCol="0" anchor="ctr"/>
          <a:lstStyle/>
          <a:p>
            <a:pPr algn="ctr" indent="0" marL="0">
              <a:buNone/>
            </a:pPr>
            <a:r>
              <a:rPr lang="en-US" sz="1200" dirty="0">
                <a:solidFill>
                  <a:srgbClr val="2C3FB0"/>
                </a:solidFill>
                <a:latin typeface="Poppins SemiBold" pitchFamily="34" charset="0"/>
                <a:ea typeface="Poppins SemiBold" pitchFamily="34" charset="-122"/>
                <a:cs typeface="Poppins SemiBold" pitchFamily="34" charset="-120"/>
              </a:rPr>
              <a:t>MCP server</a:t>
            </a:r>
            <a:endParaRPr lang="en-US" sz="1200" dirty="0"/>
          </a:p>
        </p:txBody>
      </p:sp>
      <p:sp>
        <p:nvSpPr>
          <p:cNvPr id="34" name="Text 30"/>
          <p:cNvSpPr txBox="1"/>
          <p:nvPr/>
        </p:nvSpPr>
        <p:spPr>
          <a:xfrm>
            <a:off x="8092440" y="3803904"/>
            <a:ext cx="3246120" cy="594360"/>
          </a:xfrm>
          <a:prstGeom prst="rect">
            <a:avLst/>
          </a:prstGeom>
          <a:noFill/>
          <a:ln/>
        </p:spPr>
        <p:txBody>
          <a:bodyPr wrap="square" lIns="0" tIns="0" rIns="0" bIns="0" rtlCol="0" anchor="ctr"/>
          <a:lstStyle/>
          <a:p>
            <a:pPr indent="0" marL="0">
              <a:buNone/>
            </a:pPr>
            <a:r>
              <a:rPr lang="en-US" sz="1100" dirty="0">
                <a:solidFill>
                  <a:srgbClr val="666666"/>
                </a:solidFill>
                <a:latin typeface="Poppins" pitchFamily="34" charset="0"/>
                <a:ea typeface="Poppins" pitchFamily="34" charset="-122"/>
                <a:cs typeface="Poppins" pitchFamily="34" charset="-120"/>
              </a:rPr>
              <a:t>Jira, GitHub, databases, all exposed as tools.</a:t>
            </a:r>
            <a:endParaRPr lang="en-US" sz="1100" dirty="0"/>
          </a:p>
        </p:txBody>
      </p:sp>
      <p:sp>
        <p:nvSpPr>
          <p:cNvPr id="35" name="Shape 31"/>
          <p:cNvSpPr/>
          <p:nvPr/>
        </p:nvSpPr>
        <p:spPr>
          <a:xfrm>
            <a:off x="685800" y="4507992"/>
            <a:ext cx="10817352" cy="594360"/>
          </a:xfrm>
          <a:prstGeom prst="roundRect">
            <a:avLst>
              <a:gd name="adj" fmla="val 6154"/>
            </a:avLst>
          </a:prstGeom>
          <a:solidFill>
            <a:srgbClr val="F7F9FC"/>
          </a:solidFill>
          <a:ln/>
        </p:spPr>
        <p:txBody>
          <a:bodyPr/>
          <a:p/>
        </p:txBody>
      </p:sp>
      <p:sp>
        <p:nvSpPr>
          <p:cNvPr id="36" name="Text 32"/>
          <p:cNvSpPr txBox="1"/>
          <p:nvPr/>
        </p:nvSpPr>
        <p:spPr>
          <a:xfrm>
            <a:off x="914400" y="4507992"/>
            <a:ext cx="5120640" cy="59436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The same input must always give the same output</a:t>
            </a:r>
            <a:endParaRPr lang="en-US" sz="1300" dirty="0"/>
          </a:p>
        </p:txBody>
      </p:sp>
      <p:sp>
        <p:nvSpPr>
          <p:cNvPr id="37" name="Text 33"/>
          <p:cNvSpPr txBox="1"/>
          <p:nvPr/>
        </p:nvSpPr>
        <p:spPr>
          <a:xfrm>
            <a:off x="5989320" y="4507992"/>
            <a:ext cx="365760" cy="594360"/>
          </a:xfrm>
          <a:prstGeom prst="rect">
            <a:avLst/>
          </a:prstGeom>
          <a:noFill/>
          <a:ln/>
        </p:spPr>
        <p:txBody>
          <a:bodyPr wrap="square" lIns="0" tIns="0" rIns="0" bIns="0" rtlCol="0" anchor="ctr"/>
          <a:lstStyle/>
          <a:p>
            <a:pPr algn="ctr" indent="0" marL="0">
              <a:buNone/>
            </a:pPr>
            <a:r>
              <a:rPr lang="en-US" sz="1800" dirty="0">
                <a:solidFill>
                  <a:srgbClr val="999999"/>
                </a:solidFill>
                <a:latin typeface="Poppins" pitchFamily="34" charset="0"/>
                <a:ea typeface="Poppins" pitchFamily="34" charset="-122"/>
                <a:cs typeface="Poppins" pitchFamily="34" charset="-120"/>
              </a:rPr>
              <a:t>→</a:t>
            </a:r>
            <a:endParaRPr lang="en-US" sz="1800" dirty="0"/>
          </a:p>
        </p:txBody>
      </p:sp>
      <p:sp>
        <p:nvSpPr>
          <p:cNvPr id="38" name="Shape 34"/>
          <p:cNvSpPr/>
          <p:nvPr/>
        </p:nvSpPr>
        <p:spPr>
          <a:xfrm>
            <a:off x="6446520" y="4636008"/>
            <a:ext cx="1463040" cy="338328"/>
          </a:xfrm>
          <a:prstGeom prst="roundRect">
            <a:avLst>
              <a:gd name="adj" fmla="val 50000"/>
            </a:avLst>
          </a:prstGeom>
          <a:solidFill>
            <a:srgbClr val="FFFFFF"/>
          </a:solidFill>
          <a:ln/>
        </p:spPr>
        <p:txBody>
          <a:bodyPr/>
          <a:p/>
        </p:txBody>
      </p:sp>
      <p:sp>
        <p:nvSpPr>
          <p:cNvPr id="39" name="Text 35"/>
          <p:cNvSpPr txBox="1"/>
          <p:nvPr/>
        </p:nvSpPr>
        <p:spPr>
          <a:xfrm>
            <a:off x="6446520" y="4636008"/>
            <a:ext cx="1463040" cy="338328"/>
          </a:xfrm>
          <a:prstGeom prst="rect">
            <a:avLst/>
          </a:prstGeom>
          <a:noFill/>
          <a:ln/>
        </p:spPr>
        <p:txBody>
          <a:bodyPr wrap="square" lIns="0" tIns="0" rIns="0" bIns="0" rtlCol="0" anchor="ctr"/>
          <a:lstStyle/>
          <a:p>
            <a:pPr algn="ctr" indent="0" marL="0">
              <a:buNone/>
            </a:pPr>
            <a:r>
              <a:rPr lang="en-US" sz="1200" dirty="0">
                <a:solidFill>
                  <a:srgbClr val="666666"/>
                </a:solidFill>
                <a:latin typeface="Poppins SemiBold" pitchFamily="34" charset="0"/>
                <a:ea typeface="Poppins SemiBold" pitchFamily="34" charset="-122"/>
                <a:cs typeface="Poppins SemiBold" pitchFamily="34" charset="-120"/>
              </a:rPr>
              <a:t>Script</a:t>
            </a:r>
            <a:endParaRPr lang="en-US" sz="1200" dirty="0"/>
          </a:p>
        </p:txBody>
      </p:sp>
      <p:sp>
        <p:nvSpPr>
          <p:cNvPr id="40" name="Text 36"/>
          <p:cNvSpPr txBox="1"/>
          <p:nvPr/>
        </p:nvSpPr>
        <p:spPr>
          <a:xfrm>
            <a:off x="8092440" y="4507992"/>
            <a:ext cx="3246120" cy="594360"/>
          </a:xfrm>
          <a:prstGeom prst="rect">
            <a:avLst/>
          </a:prstGeom>
          <a:noFill/>
          <a:ln/>
        </p:spPr>
        <p:txBody>
          <a:bodyPr wrap="square" lIns="0" tIns="0" rIns="0" bIns="0" rtlCol="0" anchor="ctr"/>
          <a:lstStyle/>
          <a:p>
            <a:pPr indent="0" marL="0">
              <a:buNone/>
            </a:pPr>
            <a:r>
              <a:rPr lang="en-US" sz="1100" dirty="0">
                <a:solidFill>
                  <a:srgbClr val="666666"/>
                </a:solidFill>
                <a:latin typeface="Poppins" pitchFamily="34" charset="0"/>
                <a:ea typeface="Poppins" pitchFamily="34" charset="-122"/>
                <a:cs typeface="Poppins" pitchFamily="34" charset="-120"/>
              </a:rPr>
              <a:t>Plain code: merging, diffing, running tests, git. No AI.</a:t>
            </a:r>
            <a:endParaRPr lang="en-US" sz="1100" dirty="0"/>
          </a:p>
        </p:txBody>
      </p:sp>
      <p:sp>
        <p:nvSpPr>
          <p:cNvPr id="41" name="Shape 37"/>
          <p:cNvSpPr/>
          <p:nvPr/>
        </p:nvSpPr>
        <p:spPr>
          <a:xfrm>
            <a:off x="685800" y="5212080"/>
            <a:ext cx="10817352" cy="594360"/>
          </a:xfrm>
          <a:prstGeom prst="roundRect">
            <a:avLst>
              <a:gd name="adj" fmla="val 6154"/>
            </a:avLst>
          </a:prstGeom>
          <a:solidFill>
            <a:srgbClr val="F7F9FC"/>
          </a:solidFill>
          <a:ln/>
        </p:spPr>
        <p:txBody>
          <a:bodyPr/>
          <a:p/>
        </p:txBody>
      </p:sp>
      <p:sp>
        <p:nvSpPr>
          <p:cNvPr id="42" name="Text 38"/>
          <p:cNvSpPr txBox="1"/>
          <p:nvPr/>
        </p:nvSpPr>
        <p:spPr>
          <a:xfrm>
            <a:off x="914400" y="5212080"/>
            <a:ext cx="5120640" cy="594360"/>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Something the model should always know</a:t>
            </a:r>
            <a:endParaRPr lang="en-US" sz="1300" dirty="0"/>
          </a:p>
        </p:txBody>
      </p:sp>
      <p:sp>
        <p:nvSpPr>
          <p:cNvPr id="43" name="Text 39"/>
          <p:cNvSpPr txBox="1"/>
          <p:nvPr/>
        </p:nvSpPr>
        <p:spPr>
          <a:xfrm>
            <a:off x="5989320" y="5212080"/>
            <a:ext cx="365760" cy="594360"/>
          </a:xfrm>
          <a:prstGeom prst="rect">
            <a:avLst/>
          </a:prstGeom>
          <a:noFill/>
          <a:ln/>
        </p:spPr>
        <p:txBody>
          <a:bodyPr wrap="square" lIns="0" tIns="0" rIns="0" bIns="0" rtlCol="0" anchor="ctr"/>
          <a:lstStyle/>
          <a:p>
            <a:pPr algn="ctr" indent="0" marL="0">
              <a:buNone/>
            </a:pPr>
            <a:r>
              <a:rPr lang="en-US" sz="1800" dirty="0">
                <a:solidFill>
                  <a:srgbClr val="999999"/>
                </a:solidFill>
                <a:latin typeface="Poppins" pitchFamily="34" charset="0"/>
                <a:ea typeface="Poppins" pitchFamily="34" charset="-122"/>
                <a:cs typeface="Poppins" pitchFamily="34" charset="-120"/>
              </a:rPr>
              <a:t>→</a:t>
            </a:r>
            <a:endParaRPr lang="en-US" sz="1800" dirty="0"/>
          </a:p>
        </p:txBody>
      </p:sp>
      <p:sp>
        <p:nvSpPr>
          <p:cNvPr id="44" name="Shape 40"/>
          <p:cNvSpPr/>
          <p:nvPr/>
        </p:nvSpPr>
        <p:spPr>
          <a:xfrm>
            <a:off x="6446520" y="5340096"/>
            <a:ext cx="1463040" cy="338328"/>
          </a:xfrm>
          <a:prstGeom prst="roundRect">
            <a:avLst>
              <a:gd name="adj" fmla="val 50000"/>
            </a:avLst>
          </a:prstGeom>
          <a:solidFill>
            <a:srgbClr val="FFFFFF"/>
          </a:solidFill>
          <a:ln/>
        </p:spPr>
        <p:txBody>
          <a:bodyPr/>
          <a:p/>
        </p:txBody>
      </p:sp>
      <p:sp>
        <p:nvSpPr>
          <p:cNvPr id="45" name="Text 41"/>
          <p:cNvSpPr txBox="1"/>
          <p:nvPr/>
        </p:nvSpPr>
        <p:spPr>
          <a:xfrm>
            <a:off x="6446520" y="5340096"/>
            <a:ext cx="1463040" cy="338328"/>
          </a:xfrm>
          <a:prstGeom prst="rect">
            <a:avLst/>
          </a:prstGeom>
          <a:noFill/>
          <a:ln/>
        </p:spPr>
        <p:txBody>
          <a:bodyPr wrap="square" lIns="0" tIns="0" rIns="0" bIns="0" rtlCol="0" anchor="ctr"/>
          <a:lstStyle/>
          <a:p>
            <a:pPr algn="ctr" indent="0" marL="0">
              <a:buNone/>
            </a:pPr>
            <a:r>
              <a:rPr lang="en-US" sz="1200" dirty="0">
                <a:solidFill>
                  <a:srgbClr val="666666"/>
                </a:solidFill>
                <a:latin typeface="Poppins SemiBold" pitchFamily="34" charset="0"/>
                <a:ea typeface="Poppins SemiBold" pitchFamily="34" charset="-122"/>
                <a:cs typeface="Poppins SemiBold" pitchFamily="34" charset="-120"/>
              </a:rPr>
              <a:t>CLAUDE.md</a:t>
            </a:r>
            <a:endParaRPr lang="en-US" sz="1200" dirty="0"/>
          </a:p>
        </p:txBody>
      </p:sp>
      <p:sp>
        <p:nvSpPr>
          <p:cNvPr id="46" name="Text 42"/>
          <p:cNvSpPr txBox="1"/>
          <p:nvPr/>
        </p:nvSpPr>
        <p:spPr>
          <a:xfrm>
            <a:off x="8092440" y="5212080"/>
            <a:ext cx="3246120" cy="594360"/>
          </a:xfrm>
          <a:prstGeom prst="rect">
            <a:avLst/>
          </a:prstGeom>
          <a:noFill/>
          <a:ln/>
        </p:spPr>
        <p:txBody>
          <a:bodyPr wrap="square" lIns="0" tIns="0" rIns="0" bIns="0" rtlCol="0" anchor="ctr"/>
          <a:lstStyle/>
          <a:p>
            <a:pPr indent="0" marL="0">
              <a:buNone/>
            </a:pPr>
            <a:r>
              <a:rPr lang="en-US" sz="1100" dirty="0">
                <a:solidFill>
                  <a:srgbClr val="666666"/>
                </a:solidFill>
                <a:latin typeface="Poppins" pitchFamily="34" charset="0"/>
                <a:ea typeface="Poppins" pitchFamily="34" charset="-122"/>
                <a:cs typeface="Poppins" pitchFamily="34" charset="-120"/>
              </a:rPr>
              <a:t>Conventions and context. Advisory, not enforced.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Hooks: Code That Runs on Events</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A prompt is a request. A hook is a rule.</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8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3611880" cy="676656"/>
          </a:xfrm>
          <a:prstGeom prst="roundRect">
            <a:avLst>
              <a:gd name="adj" fmla="val 6757"/>
            </a:avLst>
          </a:prstGeom>
          <a:solidFill>
            <a:srgbClr val="F7F9FC"/>
          </a:solidFill>
          <a:ln/>
        </p:spPr>
        <p:txBody>
          <a:bodyPr/>
          <a:p/>
        </p:txBody>
      </p:sp>
      <p:sp>
        <p:nvSpPr>
          <p:cNvPr id="12" name="Text 8"/>
          <p:cNvSpPr txBox="1"/>
          <p:nvPr/>
        </p:nvSpPr>
        <p:spPr>
          <a:xfrm>
            <a:off x="868680" y="1746504"/>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SessionStart</a:t>
            </a:r>
            <a:endParaRPr lang="en-US" sz="1250" dirty="0"/>
          </a:p>
        </p:txBody>
      </p:sp>
      <p:sp>
        <p:nvSpPr>
          <p:cNvPr id="13" name="Text 9"/>
          <p:cNvSpPr txBox="1"/>
          <p:nvPr/>
        </p:nvSpPr>
        <p:spPr>
          <a:xfrm>
            <a:off x="868680" y="2039112"/>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a session starts or resumes</a:t>
            </a:r>
            <a:endParaRPr lang="en-US" sz="1000" dirty="0"/>
          </a:p>
        </p:txBody>
      </p:sp>
      <p:sp>
        <p:nvSpPr>
          <p:cNvPr id="14" name="Text 10"/>
          <p:cNvSpPr txBox="1"/>
          <p:nvPr/>
        </p:nvSpPr>
        <p:spPr>
          <a:xfrm>
            <a:off x="2743200" y="2039112"/>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add context</a:t>
            </a:r>
            <a:endParaRPr lang="en-US" sz="950" dirty="0"/>
          </a:p>
        </p:txBody>
      </p:sp>
      <p:sp>
        <p:nvSpPr>
          <p:cNvPr id="15" name="Shape 11"/>
          <p:cNvSpPr/>
          <p:nvPr/>
        </p:nvSpPr>
        <p:spPr>
          <a:xfrm>
            <a:off x="4434840" y="1691640"/>
            <a:ext cx="3611880" cy="676656"/>
          </a:xfrm>
          <a:prstGeom prst="roundRect">
            <a:avLst>
              <a:gd name="adj" fmla="val 6757"/>
            </a:avLst>
          </a:prstGeom>
          <a:solidFill>
            <a:srgbClr val="F7F9FC"/>
          </a:solidFill>
          <a:ln/>
        </p:spPr>
        <p:txBody>
          <a:bodyPr/>
          <a:p/>
        </p:txBody>
      </p:sp>
      <p:sp>
        <p:nvSpPr>
          <p:cNvPr id="16" name="Text 12"/>
          <p:cNvSpPr txBox="1"/>
          <p:nvPr/>
        </p:nvSpPr>
        <p:spPr>
          <a:xfrm>
            <a:off x="4617720" y="1746504"/>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UserPromptSubmit</a:t>
            </a:r>
            <a:endParaRPr lang="en-US" sz="1250" dirty="0"/>
          </a:p>
        </p:txBody>
      </p:sp>
      <p:sp>
        <p:nvSpPr>
          <p:cNvPr id="17" name="Text 13"/>
          <p:cNvSpPr txBox="1"/>
          <p:nvPr/>
        </p:nvSpPr>
        <p:spPr>
          <a:xfrm>
            <a:off x="4617720" y="2039112"/>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you press enter</a:t>
            </a:r>
            <a:endParaRPr lang="en-US" sz="1000" dirty="0"/>
          </a:p>
        </p:txBody>
      </p:sp>
      <p:sp>
        <p:nvSpPr>
          <p:cNvPr id="18" name="Text 14"/>
          <p:cNvSpPr txBox="1"/>
          <p:nvPr/>
        </p:nvSpPr>
        <p:spPr>
          <a:xfrm>
            <a:off x="6492240" y="2039112"/>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block · add context</a:t>
            </a:r>
            <a:endParaRPr lang="en-US" sz="950" dirty="0"/>
          </a:p>
        </p:txBody>
      </p:sp>
      <p:sp>
        <p:nvSpPr>
          <p:cNvPr id="19" name="Shape 15"/>
          <p:cNvSpPr/>
          <p:nvPr/>
        </p:nvSpPr>
        <p:spPr>
          <a:xfrm>
            <a:off x="685800" y="2478024"/>
            <a:ext cx="3611880" cy="676656"/>
          </a:xfrm>
          <a:prstGeom prst="roundRect">
            <a:avLst>
              <a:gd name="adj" fmla="val 6757"/>
            </a:avLst>
          </a:prstGeom>
          <a:solidFill>
            <a:srgbClr val="E6F3EC"/>
          </a:solidFill>
          <a:ln/>
        </p:spPr>
        <p:txBody>
          <a:bodyPr/>
          <a:p/>
        </p:txBody>
      </p:sp>
      <p:sp>
        <p:nvSpPr>
          <p:cNvPr id="20" name="Text 16"/>
          <p:cNvSpPr txBox="1"/>
          <p:nvPr/>
        </p:nvSpPr>
        <p:spPr>
          <a:xfrm>
            <a:off x="868680" y="2532888"/>
            <a:ext cx="3246120" cy="292608"/>
          </a:xfrm>
          <a:prstGeom prst="rect">
            <a:avLst/>
          </a:prstGeom>
          <a:noFill/>
          <a:ln/>
        </p:spPr>
        <p:txBody>
          <a:bodyPr wrap="square" lIns="0" tIns="0" rIns="0" bIns="0" rtlCol="0" anchor="t"/>
          <a:lstStyle/>
          <a:p>
            <a:pPr indent="0" marL="0">
              <a:buNone/>
            </a:pPr>
            <a:r>
              <a:rPr lang="en-US" sz="1250" dirty="0">
                <a:solidFill>
                  <a:srgbClr val="2D8C55"/>
                </a:solidFill>
                <a:latin typeface="Poppins SemiBold" pitchFamily="34" charset="0"/>
                <a:ea typeface="Poppins SemiBold" pitchFamily="34" charset="-122"/>
                <a:cs typeface="Poppins SemiBold" pitchFamily="34" charset="-120"/>
              </a:rPr>
              <a:t>PreToolUse</a:t>
            </a:r>
            <a:endParaRPr lang="en-US" sz="1250" dirty="0"/>
          </a:p>
        </p:txBody>
      </p:sp>
      <p:sp>
        <p:nvSpPr>
          <p:cNvPr id="21" name="Text 17"/>
          <p:cNvSpPr txBox="1"/>
          <p:nvPr/>
        </p:nvSpPr>
        <p:spPr>
          <a:xfrm>
            <a:off x="868680" y="2825496"/>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before any tool call</a:t>
            </a:r>
            <a:endParaRPr lang="en-US" sz="1000" dirty="0"/>
          </a:p>
        </p:txBody>
      </p:sp>
      <p:sp>
        <p:nvSpPr>
          <p:cNvPr id="22" name="Text 18"/>
          <p:cNvSpPr txBox="1"/>
          <p:nvPr/>
        </p:nvSpPr>
        <p:spPr>
          <a:xfrm>
            <a:off x="2743200" y="2825496"/>
            <a:ext cx="1371600" cy="274320"/>
          </a:xfrm>
          <a:prstGeom prst="rect">
            <a:avLst/>
          </a:prstGeom>
          <a:noFill/>
          <a:ln/>
        </p:spPr>
        <p:txBody>
          <a:bodyPr wrap="square" lIns="0" tIns="0" rIns="0" bIns="0" rtlCol="0" anchor="t"/>
          <a:lstStyle/>
          <a:p>
            <a:pPr algn="r" indent="0" marL="0">
              <a:buNone/>
            </a:pPr>
            <a:r>
              <a:rPr lang="en-US" sz="950" dirty="0">
                <a:solidFill>
                  <a:srgbClr val="2D8C55"/>
                </a:solidFill>
                <a:latin typeface="Poppins SemiBold" pitchFamily="34" charset="0"/>
                <a:ea typeface="Poppins SemiBold" pitchFamily="34" charset="-122"/>
                <a:cs typeface="Poppins SemiBold" pitchFamily="34" charset="-120"/>
              </a:rPr>
              <a:t>block · change input</a:t>
            </a:r>
            <a:endParaRPr lang="en-US" sz="950" dirty="0"/>
          </a:p>
        </p:txBody>
      </p:sp>
      <p:sp>
        <p:nvSpPr>
          <p:cNvPr id="23" name="Shape 19"/>
          <p:cNvSpPr/>
          <p:nvPr/>
        </p:nvSpPr>
        <p:spPr>
          <a:xfrm>
            <a:off x="4434840" y="2478024"/>
            <a:ext cx="3611880" cy="676656"/>
          </a:xfrm>
          <a:prstGeom prst="roundRect">
            <a:avLst>
              <a:gd name="adj" fmla="val 6757"/>
            </a:avLst>
          </a:prstGeom>
          <a:solidFill>
            <a:srgbClr val="F7F9FC"/>
          </a:solidFill>
          <a:ln/>
        </p:spPr>
        <p:txBody>
          <a:bodyPr/>
          <a:p/>
        </p:txBody>
      </p:sp>
      <p:sp>
        <p:nvSpPr>
          <p:cNvPr id="24" name="Text 20"/>
          <p:cNvSpPr txBox="1"/>
          <p:nvPr/>
        </p:nvSpPr>
        <p:spPr>
          <a:xfrm>
            <a:off x="4617720" y="2532888"/>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PermissionRequest</a:t>
            </a:r>
            <a:endParaRPr lang="en-US" sz="1250" dirty="0"/>
          </a:p>
        </p:txBody>
      </p:sp>
      <p:sp>
        <p:nvSpPr>
          <p:cNvPr id="25" name="Text 21"/>
          <p:cNvSpPr txBox="1"/>
          <p:nvPr/>
        </p:nvSpPr>
        <p:spPr>
          <a:xfrm>
            <a:off x="4617720" y="2825496"/>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a tool needs approval</a:t>
            </a:r>
            <a:endParaRPr lang="en-US" sz="1000" dirty="0"/>
          </a:p>
        </p:txBody>
      </p:sp>
      <p:sp>
        <p:nvSpPr>
          <p:cNvPr id="26" name="Text 22"/>
          <p:cNvSpPr txBox="1"/>
          <p:nvPr/>
        </p:nvSpPr>
        <p:spPr>
          <a:xfrm>
            <a:off x="6492240" y="2825496"/>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allow · deny</a:t>
            </a:r>
            <a:endParaRPr lang="en-US" sz="950" dirty="0"/>
          </a:p>
        </p:txBody>
      </p:sp>
      <p:sp>
        <p:nvSpPr>
          <p:cNvPr id="27" name="Shape 23"/>
          <p:cNvSpPr/>
          <p:nvPr/>
        </p:nvSpPr>
        <p:spPr>
          <a:xfrm>
            <a:off x="685800" y="3264408"/>
            <a:ext cx="3611880" cy="676656"/>
          </a:xfrm>
          <a:prstGeom prst="roundRect">
            <a:avLst>
              <a:gd name="adj" fmla="val 6757"/>
            </a:avLst>
          </a:prstGeom>
          <a:solidFill>
            <a:srgbClr val="F7F9FC"/>
          </a:solidFill>
          <a:ln/>
        </p:spPr>
        <p:txBody>
          <a:bodyPr/>
          <a:p/>
        </p:txBody>
      </p:sp>
      <p:sp>
        <p:nvSpPr>
          <p:cNvPr id="28" name="Text 24"/>
          <p:cNvSpPr txBox="1"/>
          <p:nvPr/>
        </p:nvSpPr>
        <p:spPr>
          <a:xfrm>
            <a:off x="868680" y="3319272"/>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PostToolUse</a:t>
            </a:r>
            <a:endParaRPr lang="en-US" sz="1250" dirty="0"/>
          </a:p>
        </p:txBody>
      </p:sp>
      <p:sp>
        <p:nvSpPr>
          <p:cNvPr id="29" name="Text 25"/>
          <p:cNvSpPr txBox="1"/>
          <p:nvPr/>
        </p:nvSpPr>
        <p:spPr>
          <a:xfrm>
            <a:off x="868680" y="3611880"/>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after a tool succeeds</a:t>
            </a:r>
            <a:endParaRPr lang="en-US" sz="1000" dirty="0"/>
          </a:p>
        </p:txBody>
      </p:sp>
      <p:sp>
        <p:nvSpPr>
          <p:cNvPr id="30" name="Text 26"/>
          <p:cNvSpPr txBox="1"/>
          <p:nvPr/>
        </p:nvSpPr>
        <p:spPr>
          <a:xfrm>
            <a:off x="2743200" y="3611880"/>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rewrite output</a:t>
            </a:r>
            <a:endParaRPr lang="en-US" sz="950" dirty="0"/>
          </a:p>
        </p:txBody>
      </p:sp>
      <p:sp>
        <p:nvSpPr>
          <p:cNvPr id="31" name="Shape 27"/>
          <p:cNvSpPr/>
          <p:nvPr/>
        </p:nvSpPr>
        <p:spPr>
          <a:xfrm>
            <a:off x="4434840" y="3264408"/>
            <a:ext cx="3611880" cy="676656"/>
          </a:xfrm>
          <a:prstGeom prst="roundRect">
            <a:avLst>
              <a:gd name="adj" fmla="val 6757"/>
            </a:avLst>
          </a:prstGeom>
          <a:solidFill>
            <a:srgbClr val="F7F9FC"/>
          </a:solidFill>
          <a:ln/>
        </p:spPr>
        <p:txBody>
          <a:bodyPr/>
          <a:p/>
        </p:txBody>
      </p:sp>
      <p:sp>
        <p:nvSpPr>
          <p:cNvPr id="32" name="Text 28"/>
          <p:cNvSpPr txBox="1"/>
          <p:nvPr/>
        </p:nvSpPr>
        <p:spPr>
          <a:xfrm>
            <a:off x="4617720" y="3319272"/>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SubagentStart</a:t>
            </a:r>
            <a:endParaRPr lang="en-US" sz="1250" dirty="0"/>
          </a:p>
        </p:txBody>
      </p:sp>
      <p:sp>
        <p:nvSpPr>
          <p:cNvPr id="33" name="Text 29"/>
          <p:cNvSpPr txBox="1"/>
          <p:nvPr/>
        </p:nvSpPr>
        <p:spPr>
          <a:xfrm>
            <a:off x="4617720" y="3611880"/>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a subagent is spawned</a:t>
            </a:r>
            <a:endParaRPr lang="en-US" sz="1000" dirty="0"/>
          </a:p>
        </p:txBody>
      </p:sp>
      <p:sp>
        <p:nvSpPr>
          <p:cNvPr id="34" name="Text 30"/>
          <p:cNvSpPr txBox="1"/>
          <p:nvPr/>
        </p:nvSpPr>
        <p:spPr>
          <a:xfrm>
            <a:off x="6492240" y="3611880"/>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add context</a:t>
            </a:r>
            <a:endParaRPr lang="en-US" sz="950" dirty="0"/>
          </a:p>
        </p:txBody>
      </p:sp>
      <p:sp>
        <p:nvSpPr>
          <p:cNvPr id="35" name="Shape 31"/>
          <p:cNvSpPr/>
          <p:nvPr/>
        </p:nvSpPr>
        <p:spPr>
          <a:xfrm>
            <a:off x="685800" y="4050792"/>
            <a:ext cx="3611880" cy="676656"/>
          </a:xfrm>
          <a:prstGeom prst="roundRect">
            <a:avLst>
              <a:gd name="adj" fmla="val 6757"/>
            </a:avLst>
          </a:prstGeom>
          <a:solidFill>
            <a:srgbClr val="E6F3EC"/>
          </a:solidFill>
          <a:ln/>
        </p:spPr>
        <p:txBody>
          <a:bodyPr/>
          <a:p/>
        </p:txBody>
      </p:sp>
      <p:sp>
        <p:nvSpPr>
          <p:cNvPr id="36" name="Text 32"/>
          <p:cNvSpPr txBox="1"/>
          <p:nvPr/>
        </p:nvSpPr>
        <p:spPr>
          <a:xfrm>
            <a:off x="868680" y="4105656"/>
            <a:ext cx="3246120" cy="292608"/>
          </a:xfrm>
          <a:prstGeom prst="rect">
            <a:avLst/>
          </a:prstGeom>
          <a:noFill/>
          <a:ln/>
        </p:spPr>
        <p:txBody>
          <a:bodyPr wrap="square" lIns="0" tIns="0" rIns="0" bIns="0" rtlCol="0" anchor="t"/>
          <a:lstStyle/>
          <a:p>
            <a:pPr indent="0" marL="0">
              <a:buNone/>
            </a:pPr>
            <a:r>
              <a:rPr lang="en-US" sz="1250" dirty="0">
                <a:solidFill>
                  <a:srgbClr val="2D8C55"/>
                </a:solidFill>
                <a:latin typeface="Poppins SemiBold" pitchFamily="34" charset="0"/>
                <a:ea typeface="Poppins SemiBold" pitchFamily="34" charset="-122"/>
                <a:cs typeface="Poppins SemiBold" pitchFamily="34" charset="-120"/>
              </a:rPr>
              <a:t>SubagentStop</a:t>
            </a:r>
            <a:endParaRPr lang="en-US" sz="1250" dirty="0"/>
          </a:p>
        </p:txBody>
      </p:sp>
      <p:sp>
        <p:nvSpPr>
          <p:cNvPr id="37" name="Text 33"/>
          <p:cNvSpPr txBox="1"/>
          <p:nvPr/>
        </p:nvSpPr>
        <p:spPr>
          <a:xfrm>
            <a:off x="868680" y="4398264"/>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a subagent finishes</a:t>
            </a:r>
            <a:endParaRPr lang="en-US" sz="1000" dirty="0"/>
          </a:p>
        </p:txBody>
      </p:sp>
      <p:sp>
        <p:nvSpPr>
          <p:cNvPr id="38" name="Text 34"/>
          <p:cNvSpPr txBox="1"/>
          <p:nvPr/>
        </p:nvSpPr>
        <p:spPr>
          <a:xfrm>
            <a:off x="2743200" y="4398264"/>
            <a:ext cx="1371600" cy="274320"/>
          </a:xfrm>
          <a:prstGeom prst="rect">
            <a:avLst/>
          </a:prstGeom>
          <a:noFill/>
          <a:ln/>
        </p:spPr>
        <p:txBody>
          <a:bodyPr wrap="square" lIns="0" tIns="0" rIns="0" bIns="0" rtlCol="0" anchor="t"/>
          <a:lstStyle/>
          <a:p>
            <a:pPr algn="r" indent="0" marL="0">
              <a:buNone/>
            </a:pPr>
            <a:r>
              <a:rPr lang="en-US" sz="950" dirty="0">
                <a:solidFill>
                  <a:srgbClr val="2D8C55"/>
                </a:solidFill>
                <a:latin typeface="Poppins SemiBold" pitchFamily="34" charset="0"/>
                <a:ea typeface="Poppins SemiBold" pitchFamily="34" charset="-122"/>
                <a:cs typeface="Poppins SemiBold" pitchFamily="34" charset="-120"/>
              </a:rPr>
              <a:t>block · add context</a:t>
            </a:r>
            <a:endParaRPr lang="en-US" sz="950" dirty="0"/>
          </a:p>
        </p:txBody>
      </p:sp>
      <p:sp>
        <p:nvSpPr>
          <p:cNvPr id="39" name="Shape 35"/>
          <p:cNvSpPr/>
          <p:nvPr/>
        </p:nvSpPr>
        <p:spPr>
          <a:xfrm>
            <a:off x="4434840" y="4050792"/>
            <a:ext cx="3611880" cy="676656"/>
          </a:xfrm>
          <a:prstGeom prst="roundRect">
            <a:avLst>
              <a:gd name="adj" fmla="val 6757"/>
            </a:avLst>
          </a:prstGeom>
          <a:solidFill>
            <a:srgbClr val="F7F9FC"/>
          </a:solidFill>
          <a:ln/>
        </p:spPr>
        <p:txBody>
          <a:bodyPr/>
          <a:p/>
        </p:txBody>
      </p:sp>
      <p:sp>
        <p:nvSpPr>
          <p:cNvPr id="40" name="Text 36"/>
          <p:cNvSpPr txBox="1"/>
          <p:nvPr/>
        </p:nvSpPr>
        <p:spPr>
          <a:xfrm>
            <a:off x="4617720" y="4105656"/>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Stop</a:t>
            </a:r>
            <a:endParaRPr lang="en-US" sz="1250" dirty="0"/>
          </a:p>
        </p:txBody>
      </p:sp>
      <p:sp>
        <p:nvSpPr>
          <p:cNvPr id="41" name="Text 37"/>
          <p:cNvSpPr txBox="1"/>
          <p:nvPr/>
        </p:nvSpPr>
        <p:spPr>
          <a:xfrm>
            <a:off x="4617720" y="4398264"/>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Claude finishes its answer</a:t>
            </a:r>
            <a:endParaRPr lang="en-US" sz="1000" dirty="0"/>
          </a:p>
        </p:txBody>
      </p:sp>
      <p:sp>
        <p:nvSpPr>
          <p:cNvPr id="42" name="Text 38"/>
          <p:cNvSpPr txBox="1"/>
          <p:nvPr/>
        </p:nvSpPr>
        <p:spPr>
          <a:xfrm>
            <a:off x="6492240" y="4398264"/>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block (keep going)</a:t>
            </a:r>
            <a:endParaRPr lang="en-US" sz="950" dirty="0"/>
          </a:p>
        </p:txBody>
      </p:sp>
      <p:sp>
        <p:nvSpPr>
          <p:cNvPr id="43" name="Shape 39"/>
          <p:cNvSpPr/>
          <p:nvPr/>
        </p:nvSpPr>
        <p:spPr>
          <a:xfrm>
            <a:off x="685800" y="4837176"/>
            <a:ext cx="3611880" cy="676656"/>
          </a:xfrm>
          <a:prstGeom prst="roundRect">
            <a:avLst>
              <a:gd name="adj" fmla="val 6757"/>
            </a:avLst>
          </a:prstGeom>
          <a:solidFill>
            <a:srgbClr val="F7F9FC"/>
          </a:solidFill>
          <a:ln/>
        </p:spPr>
        <p:txBody>
          <a:bodyPr/>
          <a:p/>
        </p:txBody>
      </p:sp>
      <p:sp>
        <p:nvSpPr>
          <p:cNvPr id="44" name="Text 40"/>
          <p:cNvSpPr txBox="1"/>
          <p:nvPr/>
        </p:nvSpPr>
        <p:spPr>
          <a:xfrm>
            <a:off x="868680" y="4892040"/>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PreCompact</a:t>
            </a:r>
            <a:endParaRPr lang="en-US" sz="1250" dirty="0"/>
          </a:p>
        </p:txBody>
      </p:sp>
      <p:sp>
        <p:nvSpPr>
          <p:cNvPr id="45" name="Text 41"/>
          <p:cNvSpPr txBox="1"/>
          <p:nvPr/>
        </p:nvSpPr>
        <p:spPr>
          <a:xfrm>
            <a:off x="868680" y="5184648"/>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before context is compacted</a:t>
            </a:r>
            <a:endParaRPr lang="en-US" sz="1000" dirty="0"/>
          </a:p>
        </p:txBody>
      </p:sp>
      <p:sp>
        <p:nvSpPr>
          <p:cNvPr id="46" name="Text 42"/>
          <p:cNvSpPr txBox="1"/>
          <p:nvPr/>
        </p:nvSpPr>
        <p:spPr>
          <a:xfrm>
            <a:off x="2743200" y="5184648"/>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block</a:t>
            </a:r>
            <a:endParaRPr lang="en-US" sz="950" dirty="0"/>
          </a:p>
        </p:txBody>
      </p:sp>
      <p:sp>
        <p:nvSpPr>
          <p:cNvPr id="47" name="Shape 43"/>
          <p:cNvSpPr/>
          <p:nvPr/>
        </p:nvSpPr>
        <p:spPr>
          <a:xfrm>
            <a:off x="4434840" y="4837176"/>
            <a:ext cx="3611880" cy="676656"/>
          </a:xfrm>
          <a:prstGeom prst="roundRect">
            <a:avLst>
              <a:gd name="adj" fmla="val 6757"/>
            </a:avLst>
          </a:prstGeom>
          <a:solidFill>
            <a:srgbClr val="F7F9FC"/>
          </a:solidFill>
          <a:ln/>
        </p:spPr>
        <p:txBody>
          <a:bodyPr/>
          <a:p/>
        </p:txBody>
      </p:sp>
      <p:sp>
        <p:nvSpPr>
          <p:cNvPr id="48" name="Text 44"/>
          <p:cNvSpPr txBox="1"/>
          <p:nvPr/>
        </p:nvSpPr>
        <p:spPr>
          <a:xfrm>
            <a:off x="4617720" y="4892040"/>
            <a:ext cx="3246120" cy="292608"/>
          </a:xfrm>
          <a:prstGeom prst="rect">
            <a:avLst/>
          </a:prstGeom>
          <a:noFill/>
          <a:ln/>
        </p:spPr>
        <p:txBody>
          <a:bodyPr wrap="square" lIns="0" tIns="0" rIns="0" bIns="0" rtlCol="0" anchor="t"/>
          <a:lstStyle/>
          <a:p>
            <a:pPr indent="0" marL="0">
              <a:buNone/>
            </a:pPr>
            <a:r>
              <a:rPr lang="en-US" sz="1250" dirty="0">
                <a:solidFill>
                  <a:srgbClr val="1A1A1A"/>
                </a:solidFill>
                <a:latin typeface="Poppins SemiBold" pitchFamily="34" charset="0"/>
                <a:ea typeface="Poppins SemiBold" pitchFamily="34" charset="-122"/>
                <a:cs typeface="Poppins SemiBold" pitchFamily="34" charset="-120"/>
              </a:rPr>
              <a:t>Notification / SessionEnd</a:t>
            </a:r>
            <a:endParaRPr lang="en-US" sz="1250" dirty="0"/>
          </a:p>
        </p:txBody>
      </p:sp>
      <p:sp>
        <p:nvSpPr>
          <p:cNvPr id="49" name="Text 45"/>
          <p:cNvSpPr txBox="1"/>
          <p:nvPr/>
        </p:nvSpPr>
        <p:spPr>
          <a:xfrm>
            <a:off x="4617720" y="5184648"/>
            <a:ext cx="2011680" cy="274320"/>
          </a:xfrm>
          <a:prstGeom prst="rect">
            <a:avLst/>
          </a:prstGeom>
          <a:noFill/>
          <a:ln/>
        </p:spPr>
        <p:txBody>
          <a:bodyPr wrap="square" lIns="0" tIns="0" rIns="0" bIns="0" rtlCol="0" anchor="t"/>
          <a:lstStyle/>
          <a:p>
            <a:pPr indent="0" marL="0">
              <a:buNone/>
            </a:pPr>
            <a:r>
              <a:rPr lang="en-US" sz="1000" dirty="0">
                <a:solidFill>
                  <a:srgbClr val="666666"/>
                </a:solidFill>
                <a:latin typeface="Poppins" pitchFamily="34" charset="0"/>
                <a:ea typeface="Poppins" pitchFamily="34" charset="-122"/>
                <a:cs typeface="Poppins" pitchFamily="34" charset="-120"/>
              </a:rPr>
              <a:t>Claude notifies / session ends</a:t>
            </a:r>
            <a:endParaRPr lang="en-US" sz="1000" dirty="0"/>
          </a:p>
        </p:txBody>
      </p:sp>
      <p:sp>
        <p:nvSpPr>
          <p:cNvPr id="50" name="Text 46"/>
          <p:cNvSpPr txBox="1"/>
          <p:nvPr/>
        </p:nvSpPr>
        <p:spPr>
          <a:xfrm>
            <a:off x="6492240" y="5184648"/>
            <a:ext cx="1371600" cy="274320"/>
          </a:xfrm>
          <a:prstGeom prst="rect">
            <a:avLst/>
          </a:prstGeom>
          <a:noFill/>
          <a:ln/>
        </p:spPr>
        <p:txBody>
          <a:bodyPr wrap="square" lIns="0" tIns="0" rIns="0" bIns="0" rtlCol="0" anchor="t"/>
          <a:lstStyle/>
          <a:p>
            <a:pPr algn="r" indent="0" marL="0">
              <a:buNone/>
            </a:pPr>
            <a:r>
              <a:rPr lang="en-US" sz="950" dirty="0">
                <a:solidFill>
                  <a:srgbClr val="999999"/>
                </a:solidFill>
                <a:latin typeface="Poppins SemiBold" pitchFamily="34" charset="0"/>
                <a:ea typeface="Poppins SemiBold" pitchFamily="34" charset="-122"/>
                <a:cs typeface="Poppins SemiBold" pitchFamily="34" charset="-120"/>
              </a:rPr>
              <a:t>observe only</a:t>
            </a:r>
            <a:endParaRPr lang="en-US" sz="950" dirty="0"/>
          </a:p>
        </p:txBody>
      </p:sp>
      <p:sp>
        <p:nvSpPr>
          <p:cNvPr id="51" name="Shape 47"/>
          <p:cNvSpPr/>
          <p:nvPr/>
        </p:nvSpPr>
        <p:spPr>
          <a:xfrm>
            <a:off x="8366760" y="1691640"/>
            <a:ext cx="3136392" cy="3822192"/>
          </a:xfrm>
          <a:prstGeom prst="roundRect">
            <a:avLst>
              <a:gd name="adj" fmla="val 1749"/>
            </a:avLst>
          </a:prstGeom>
          <a:solidFill>
            <a:srgbClr val="EEF0FF"/>
          </a:solidFill>
          <a:ln/>
        </p:spPr>
        <p:txBody>
          <a:bodyPr/>
          <a:p/>
        </p:txBody>
      </p:sp>
      <p:sp>
        <p:nvSpPr>
          <p:cNvPr id="52" name="Text 48"/>
          <p:cNvSpPr txBox="1"/>
          <p:nvPr/>
        </p:nvSpPr>
        <p:spPr>
          <a:xfrm>
            <a:off x="8595360" y="1874520"/>
            <a:ext cx="2679192" cy="256032"/>
          </a:xfrm>
          <a:prstGeom prst="rect">
            <a:avLst/>
          </a:prstGeom>
          <a:noFill/>
          <a:ln/>
        </p:spPr>
        <p:txBody>
          <a:bodyPr wrap="square" lIns="0" tIns="0" rIns="0" bIns="0" rtlCol="0" anchor="t"/>
          <a:lstStyle/>
          <a:p>
            <a:pPr indent="0" marL="0">
              <a:buNone/>
            </a:pPr>
            <a:r>
              <a:rPr lang="en-US" sz="1050" spc="100" kern="0" dirty="0">
                <a:solidFill>
                  <a:srgbClr val="405AE7"/>
                </a:solidFill>
                <a:latin typeface="Poppins SemiBold" pitchFamily="34" charset="0"/>
                <a:ea typeface="Poppins SemiBold" pitchFamily="34" charset="-122"/>
                <a:cs typeface="Poppins SemiBold" pitchFamily="34" charset="-120"/>
              </a:rPr>
              <a:t>THIS PLUGIN USES TWO</a:t>
            </a:r>
            <a:endParaRPr lang="en-US" sz="1050" dirty="0"/>
          </a:p>
        </p:txBody>
      </p:sp>
      <p:sp>
        <p:nvSpPr>
          <p:cNvPr id="53" name="Text 49"/>
          <p:cNvSpPr txBox="1"/>
          <p:nvPr/>
        </p:nvSpPr>
        <p:spPr>
          <a:xfrm>
            <a:off x="8595360" y="2240280"/>
            <a:ext cx="2679192" cy="320040"/>
          </a:xfrm>
          <a:prstGeom prst="rect">
            <a:avLst/>
          </a:prstGeom>
          <a:noFill/>
          <a:ln/>
        </p:spPr>
        <p:txBody>
          <a:bodyPr wrap="square" lIns="0" tIns="0" rIns="0" bIns="0" rtlCol="0" anchor="t"/>
          <a:lstStyle/>
          <a:p>
            <a:pPr indent="0" marL="0">
              <a:buNone/>
            </a:pPr>
            <a:r>
              <a:rPr lang="en-US" sz="1300" dirty="0">
                <a:solidFill>
                  <a:srgbClr val="2C3FB0"/>
                </a:solidFill>
                <a:latin typeface="Poppins SemiBold" pitchFamily="34" charset="0"/>
                <a:ea typeface="Poppins SemiBold" pitchFamily="34" charset="-122"/>
                <a:cs typeface="Poppins SemiBold" pitchFamily="34" charset="-120"/>
              </a:rPr>
              <a:t>PreToolUse → guard.mjs</a:t>
            </a:r>
            <a:endParaRPr lang="en-US" sz="1300" dirty="0"/>
          </a:p>
        </p:txBody>
      </p:sp>
      <p:sp>
        <p:nvSpPr>
          <p:cNvPr id="54" name="Text 50"/>
          <p:cNvSpPr txBox="1"/>
          <p:nvPr/>
        </p:nvSpPr>
        <p:spPr>
          <a:xfrm>
            <a:off x="8595360" y="2578608"/>
            <a:ext cx="2679192"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Checks every Bash, Edit, Read, Agent and MCP call against rules H1–H11. Denies with a readable reason.</a:t>
            </a:r>
            <a:endParaRPr lang="en-US" sz="1100" dirty="0"/>
          </a:p>
        </p:txBody>
      </p:sp>
      <p:sp>
        <p:nvSpPr>
          <p:cNvPr id="55" name="Text 51"/>
          <p:cNvSpPr txBox="1"/>
          <p:nvPr/>
        </p:nvSpPr>
        <p:spPr>
          <a:xfrm>
            <a:off x="8595360" y="3611880"/>
            <a:ext cx="2679192" cy="320040"/>
          </a:xfrm>
          <a:prstGeom prst="rect">
            <a:avLst/>
          </a:prstGeom>
          <a:noFill/>
          <a:ln/>
        </p:spPr>
        <p:txBody>
          <a:bodyPr wrap="square" lIns="0" tIns="0" rIns="0" bIns="0" rtlCol="0" anchor="t"/>
          <a:lstStyle/>
          <a:p>
            <a:pPr indent="0" marL="0">
              <a:buNone/>
            </a:pPr>
            <a:r>
              <a:rPr lang="en-US" sz="1300" dirty="0">
                <a:solidFill>
                  <a:srgbClr val="2C3FB0"/>
                </a:solidFill>
                <a:latin typeface="Poppins SemiBold" pitchFamily="34" charset="0"/>
                <a:ea typeface="Poppins SemiBold" pitchFamily="34" charset="-122"/>
                <a:cs typeface="Poppins SemiBold" pitchFamily="34" charset="-120"/>
              </a:rPr>
              <a:t>SubagentStop → record.mjs</a:t>
            </a:r>
            <a:endParaRPr lang="en-US" sz="1300" dirty="0"/>
          </a:p>
        </p:txBody>
      </p:sp>
      <p:sp>
        <p:nvSpPr>
          <p:cNvPr id="56" name="Text 52"/>
          <p:cNvSpPr txBox="1"/>
          <p:nvPr/>
        </p:nvSpPr>
        <p:spPr>
          <a:xfrm>
            <a:off x="8595360" y="3950208"/>
            <a:ext cx="2679192"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Logs each agent's time and tokens and saves its answer to the run folder. Never blocks.</a:t>
            </a:r>
            <a:endParaRPr lang="en-US" sz="1100" dirty="0"/>
          </a:p>
        </p:txBody>
      </p:sp>
      <p:sp>
        <p:nvSpPr>
          <p:cNvPr id="57" name="Text 53"/>
          <p:cNvSpPr txBox="1"/>
          <p:nvPr/>
        </p:nvSpPr>
        <p:spPr>
          <a:xfrm>
            <a:off x="685800" y="576072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30+ events in total; a handler can be a shell command, an HTTP call, an MCP tool, a one-shot LLM prompt or an agent. Exit code 2 = deny.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Deterministic vs. AI Judgment</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Decide for every step: does it need judgment, or does it need to be the same every time?</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9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5257800" cy="3520440"/>
          </a:xfrm>
          <a:prstGeom prst="roundRect">
            <a:avLst>
              <a:gd name="adj" fmla="val 1558"/>
            </a:avLst>
          </a:prstGeom>
          <a:solidFill>
            <a:srgbClr val="F7F9FC"/>
          </a:solidFill>
          <a:ln/>
        </p:spPr>
        <p:txBody>
          <a:bodyPr/>
          <a:p/>
        </p:txBody>
      </p:sp>
      <p:sp>
        <p:nvSpPr>
          <p:cNvPr id="12" name="Text 8"/>
          <p:cNvSpPr txBox="1"/>
          <p:nvPr/>
        </p:nvSpPr>
        <p:spPr>
          <a:xfrm>
            <a:off x="960120" y="1874520"/>
            <a:ext cx="2743200" cy="256032"/>
          </a:xfrm>
          <a:prstGeom prst="rect">
            <a:avLst/>
          </a:prstGeom>
          <a:noFill/>
          <a:ln/>
        </p:spPr>
        <p:txBody>
          <a:bodyPr wrap="square" lIns="0" tIns="0" rIns="0" bIns="0" rtlCol="0" anchor="t"/>
          <a:lstStyle/>
          <a:p>
            <a:pPr indent="0" marL="0">
              <a:buNone/>
            </a:pPr>
            <a:r>
              <a:rPr lang="en-US" sz="1050" spc="100" kern="0" dirty="0">
                <a:solidFill>
                  <a:srgbClr val="666666"/>
                </a:solidFill>
                <a:latin typeface="Poppins SemiBold" pitchFamily="34" charset="0"/>
                <a:ea typeface="Poppins SemiBold" pitchFamily="34" charset="-122"/>
                <a:cs typeface="Poppins SemiBold" pitchFamily="34" charset="-120"/>
              </a:rPr>
              <a:t>DETERMINISTIC</a:t>
            </a:r>
            <a:endParaRPr lang="en-US" sz="1050" dirty="0"/>
          </a:p>
        </p:txBody>
      </p:sp>
      <p:sp>
        <p:nvSpPr>
          <p:cNvPr id="13" name="Text 9"/>
          <p:cNvSpPr txBox="1"/>
          <p:nvPr/>
        </p:nvSpPr>
        <p:spPr>
          <a:xfrm>
            <a:off x="3200400" y="1874520"/>
            <a:ext cx="2468880" cy="256032"/>
          </a:xfrm>
          <a:prstGeom prst="rect">
            <a:avLst/>
          </a:prstGeom>
          <a:noFill/>
          <a:ln/>
        </p:spPr>
        <p:txBody>
          <a:bodyPr wrap="square" lIns="0" tIns="0" rIns="0" bIns="0" rtlCol="0" anchor="t"/>
          <a:lstStyle/>
          <a:p>
            <a:pPr algn="r" indent="0" marL="0">
              <a:buNone/>
            </a:pPr>
            <a:r>
              <a:rPr lang="en-US" sz="1050" dirty="0">
                <a:solidFill>
                  <a:srgbClr val="999999"/>
                </a:solidFill>
                <a:latin typeface="Poppins SemiBold" pitchFamily="34" charset="0"/>
                <a:ea typeface="Poppins SemiBold" pitchFamily="34" charset="-122"/>
                <a:cs typeface="Poppins SemiBold" pitchFamily="34" charset="-120"/>
              </a:rPr>
              <a:t>Scripts, hooks, Playwright, git</a:t>
            </a:r>
            <a:endParaRPr lang="en-US" sz="1050" dirty="0"/>
          </a:p>
        </p:txBody>
      </p:sp>
      <p:sp>
        <p:nvSpPr>
          <p:cNvPr id="14" name="Text 10"/>
          <p:cNvSpPr txBox="1"/>
          <p:nvPr/>
        </p:nvSpPr>
        <p:spPr>
          <a:xfrm>
            <a:off x="960120" y="2176272"/>
            <a:ext cx="4709160" cy="411480"/>
          </a:xfrm>
          <a:prstGeom prst="rect">
            <a:avLst/>
          </a:prstGeom>
          <a:noFill/>
          <a:ln/>
        </p:spPr>
        <p:txBody>
          <a:bodyPr wrap="square" lIns="0" tIns="0" rIns="0" bIns="0" rtlCol="0" anchor="t"/>
          <a:lstStyle/>
          <a:p>
            <a:pPr indent="0" marL="0">
              <a:buNone/>
            </a:pPr>
            <a:r>
              <a:rPr lang="en-US" sz="1700" dirty="0">
                <a:solidFill>
                  <a:srgbClr val="1A1A1A"/>
                </a:solidFill>
                <a:latin typeface="Poppins SemiBold" pitchFamily="34" charset="0"/>
                <a:ea typeface="Poppins SemiBold" pitchFamily="34" charset="-122"/>
                <a:cs typeface="Poppins SemiBold" pitchFamily="34" charset="-120"/>
              </a:rPr>
              <a:t>Same input → same output</a:t>
            </a:r>
            <a:endParaRPr lang="en-US" sz="1700" dirty="0"/>
          </a:p>
        </p:txBody>
      </p:sp>
      <p:sp>
        <p:nvSpPr>
          <p:cNvPr id="15" name="Text 11"/>
          <p:cNvSpPr txBox="1"/>
          <p:nvPr/>
        </p:nvSpPr>
        <p:spPr>
          <a:xfrm>
            <a:off x="960120" y="2697480"/>
            <a:ext cx="4709160" cy="2377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Create the git worktree and QA branch</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Merge two agents' proposals into one test plan</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Run Playwright and collect the evidence</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Diff the test changes: fewer asserts? .skip?</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Commit, push, open the QA PR</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Every guard decision (the hook)</a:t>
            </a:r>
            <a:endParaRPr lang="en-US" sz="1250" dirty="0"/>
          </a:p>
        </p:txBody>
      </p:sp>
      <p:sp>
        <p:nvSpPr>
          <p:cNvPr id="16" name="Shape 12"/>
          <p:cNvSpPr/>
          <p:nvPr/>
        </p:nvSpPr>
        <p:spPr>
          <a:xfrm>
            <a:off x="6245352" y="1691640"/>
            <a:ext cx="5257800" cy="3520440"/>
          </a:xfrm>
          <a:prstGeom prst="roundRect">
            <a:avLst>
              <a:gd name="adj" fmla="val 1558"/>
            </a:avLst>
          </a:prstGeom>
          <a:solidFill>
            <a:srgbClr val="F1ECF8"/>
          </a:solidFill>
          <a:ln/>
        </p:spPr>
        <p:txBody>
          <a:bodyPr/>
          <a:p/>
        </p:txBody>
      </p:sp>
      <p:sp>
        <p:nvSpPr>
          <p:cNvPr id="17" name="Text 13"/>
          <p:cNvSpPr txBox="1"/>
          <p:nvPr/>
        </p:nvSpPr>
        <p:spPr>
          <a:xfrm>
            <a:off x="6519672" y="1874520"/>
            <a:ext cx="2743200" cy="256032"/>
          </a:xfrm>
          <a:prstGeom prst="rect">
            <a:avLst/>
          </a:prstGeom>
          <a:noFill/>
          <a:ln/>
        </p:spPr>
        <p:txBody>
          <a:bodyPr wrap="square" lIns="0" tIns="0" rIns="0" bIns="0" rtlCol="0" anchor="t"/>
          <a:lstStyle/>
          <a:p>
            <a:pPr indent="0" marL="0">
              <a:buNone/>
            </a:pPr>
            <a:r>
              <a:rPr lang="en-US" sz="1050" spc="100" kern="0" dirty="0">
                <a:solidFill>
                  <a:srgbClr val="7B5EA7"/>
                </a:solidFill>
                <a:latin typeface="Poppins SemiBold" pitchFamily="34" charset="0"/>
                <a:ea typeface="Poppins SemiBold" pitchFamily="34" charset="-122"/>
                <a:cs typeface="Poppins SemiBold" pitchFamily="34" charset="-120"/>
              </a:rPr>
              <a:t>AI JUDGMENT</a:t>
            </a:r>
            <a:endParaRPr lang="en-US" sz="1050" dirty="0"/>
          </a:p>
        </p:txBody>
      </p:sp>
      <p:sp>
        <p:nvSpPr>
          <p:cNvPr id="18" name="Text 14"/>
          <p:cNvSpPr txBox="1"/>
          <p:nvPr/>
        </p:nvSpPr>
        <p:spPr>
          <a:xfrm>
            <a:off x="8759952" y="1874520"/>
            <a:ext cx="2468880" cy="256032"/>
          </a:xfrm>
          <a:prstGeom prst="rect">
            <a:avLst/>
          </a:prstGeom>
          <a:noFill/>
          <a:ln/>
        </p:spPr>
        <p:txBody>
          <a:bodyPr wrap="square" lIns="0" tIns="0" rIns="0" bIns="0" rtlCol="0" anchor="t"/>
          <a:lstStyle/>
          <a:p>
            <a:pPr algn="r" indent="0" marL="0">
              <a:buNone/>
            </a:pPr>
            <a:r>
              <a:rPr lang="en-US" sz="1050" dirty="0">
                <a:solidFill>
                  <a:srgbClr val="999999"/>
                </a:solidFill>
                <a:latin typeface="Poppins SemiBold" pitchFamily="34" charset="0"/>
                <a:ea typeface="Poppins SemiBold" pitchFamily="34" charset="-122"/>
                <a:cs typeface="Poppins SemiBold" pitchFamily="34" charset="-120"/>
              </a:rPr>
              <a:t>Seven subagents</a:t>
            </a:r>
            <a:endParaRPr lang="en-US" sz="1050" dirty="0"/>
          </a:p>
        </p:txBody>
      </p:sp>
      <p:sp>
        <p:nvSpPr>
          <p:cNvPr id="19" name="Text 15"/>
          <p:cNvSpPr txBox="1"/>
          <p:nvPr/>
        </p:nvSpPr>
        <p:spPr>
          <a:xfrm>
            <a:off x="6519672" y="2176272"/>
            <a:ext cx="4709160" cy="411480"/>
          </a:xfrm>
          <a:prstGeom prst="rect">
            <a:avLst/>
          </a:prstGeom>
          <a:noFill/>
          <a:ln/>
        </p:spPr>
        <p:txBody>
          <a:bodyPr wrap="square" lIns="0" tIns="0" rIns="0" bIns="0" rtlCol="0" anchor="t"/>
          <a:lstStyle/>
          <a:p>
            <a:pPr indent="0" marL="0">
              <a:buNone/>
            </a:pPr>
            <a:r>
              <a:rPr lang="en-US" sz="1700" dirty="0">
                <a:solidFill>
                  <a:srgbClr val="7B5EA7"/>
                </a:solidFill>
                <a:latin typeface="Poppins SemiBold" pitchFamily="34" charset="0"/>
                <a:ea typeface="Poppins SemiBold" pitchFamily="34" charset="-122"/>
                <a:cs typeface="Poppins SemiBold" pitchFamily="34" charset="-120"/>
              </a:rPr>
              <a:t>Reads, reasons, may vary run to run</a:t>
            </a:r>
            <a:endParaRPr lang="en-US" sz="1700" dirty="0"/>
          </a:p>
        </p:txBody>
      </p:sp>
      <p:sp>
        <p:nvSpPr>
          <p:cNvPr id="20" name="Text 16"/>
          <p:cNvSpPr txBox="1"/>
          <p:nvPr/>
        </p:nvSpPr>
        <p:spPr>
          <a:xfrm>
            <a:off x="6519672" y="2697480"/>
            <a:ext cx="4709160" cy="2377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Understand the ticket: ACs, ambiguities</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Which existing tests change, what's missing</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Review the plan like a skeptical senior</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Write and update the specs</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Classify each failure: defect, flaky, env…</a:t>
            </a:r>
            <a:endParaRPr lang="en-US" sz="1250" dirty="0"/>
          </a:p>
          <a:p>
            <a:pPr marL="342900" indent="-342900">
              <a:spcAft>
                <a:spcPts val="500"/>
              </a:spcAft>
              <a:buSzPct val="100000"/>
              <a:buChar char="•"/>
            </a:pPr>
            <a:r>
              <a:rPr lang="en-US" sz="1250" dirty="0">
                <a:solidFill>
                  <a:srgbClr val="666666"/>
                </a:solidFill>
                <a:latin typeface="Poppins" pitchFamily="34" charset="0"/>
                <a:ea typeface="Poppins" pitchFamily="34" charset="-122"/>
                <a:cs typeface="Poppins" pitchFamily="34" charset="-120"/>
              </a:rPr>
              <a:t>Write the report and recommend a verdict</a:t>
            </a:r>
            <a:endParaRPr lang="en-US" sz="1250" dirty="0"/>
          </a:p>
        </p:txBody>
      </p:sp>
      <p:sp>
        <p:nvSpPr>
          <p:cNvPr id="21" name="Shape 17"/>
          <p:cNvSpPr/>
          <p:nvPr/>
        </p:nvSpPr>
        <p:spPr>
          <a:xfrm>
            <a:off x="685800" y="5394960"/>
            <a:ext cx="10817352" cy="548640"/>
          </a:xfrm>
          <a:prstGeom prst="roundRect">
            <a:avLst>
              <a:gd name="adj" fmla="val 10000"/>
            </a:avLst>
          </a:prstGeom>
          <a:solidFill>
            <a:srgbClr val="EEF0FF"/>
          </a:solidFill>
          <a:ln/>
        </p:spPr>
        <p:txBody>
          <a:bodyPr/>
          <a:p/>
        </p:txBody>
      </p:sp>
      <p:sp>
        <p:nvSpPr>
          <p:cNvPr id="22" name="Text 18"/>
          <p:cNvSpPr txBox="1"/>
          <p:nvPr/>
        </p:nvSpPr>
        <p:spPr>
          <a:xfrm>
            <a:off x="685800" y="5394960"/>
            <a:ext cx="10817352" cy="548640"/>
          </a:xfrm>
          <a:prstGeom prst="rect">
            <a:avLst/>
          </a:prstGeom>
          <a:noFill/>
          <a:ln/>
        </p:spPr>
        <p:txBody>
          <a:bodyPr wrap="square" lIns="0" tIns="0" rIns="0" bIns="0" rtlCol="0" anchor="ctr"/>
          <a:lstStyle/>
          <a:p>
            <a:pPr algn="ctr" indent="0" marL="0">
              <a:buNone/>
            </a:pPr>
            <a:r>
              <a:rPr lang="en-US" sz="1600" dirty="0">
                <a:solidFill>
                  <a:srgbClr val="7B5EA7"/>
                </a:solidFill>
                <a:latin typeface="Poppins SemiBold" pitchFamily="34" charset="0"/>
                <a:ea typeface="Poppins SemiBold" pitchFamily="34" charset="-122"/>
                <a:cs typeface="Poppins SemiBold" pitchFamily="34" charset="-120"/>
              </a:rPr>
              <a:t>AI recommends</a:t>
            </a:r>
            <a:pPr algn="ctr" indent="0" marL="0">
              <a:buNone/>
            </a:pPr>
            <a:r>
              <a:rPr lang="en-US" sz="1600" dirty="0">
                <a:solidFill>
                  <a:srgbClr val="999999"/>
                </a:solidFill>
                <a:latin typeface="Poppins SemiBold" pitchFamily="34" charset="0"/>
                <a:ea typeface="Poppins SemiBold" pitchFamily="34" charset="-122"/>
                <a:cs typeface="Poppins SemiBold" pitchFamily="34" charset="-120"/>
              </a:rPr>
              <a:t>   ·   </a:t>
            </a:r>
            <a:pPr algn="ctr" indent="0" marL="0">
              <a:buNone/>
            </a:pPr>
            <a:r>
              <a:rPr lang="en-US" sz="1600" dirty="0">
                <a:solidFill>
                  <a:srgbClr val="1A1A1A"/>
                </a:solidFill>
                <a:latin typeface="Poppins SemiBold" pitchFamily="34" charset="0"/>
                <a:ea typeface="Poppins SemiBold" pitchFamily="34" charset="-122"/>
                <a:cs typeface="Poppins SemiBold" pitchFamily="34" charset="-120"/>
              </a:rPr>
              <a:t>Playwright executes</a:t>
            </a:r>
            <a:pPr algn="ctr" indent="0" marL="0">
              <a:buNone/>
            </a:pPr>
            <a:r>
              <a:rPr lang="en-US" sz="1600" dirty="0">
                <a:solidFill>
                  <a:srgbClr val="999999"/>
                </a:solidFill>
                <a:latin typeface="Poppins SemiBold" pitchFamily="34" charset="0"/>
                <a:ea typeface="Poppins SemiBold" pitchFamily="34" charset="-122"/>
                <a:cs typeface="Poppins SemiBold" pitchFamily="34" charset="-120"/>
              </a:rPr>
              <a:t>   ·   </a:t>
            </a:r>
            <a:pPr algn="ctr" indent="0" marL="0">
              <a:buNone/>
            </a:pPr>
            <a:r>
              <a:rPr lang="en-US" sz="1600" dirty="0">
                <a:solidFill>
                  <a:srgbClr val="2D8C55"/>
                </a:solidFill>
                <a:latin typeface="Poppins SemiBold" pitchFamily="34" charset="0"/>
                <a:ea typeface="Poppins SemiBold" pitchFamily="34" charset="-122"/>
                <a:cs typeface="Poppins SemiBold" pitchFamily="34" charset="-120"/>
              </a:rPr>
              <a:t>Humans approve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Workflow Patterns</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Six patterns from multi-agent design, and what each one is in Claude Code</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10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3502152" cy="1920240"/>
          </a:xfrm>
          <a:prstGeom prst="roundRect">
            <a:avLst>
              <a:gd name="adj" fmla="val 2857"/>
            </a:avLst>
          </a:prstGeom>
          <a:solidFill>
            <a:srgbClr val="F7F9FC"/>
          </a:solidFill>
          <a:ln/>
        </p:spPr>
        <p:txBody>
          <a:bodyPr/>
          <a:p/>
        </p:txBody>
      </p:sp>
      <p:sp>
        <p:nvSpPr>
          <p:cNvPr id="12" name="Shape 8"/>
          <p:cNvSpPr/>
          <p:nvPr/>
        </p:nvSpPr>
        <p:spPr>
          <a:xfrm>
            <a:off x="914400" y="1920240"/>
            <a:ext cx="329184" cy="329184"/>
          </a:xfrm>
          <a:prstGeom prst="ellipse">
            <a:avLst/>
          </a:prstGeom>
          <a:solidFill>
            <a:srgbClr val="405AE7"/>
          </a:solidFill>
          <a:ln/>
        </p:spPr>
        <p:txBody>
          <a:bodyPr/>
          <a:p/>
        </p:txBody>
      </p:sp>
      <p:sp>
        <p:nvSpPr>
          <p:cNvPr id="13" name="Text 9"/>
          <p:cNvSpPr txBox="1"/>
          <p:nvPr/>
        </p:nvSpPr>
        <p:spPr>
          <a:xfrm>
            <a:off x="914400" y="1920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4" name="Text 10"/>
          <p:cNvSpPr txBox="1"/>
          <p:nvPr/>
        </p:nvSpPr>
        <p:spPr>
          <a:xfrm>
            <a:off x="1399032" y="19202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Orchestrator</a:t>
            </a:r>
            <a:endParaRPr lang="en-US" sz="1400" dirty="0"/>
          </a:p>
        </p:txBody>
      </p:sp>
      <p:sp>
        <p:nvSpPr>
          <p:cNvPr id="15" name="Text 11"/>
          <p:cNvSpPr txBox="1"/>
          <p:nvPr/>
        </p:nvSpPr>
        <p:spPr>
          <a:xfrm>
            <a:off x="960120" y="2404872"/>
            <a:ext cx="2953512"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The main session follows a skill playbook and delegates each job. It's the only one that talks to Jira and to you.</a:t>
            </a:r>
            <a:endParaRPr lang="en-US" sz="1200" dirty="0"/>
          </a:p>
        </p:txBody>
      </p:sp>
      <p:sp>
        <p:nvSpPr>
          <p:cNvPr id="16" name="Shape 12"/>
          <p:cNvSpPr/>
          <p:nvPr/>
        </p:nvSpPr>
        <p:spPr>
          <a:xfrm>
            <a:off x="4343400" y="1691640"/>
            <a:ext cx="3502152" cy="1920240"/>
          </a:xfrm>
          <a:prstGeom prst="roundRect">
            <a:avLst>
              <a:gd name="adj" fmla="val 2857"/>
            </a:avLst>
          </a:prstGeom>
          <a:solidFill>
            <a:srgbClr val="F7F9FC"/>
          </a:solidFill>
          <a:ln/>
        </p:spPr>
        <p:txBody>
          <a:bodyPr/>
          <a:p/>
        </p:txBody>
      </p:sp>
      <p:sp>
        <p:nvSpPr>
          <p:cNvPr id="17" name="Shape 13"/>
          <p:cNvSpPr/>
          <p:nvPr/>
        </p:nvSpPr>
        <p:spPr>
          <a:xfrm>
            <a:off x="4572000" y="1920240"/>
            <a:ext cx="329184" cy="329184"/>
          </a:xfrm>
          <a:prstGeom prst="ellipse">
            <a:avLst/>
          </a:prstGeom>
          <a:solidFill>
            <a:srgbClr val="405AE7"/>
          </a:solidFill>
          <a:ln/>
        </p:spPr>
        <p:txBody>
          <a:bodyPr/>
          <a:p/>
        </p:txBody>
      </p:sp>
      <p:sp>
        <p:nvSpPr>
          <p:cNvPr id="18" name="Text 14"/>
          <p:cNvSpPr txBox="1"/>
          <p:nvPr/>
        </p:nvSpPr>
        <p:spPr>
          <a:xfrm>
            <a:off x="4572000" y="1920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9" name="Text 15"/>
          <p:cNvSpPr txBox="1"/>
          <p:nvPr/>
        </p:nvSpPr>
        <p:spPr>
          <a:xfrm>
            <a:off x="5056632" y="19202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Fan-out / fan-in</a:t>
            </a:r>
            <a:endParaRPr lang="en-US" sz="1400" dirty="0"/>
          </a:p>
        </p:txBody>
      </p:sp>
      <p:sp>
        <p:nvSpPr>
          <p:cNvPr id="20" name="Text 16"/>
          <p:cNvSpPr txBox="1"/>
          <p:nvPr/>
        </p:nvSpPr>
        <p:spPr>
          <a:xfrm>
            <a:off x="4617720" y="2404872"/>
            <a:ext cx="2953512"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Two agents dispatched in one message run in parallel; a script merges their outputs into one plan.</a:t>
            </a:r>
            <a:endParaRPr lang="en-US" sz="1200" dirty="0"/>
          </a:p>
        </p:txBody>
      </p:sp>
      <p:sp>
        <p:nvSpPr>
          <p:cNvPr id="21" name="Shape 17"/>
          <p:cNvSpPr/>
          <p:nvPr/>
        </p:nvSpPr>
        <p:spPr>
          <a:xfrm>
            <a:off x="8001000" y="1691640"/>
            <a:ext cx="3502152" cy="1920240"/>
          </a:xfrm>
          <a:prstGeom prst="roundRect">
            <a:avLst>
              <a:gd name="adj" fmla="val 2857"/>
            </a:avLst>
          </a:prstGeom>
          <a:solidFill>
            <a:srgbClr val="F7F9FC"/>
          </a:solidFill>
          <a:ln/>
        </p:spPr>
        <p:txBody>
          <a:bodyPr/>
          <a:p/>
        </p:txBody>
      </p:sp>
      <p:sp>
        <p:nvSpPr>
          <p:cNvPr id="22" name="Shape 18"/>
          <p:cNvSpPr/>
          <p:nvPr/>
        </p:nvSpPr>
        <p:spPr>
          <a:xfrm>
            <a:off x="8229600" y="1920240"/>
            <a:ext cx="329184" cy="329184"/>
          </a:xfrm>
          <a:prstGeom prst="ellipse">
            <a:avLst/>
          </a:prstGeom>
          <a:solidFill>
            <a:srgbClr val="405AE7"/>
          </a:solidFill>
          <a:ln/>
        </p:spPr>
        <p:txBody>
          <a:bodyPr/>
          <a:p/>
        </p:txBody>
      </p:sp>
      <p:sp>
        <p:nvSpPr>
          <p:cNvPr id="23" name="Text 19"/>
          <p:cNvSpPr txBox="1"/>
          <p:nvPr/>
        </p:nvSpPr>
        <p:spPr>
          <a:xfrm>
            <a:off x="8229600" y="1920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4" name="Text 20"/>
          <p:cNvSpPr txBox="1"/>
          <p:nvPr/>
        </p:nvSpPr>
        <p:spPr>
          <a:xfrm>
            <a:off x="8714232" y="19202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Router</a:t>
            </a:r>
            <a:endParaRPr lang="en-US" sz="1400" dirty="0"/>
          </a:p>
        </p:txBody>
      </p:sp>
      <p:sp>
        <p:nvSpPr>
          <p:cNvPr id="25" name="Text 21"/>
          <p:cNvSpPr txBox="1"/>
          <p:nvPr/>
        </p:nvSpPr>
        <p:spPr>
          <a:xfrm>
            <a:off x="8275320" y="2404872"/>
            <a:ext cx="2953512"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A plain rule picks which test suites run: change type, suggested suites, critical areas.</a:t>
            </a:r>
            <a:endParaRPr lang="en-US" sz="1200" dirty="0"/>
          </a:p>
        </p:txBody>
      </p:sp>
      <p:sp>
        <p:nvSpPr>
          <p:cNvPr id="26" name="Shape 22"/>
          <p:cNvSpPr/>
          <p:nvPr/>
        </p:nvSpPr>
        <p:spPr>
          <a:xfrm>
            <a:off x="685800" y="3794760"/>
            <a:ext cx="3502152" cy="1920240"/>
          </a:xfrm>
          <a:prstGeom prst="roundRect">
            <a:avLst>
              <a:gd name="adj" fmla="val 2857"/>
            </a:avLst>
          </a:prstGeom>
          <a:solidFill>
            <a:srgbClr val="F7F9FC"/>
          </a:solidFill>
          <a:ln/>
        </p:spPr>
        <p:txBody>
          <a:bodyPr/>
          <a:p/>
        </p:txBody>
      </p:sp>
      <p:sp>
        <p:nvSpPr>
          <p:cNvPr id="27" name="Shape 23"/>
          <p:cNvSpPr/>
          <p:nvPr/>
        </p:nvSpPr>
        <p:spPr>
          <a:xfrm>
            <a:off x="914400" y="4023360"/>
            <a:ext cx="329184" cy="329184"/>
          </a:xfrm>
          <a:prstGeom prst="ellipse">
            <a:avLst/>
          </a:prstGeom>
          <a:solidFill>
            <a:srgbClr val="405AE7"/>
          </a:solidFill>
          <a:ln/>
        </p:spPr>
        <p:txBody>
          <a:bodyPr/>
          <a:p/>
        </p:txBody>
      </p:sp>
      <p:sp>
        <p:nvSpPr>
          <p:cNvPr id="28" name="Text 24"/>
          <p:cNvSpPr txBox="1"/>
          <p:nvPr/>
        </p:nvSpPr>
        <p:spPr>
          <a:xfrm>
            <a:off x="914400" y="402336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4</a:t>
            </a:r>
            <a:endParaRPr lang="en-US" sz="1200" dirty="0"/>
          </a:p>
        </p:txBody>
      </p:sp>
      <p:sp>
        <p:nvSpPr>
          <p:cNvPr id="29" name="Text 25"/>
          <p:cNvSpPr txBox="1"/>
          <p:nvPr/>
        </p:nvSpPr>
        <p:spPr>
          <a:xfrm>
            <a:off x="1399032" y="402336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Bounded critic</a:t>
            </a:r>
            <a:endParaRPr lang="en-US" sz="1400" dirty="0"/>
          </a:p>
        </p:txBody>
      </p:sp>
      <p:sp>
        <p:nvSpPr>
          <p:cNvPr id="30" name="Text 26"/>
          <p:cNvSpPr txBox="1"/>
          <p:nvPr/>
        </p:nvSpPr>
        <p:spPr>
          <a:xfrm>
            <a:off x="960120" y="4507992"/>
            <a:ext cx="2953512"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A reviewer agent sends the plan back for revision. A hook counts the rounds: at most 2 revisions.</a:t>
            </a:r>
            <a:endParaRPr lang="en-US" sz="1200" dirty="0"/>
          </a:p>
        </p:txBody>
      </p:sp>
      <p:sp>
        <p:nvSpPr>
          <p:cNvPr id="31" name="Shape 27"/>
          <p:cNvSpPr/>
          <p:nvPr/>
        </p:nvSpPr>
        <p:spPr>
          <a:xfrm>
            <a:off x="4343400" y="3794760"/>
            <a:ext cx="3502152" cy="1920240"/>
          </a:xfrm>
          <a:prstGeom prst="roundRect">
            <a:avLst>
              <a:gd name="adj" fmla="val 2857"/>
            </a:avLst>
          </a:prstGeom>
          <a:solidFill>
            <a:srgbClr val="F7F9FC"/>
          </a:solidFill>
          <a:ln/>
        </p:spPr>
        <p:txBody>
          <a:bodyPr/>
          <a:p/>
        </p:txBody>
      </p:sp>
      <p:sp>
        <p:nvSpPr>
          <p:cNvPr id="32" name="Shape 28"/>
          <p:cNvSpPr/>
          <p:nvPr/>
        </p:nvSpPr>
        <p:spPr>
          <a:xfrm>
            <a:off x="4572000" y="4023360"/>
            <a:ext cx="329184" cy="329184"/>
          </a:xfrm>
          <a:prstGeom prst="ellipse">
            <a:avLst/>
          </a:prstGeom>
          <a:solidFill>
            <a:srgbClr val="405AE7"/>
          </a:solidFill>
          <a:ln/>
        </p:spPr>
        <p:txBody>
          <a:bodyPr/>
          <a:p/>
        </p:txBody>
      </p:sp>
      <p:sp>
        <p:nvSpPr>
          <p:cNvPr id="33" name="Text 29"/>
          <p:cNvSpPr txBox="1"/>
          <p:nvPr/>
        </p:nvSpPr>
        <p:spPr>
          <a:xfrm>
            <a:off x="4572000" y="402336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a:t>
            </a:r>
            <a:endParaRPr lang="en-US" sz="1200" dirty="0"/>
          </a:p>
        </p:txBody>
      </p:sp>
      <p:sp>
        <p:nvSpPr>
          <p:cNvPr id="34" name="Text 30"/>
          <p:cNvSpPr txBox="1"/>
          <p:nvPr/>
        </p:nvSpPr>
        <p:spPr>
          <a:xfrm>
            <a:off x="5056632" y="402336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Circuit breaker</a:t>
            </a:r>
            <a:endParaRPr lang="en-US" sz="1400" dirty="0"/>
          </a:p>
        </p:txBody>
      </p:sp>
      <p:sp>
        <p:nvSpPr>
          <p:cNvPr id="35" name="Text 31"/>
          <p:cNvSpPr txBox="1"/>
          <p:nvPr/>
        </p:nvSpPr>
        <p:spPr>
          <a:xfrm>
            <a:off x="4617720" y="4507992"/>
            <a:ext cx="2953512"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Stop early when something's wrong: no merged dev work, app unhealthy, wrong build running.</a:t>
            </a:r>
            <a:endParaRPr lang="en-US" sz="1200" dirty="0"/>
          </a:p>
        </p:txBody>
      </p:sp>
      <p:sp>
        <p:nvSpPr>
          <p:cNvPr id="36" name="Shape 32"/>
          <p:cNvSpPr/>
          <p:nvPr/>
        </p:nvSpPr>
        <p:spPr>
          <a:xfrm>
            <a:off x="8001000" y="3794760"/>
            <a:ext cx="3502152" cy="1920240"/>
          </a:xfrm>
          <a:prstGeom prst="roundRect">
            <a:avLst>
              <a:gd name="adj" fmla="val 2857"/>
            </a:avLst>
          </a:prstGeom>
          <a:solidFill>
            <a:srgbClr val="F7F9FC"/>
          </a:solidFill>
          <a:ln/>
        </p:spPr>
        <p:txBody>
          <a:bodyPr/>
          <a:p/>
        </p:txBody>
      </p:sp>
      <p:sp>
        <p:nvSpPr>
          <p:cNvPr id="37" name="Shape 33"/>
          <p:cNvSpPr/>
          <p:nvPr/>
        </p:nvSpPr>
        <p:spPr>
          <a:xfrm>
            <a:off x="8229600" y="4023360"/>
            <a:ext cx="329184" cy="329184"/>
          </a:xfrm>
          <a:prstGeom prst="ellipse">
            <a:avLst/>
          </a:prstGeom>
          <a:solidFill>
            <a:srgbClr val="2D8C55"/>
          </a:solidFill>
          <a:ln/>
        </p:spPr>
        <p:txBody>
          <a:bodyPr/>
          <a:p/>
        </p:txBody>
      </p:sp>
      <p:sp>
        <p:nvSpPr>
          <p:cNvPr id="38" name="Text 34"/>
          <p:cNvSpPr txBox="1"/>
          <p:nvPr/>
        </p:nvSpPr>
        <p:spPr>
          <a:xfrm>
            <a:off x="8229600" y="402336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6</a:t>
            </a:r>
            <a:endParaRPr lang="en-US" sz="1200" dirty="0"/>
          </a:p>
        </p:txBody>
      </p:sp>
      <p:sp>
        <p:nvSpPr>
          <p:cNvPr id="39" name="Text 35"/>
          <p:cNvSpPr txBox="1"/>
          <p:nvPr/>
        </p:nvSpPr>
        <p:spPr>
          <a:xfrm>
            <a:off x="8714232" y="402336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Human in the loop</a:t>
            </a:r>
            <a:endParaRPr lang="en-US" sz="1400" dirty="0"/>
          </a:p>
        </p:txBody>
      </p:sp>
      <p:sp>
        <p:nvSpPr>
          <p:cNvPr id="40" name="Text 36"/>
          <p:cNvSpPr txBox="1"/>
          <p:nvPr/>
        </p:nvSpPr>
        <p:spPr>
          <a:xfrm>
            <a:off x="8275320" y="4507992"/>
            <a:ext cx="2953512" cy="109728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Gates where the run stops and a person decides. Only the main session can ask, so all gates live there.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The Basics, Mapped to This Plugin</a:t>
            </a:r>
            <a:endParaRPr lang="en-US" sz="30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11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508760"/>
          <a:ext cx="10817352" cy="914400"/>
        </p:xfrm>
        <a:graphic>
          <a:graphicData uri="http://schemas.openxmlformats.org/drawingml/2006/table">
            <a:tbl>
              <a:tblPr/>
              <a:tblGrid>
                <a:gridCol w="2103120"/>
                <a:gridCol w="8714232"/>
              </a:tblGrid>
              <a:tr h="475488">
                <a:tc>
                  <a:txBody>
                    <a:bodyPr/>
                    <a:lstStyle/>
                    <a:p>
                      <a:pPr indent="0" marL="0">
                        <a:buNone/>
                      </a:pPr>
                      <a:r>
                        <a:rPr lang="en-US" sz="1100" dirty="0">
                          <a:solidFill>
                            <a:srgbClr val="2C3FB0"/>
                          </a:solidFill>
                          <a:latin typeface="Poppins SemiBold" pitchFamily="34" charset="0"/>
                          <a:ea typeface="Poppins SemiBold" pitchFamily="34" charset="-122"/>
                          <a:cs typeface="Poppins SemiBold" pitchFamily="34" charset="-120"/>
                        </a:rPr>
                        <a:t>Concept</a:t>
                      </a:r>
                      <a:endParaRPr lang="en-US" sz="11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F0FF"/>
                    </a:solidFill>
                  </a:tcPr>
                </a:tc>
                <a:tc>
                  <a:txBody>
                    <a:bodyPr/>
                    <a:lstStyle/>
                    <a:p>
                      <a:pPr indent="0" marL="0">
                        <a:buNone/>
                      </a:pPr>
                      <a:r>
                        <a:rPr lang="en-US" sz="1100" dirty="0">
                          <a:solidFill>
                            <a:srgbClr val="2C3FB0"/>
                          </a:solidFill>
                          <a:latin typeface="Poppins SemiBold" pitchFamily="34" charset="0"/>
                          <a:ea typeface="Poppins SemiBold" pitchFamily="34" charset="-122"/>
                          <a:cs typeface="Poppins SemiBold" pitchFamily="34" charset="-120"/>
                        </a:rPr>
                        <a:t>In qa-orchestrator</a:t>
                      </a:r>
                      <a:endParaRPr lang="en-US" sz="11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F0FF"/>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Slash command</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/qa-orchestrator:qa-run PROJ-11, typed by a person (disable-model-invocation: Claude can't start it, because it moves tickets)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Skills</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qa-run: the orchestrator playbook · setup: writes the project's .qa/config.json (reads Jira only, so Claude may start it)</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Subagents</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7 agents, each with a fixed model (5 × sonnet, 2 × opus), its own tools and a JSON output schema</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Hooks</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guard.mjs (PreToolUse): 11 rules, H1–H11 · record.mjs (SubagentStop): telemetry and saved handbacks</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MCP server</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Atlassian (Jira): main session only. Subagents get no MCP at all (H8)</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Deterministic</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13 Node scripts (preflight, merge-plan, run-playwright, test-diff, deliver-tests…) and Playwright itself</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Memory</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.qa-runs/memory.json: lessons from past runs, shown to the human at plan approval, expire after 6 runs unseen</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Plugin</a:t>
                      </a:r>
                      <a:endParaRPr lang="en-US" sz="1200" dirty="0">
                        <a:latin typeface="Poppins SemiBold" charset="0"/>
                        <a:ea typeface="Poppins SemiBold" charset="0"/>
                        <a:cs typeface="Poppins SemiBold"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c>
                  <a:txBody>
                    <a:bodyPr/>
                    <a:lstStyle/>
                    <a:p>
                      <a:pPr indent="0" marL="0">
                        <a:buNone/>
                      </a:pPr>
                      <a:r>
                        <a:rPr lang="en-US" sz="1200" dirty="0">
                          <a:solidFill>
                            <a:srgbClr val="666666"/>
                          </a:solidFill>
                          <a:latin typeface="Poppins" pitchFamily="34" charset="0"/>
                          <a:ea typeface="Poppins" pitchFamily="34" charset="-122"/>
                          <a:cs typeface="Poppins" pitchFamily="34" charset="-120"/>
                        </a:rPr>
                        <a:t>Installed per project: it loads only in the target repo, which opts in with a committed .qa/config.json</a:t>
                      </a:r>
                      <a:endParaRPr lang="en-US" sz="1200" dirty="0">
                        <a:latin typeface="Poppins" charset="0"/>
                        <a:ea typeface="Poppins" charset="0"/>
                        <a:cs typeface="Poppins" charset="0"/>
                      </a:endParaRPr>
                    </a:p>
                  </a:txBody>
                  <a:tcPr marL="109728" marR="109728" marT="54864" marB="54864"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9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The QA Orchestrator</a:t>
            </a:r>
            <a:endParaRPr lang="en-US" sz="3000" dirty="0"/>
          </a:p>
        </p:txBody>
      </p:sp>
      <p:sp>
        <p:nvSpPr>
          <p:cNvPr id="5" name="Shape 3"/>
          <p:cNvSpPr/>
          <p:nvPr/>
        </p:nvSpPr>
        <p:spPr>
          <a:xfrm>
            <a:off x="10177272" y="694944"/>
            <a:ext cx="1325880" cy="365760"/>
          </a:xfrm>
          <a:prstGeom prst="roundRect">
            <a:avLst>
              <a:gd name="adj" fmla="val 50000"/>
            </a:avLst>
          </a:prstGeom>
          <a:solidFill>
            <a:srgbClr val="EEF0FF"/>
          </a:solidFill>
          <a:ln/>
        </p:spPr>
        <p:txBody>
          <a:bodyPr/>
          <a:p/>
        </p:txBody>
      </p:sp>
      <p:sp>
        <p:nvSpPr>
          <p:cNvPr id="6" name="Text 4"/>
          <p:cNvSpPr txBox="1"/>
          <p:nvPr/>
        </p:nvSpPr>
        <p:spPr>
          <a:xfrm>
            <a:off x="10177272" y="694944"/>
            <a:ext cx="1325880" cy="365760"/>
          </a:xfrm>
          <a:prstGeom prst="rect">
            <a:avLst/>
          </a:prstGeom>
          <a:noFill/>
          <a:ln/>
        </p:spPr>
        <p:txBody>
          <a:bodyPr wrap="square" lIns="0" tIns="0" rIns="0" bIns="0" rtlCol="0" anchor="ctr"/>
          <a:lstStyle/>
          <a:p>
            <a:pPr algn="ctr" indent="0" marL="0">
              <a:buNone/>
            </a:pPr>
            <a:r>
              <a:rPr lang="en-US" sz="1200" dirty="0">
                <a:solidFill>
                  <a:srgbClr val="405AE7"/>
                </a:solidFill>
                <a:latin typeface="Poppins SemiBold" pitchFamily="34" charset="0"/>
                <a:ea typeface="Poppins SemiBold" pitchFamily="34" charset="-122"/>
                <a:cs typeface="Poppins SemiBold" pitchFamily="34" charset="-120"/>
              </a:rPr>
              <a:t>Overview</a:t>
            </a:r>
            <a:endParaRPr lang="en-US" sz="12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12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0" name="Text 6"/>
          <p:cNvSpPr txBox="1"/>
          <p:nvPr/>
        </p:nvSpPr>
        <p:spPr>
          <a:xfrm>
            <a:off x="685800" y="1600200"/>
            <a:ext cx="2606040" cy="237744"/>
          </a:xfrm>
          <a:prstGeom prst="rect">
            <a:avLst/>
          </a:prstGeom>
          <a:noFill/>
          <a:ln/>
        </p:spPr>
        <p:txBody>
          <a:bodyPr wrap="square" lIns="0" tIns="0" rIns="0" bIns="0" rtlCol="0" anchor="t"/>
          <a:lstStyle/>
          <a:p>
            <a:pPr algn="ctr" indent="0" marL="0">
              <a:buNone/>
            </a:pPr>
            <a:r>
              <a:rPr lang="en-US" sz="1050" spc="100" kern="0" dirty="0">
                <a:solidFill>
                  <a:srgbClr val="999999"/>
                </a:solidFill>
                <a:latin typeface="Poppins SemiBold" pitchFamily="34" charset="0"/>
                <a:ea typeface="Poppins SemiBold" pitchFamily="34" charset="-122"/>
                <a:cs typeface="Poppins SemiBold" pitchFamily="34" charset="-120"/>
              </a:rPr>
              <a:t>INPUTS</a:t>
            </a:r>
            <a:endParaRPr lang="en-US" sz="1050" dirty="0"/>
          </a:p>
        </p:txBody>
      </p:sp>
      <p:sp>
        <p:nvSpPr>
          <p:cNvPr id="11" name="Text 7"/>
          <p:cNvSpPr txBox="1"/>
          <p:nvPr/>
        </p:nvSpPr>
        <p:spPr>
          <a:xfrm>
            <a:off x="3977640" y="1600200"/>
            <a:ext cx="3246120" cy="237744"/>
          </a:xfrm>
          <a:prstGeom prst="rect">
            <a:avLst/>
          </a:prstGeom>
          <a:noFill/>
          <a:ln/>
        </p:spPr>
        <p:txBody>
          <a:bodyPr wrap="square" lIns="0" tIns="0" rIns="0" bIns="0" rtlCol="0" anchor="t"/>
          <a:lstStyle/>
          <a:p>
            <a:pPr algn="ctr" indent="0" marL="0">
              <a:buNone/>
            </a:pPr>
            <a:r>
              <a:rPr lang="en-US" sz="1050" spc="100" kern="0" dirty="0">
                <a:solidFill>
                  <a:srgbClr val="999999"/>
                </a:solidFill>
                <a:latin typeface="Poppins SemiBold" pitchFamily="34" charset="0"/>
                <a:ea typeface="Poppins SemiBold" pitchFamily="34" charset="-122"/>
                <a:cs typeface="Poppins SemiBold" pitchFamily="34" charset="-120"/>
              </a:rPr>
              <a:t>PLUGIN</a:t>
            </a:r>
            <a:endParaRPr lang="en-US" sz="1050" dirty="0"/>
          </a:p>
        </p:txBody>
      </p:sp>
      <p:sp>
        <p:nvSpPr>
          <p:cNvPr id="12" name="Text 8"/>
          <p:cNvSpPr txBox="1"/>
          <p:nvPr/>
        </p:nvSpPr>
        <p:spPr>
          <a:xfrm>
            <a:off x="8549640" y="1600200"/>
            <a:ext cx="2953512" cy="237744"/>
          </a:xfrm>
          <a:prstGeom prst="rect">
            <a:avLst/>
          </a:prstGeom>
          <a:noFill/>
          <a:ln/>
        </p:spPr>
        <p:txBody>
          <a:bodyPr wrap="square" lIns="0" tIns="0" rIns="0" bIns="0" rtlCol="0" anchor="t"/>
          <a:lstStyle/>
          <a:p>
            <a:pPr algn="ctr" indent="0" marL="0">
              <a:buNone/>
            </a:pPr>
            <a:r>
              <a:rPr lang="en-US" sz="1050" spc="100" kern="0" dirty="0">
                <a:solidFill>
                  <a:srgbClr val="999999"/>
                </a:solidFill>
                <a:latin typeface="Poppins SemiBold" pitchFamily="34" charset="0"/>
                <a:ea typeface="Poppins SemiBold" pitchFamily="34" charset="-122"/>
                <a:cs typeface="Poppins SemiBold" pitchFamily="34" charset="-120"/>
              </a:rPr>
              <a:t>OUTPUT</a:t>
            </a:r>
            <a:endParaRPr lang="en-US" sz="1050" dirty="0"/>
          </a:p>
        </p:txBody>
      </p:sp>
      <p:sp>
        <p:nvSpPr>
          <p:cNvPr id="13" name="Shape 9"/>
          <p:cNvSpPr/>
          <p:nvPr/>
        </p:nvSpPr>
        <p:spPr>
          <a:xfrm>
            <a:off x="685800" y="1920240"/>
            <a:ext cx="2606040" cy="1051560"/>
          </a:xfrm>
          <a:prstGeom prst="roundRect">
            <a:avLst>
              <a:gd name="adj" fmla="val 5217"/>
            </a:avLst>
          </a:prstGeom>
          <a:solidFill>
            <a:srgbClr val="FFFFFF"/>
          </a:solidFill>
          <a:ln w="12700">
            <a:solidFill>
              <a:srgbClr val="DDDDDD"/>
            </a:solidFill>
            <a:prstDash val="solid"/>
          </a:ln>
        </p:spPr>
        <p:txBody>
          <a:bodyPr/>
          <a:p/>
        </p:txBody>
      </p:sp>
      <p:sp>
        <p:nvSpPr>
          <p:cNvPr id="14" name="Text 10"/>
          <p:cNvSpPr txBox="1"/>
          <p:nvPr/>
        </p:nvSpPr>
        <p:spPr>
          <a:xfrm>
            <a:off x="886968" y="2039112"/>
            <a:ext cx="2240280" cy="320040"/>
          </a:xfrm>
          <a:prstGeom prst="rect">
            <a:avLst/>
          </a:prstGeom>
          <a:noFill/>
          <a:ln/>
        </p:spPr>
        <p:txBody>
          <a:bodyPr wrap="square" lIns="0" tIns="0" rIns="0" bIns="0" rtlCol="0" anchor="t"/>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Jira Ticket</a:t>
            </a:r>
            <a:endParaRPr lang="en-US" sz="1300" dirty="0"/>
          </a:p>
        </p:txBody>
      </p:sp>
      <p:sp>
        <p:nvSpPr>
          <p:cNvPr id="15" name="Text 11"/>
          <p:cNvSpPr txBox="1"/>
          <p:nvPr/>
        </p:nvSpPr>
        <p:spPr>
          <a:xfrm>
            <a:off x="886968" y="2377440"/>
            <a:ext cx="2240280" cy="548640"/>
          </a:xfrm>
          <a:prstGeom prst="rect">
            <a:avLst/>
          </a:prstGeom>
          <a:noFill/>
          <a:ln/>
        </p:spPr>
        <p:txBody>
          <a:bodyPr wrap="square" lIns="0" tIns="0" rIns="0" bIns="0" rtlCol="0" anchor="t"/>
          <a:lstStyle/>
          <a:p>
            <a:pPr indent="0" marL="0">
              <a:buNone/>
            </a:pPr>
            <a:r>
              <a:rPr lang="en-US" sz="1050" dirty="0">
                <a:solidFill>
                  <a:srgbClr val="666666"/>
                </a:solidFill>
                <a:latin typeface="Poppins" pitchFamily="34" charset="0"/>
                <a:ea typeface="Poppins" pitchFamily="34" charset="-122"/>
                <a:cs typeface="Poppins" pitchFamily="34" charset="-120"/>
              </a:rPr>
              <a:t>Ready for QA: ACs, description, comments</a:t>
            </a:r>
            <a:endParaRPr lang="en-US" sz="1050" dirty="0"/>
          </a:p>
        </p:txBody>
      </p:sp>
      <p:sp>
        <p:nvSpPr>
          <p:cNvPr id="16" name="Shape 12"/>
          <p:cNvSpPr/>
          <p:nvPr/>
        </p:nvSpPr>
        <p:spPr>
          <a:xfrm>
            <a:off x="3291840" y="2441448"/>
            <a:ext cx="347472" cy="0"/>
          </a:xfrm>
          <a:prstGeom prst="line">
            <a:avLst/>
          </a:prstGeom>
          <a:noFill/>
          <a:ln w="15875">
            <a:solidFill>
              <a:srgbClr val="999999"/>
            </a:solidFill>
            <a:prstDash val="solid"/>
          </a:ln>
        </p:spPr>
        <p:txBody>
          <a:bodyPr/>
          <a:p/>
        </p:txBody>
      </p:sp>
      <p:sp>
        <p:nvSpPr>
          <p:cNvPr id="17" name="Shape 13"/>
          <p:cNvSpPr/>
          <p:nvPr/>
        </p:nvSpPr>
        <p:spPr>
          <a:xfrm>
            <a:off x="685800" y="3136392"/>
            <a:ext cx="2606040" cy="1051560"/>
          </a:xfrm>
          <a:prstGeom prst="roundRect">
            <a:avLst>
              <a:gd name="adj" fmla="val 5217"/>
            </a:avLst>
          </a:prstGeom>
          <a:solidFill>
            <a:srgbClr val="FFFFFF"/>
          </a:solidFill>
          <a:ln w="12700">
            <a:solidFill>
              <a:srgbClr val="DDDDDD"/>
            </a:solidFill>
            <a:prstDash val="solid"/>
          </a:ln>
        </p:spPr>
        <p:txBody>
          <a:bodyPr/>
          <a:p/>
        </p:txBody>
      </p:sp>
      <p:sp>
        <p:nvSpPr>
          <p:cNvPr id="18" name="Text 14"/>
          <p:cNvSpPr txBox="1"/>
          <p:nvPr/>
        </p:nvSpPr>
        <p:spPr>
          <a:xfrm>
            <a:off x="886968" y="3255264"/>
            <a:ext cx="2240280" cy="320040"/>
          </a:xfrm>
          <a:prstGeom prst="rect">
            <a:avLst/>
          </a:prstGeom>
          <a:noFill/>
          <a:ln/>
        </p:spPr>
        <p:txBody>
          <a:bodyPr wrap="square" lIns="0" tIns="0" rIns="0" bIns="0" rtlCol="0" anchor="t"/>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Merged Dev PR</a:t>
            </a:r>
            <a:endParaRPr lang="en-US" sz="1300" dirty="0"/>
          </a:p>
        </p:txBody>
      </p:sp>
      <p:sp>
        <p:nvSpPr>
          <p:cNvPr id="19" name="Text 15"/>
          <p:cNvSpPr txBox="1"/>
          <p:nvPr/>
        </p:nvSpPr>
        <p:spPr>
          <a:xfrm>
            <a:off x="886968" y="3593592"/>
            <a:ext cx="2240280" cy="548640"/>
          </a:xfrm>
          <a:prstGeom prst="rect">
            <a:avLst/>
          </a:prstGeom>
          <a:noFill/>
          <a:ln/>
        </p:spPr>
        <p:txBody>
          <a:bodyPr wrap="square" lIns="0" tIns="0" rIns="0" bIns="0" rtlCol="0" anchor="t"/>
          <a:lstStyle/>
          <a:p>
            <a:pPr indent="0" marL="0">
              <a:buNone/>
            </a:pPr>
            <a:r>
              <a:rPr lang="en-US" sz="1050" dirty="0">
                <a:solidFill>
                  <a:srgbClr val="666666"/>
                </a:solidFill>
                <a:latin typeface="Poppins" pitchFamily="34" charset="0"/>
                <a:ea typeface="Poppins" pitchFamily="34" charset="-122"/>
                <a:cs typeface="Poppins" pitchFamily="34" charset="-120"/>
              </a:rPr>
              <a:t>The merged change and its diff</a:t>
            </a:r>
            <a:endParaRPr lang="en-US" sz="1050" dirty="0"/>
          </a:p>
        </p:txBody>
      </p:sp>
      <p:sp>
        <p:nvSpPr>
          <p:cNvPr id="20" name="Shape 16"/>
          <p:cNvSpPr/>
          <p:nvPr/>
        </p:nvSpPr>
        <p:spPr>
          <a:xfrm>
            <a:off x="3291840" y="3657600"/>
            <a:ext cx="347472" cy="0"/>
          </a:xfrm>
          <a:prstGeom prst="line">
            <a:avLst/>
          </a:prstGeom>
          <a:noFill/>
          <a:ln w="15875">
            <a:solidFill>
              <a:srgbClr val="999999"/>
            </a:solidFill>
            <a:prstDash val="solid"/>
          </a:ln>
        </p:spPr>
        <p:txBody>
          <a:bodyPr/>
          <a:p/>
        </p:txBody>
      </p:sp>
      <p:sp>
        <p:nvSpPr>
          <p:cNvPr id="21" name="Shape 17"/>
          <p:cNvSpPr/>
          <p:nvPr/>
        </p:nvSpPr>
        <p:spPr>
          <a:xfrm>
            <a:off x="685800" y="4352544"/>
            <a:ext cx="2606040" cy="1051560"/>
          </a:xfrm>
          <a:prstGeom prst="roundRect">
            <a:avLst>
              <a:gd name="adj" fmla="val 5217"/>
            </a:avLst>
          </a:prstGeom>
          <a:solidFill>
            <a:srgbClr val="FFFFFF"/>
          </a:solidFill>
          <a:ln w="12700">
            <a:solidFill>
              <a:srgbClr val="DDDDDD"/>
            </a:solidFill>
            <a:prstDash val="solid"/>
          </a:ln>
        </p:spPr>
        <p:txBody>
          <a:bodyPr/>
          <a:p/>
        </p:txBody>
      </p:sp>
      <p:sp>
        <p:nvSpPr>
          <p:cNvPr id="22" name="Text 18"/>
          <p:cNvSpPr txBox="1"/>
          <p:nvPr/>
        </p:nvSpPr>
        <p:spPr>
          <a:xfrm>
            <a:off x="886968" y="4471416"/>
            <a:ext cx="2240280" cy="320040"/>
          </a:xfrm>
          <a:prstGeom prst="rect">
            <a:avLst/>
          </a:prstGeom>
          <a:noFill/>
          <a:ln/>
        </p:spPr>
        <p:txBody>
          <a:bodyPr wrap="square" lIns="0" tIns="0" rIns="0" bIns="0" rtlCol="0" anchor="t"/>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Existing Playwright Suite</a:t>
            </a:r>
            <a:endParaRPr lang="en-US" sz="1300" dirty="0"/>
          </a:p>
        </p:txBody>
      </p:sp>
      <p:sp>
        <p:nvSpPr>
          <p:cNvPr id="23" name="Text 19"/>
          <p:cNvSpPr txBox="1"/>
          <p:nvPr/>
        </p:nvSpPr>
        <p:spPr>
          <a:xfrm>
            <a:off x="886968" y="4809744"/>
            <a:ext cx="2240280" cy="548640"/>
          </a:xfrm>
          <a:prstGeom prst="rect">
            <a:avLst/>
          </a:prstGeom>
          <a:noFill/>
          <a:ln/>
        </p:spPr>
        <p:txBody>
          <a:bodyPr wrap="square" lIns="0" tIns="0" rIns="0" bIns="0" rtlCol="0" anchor="t"/>
          <a:lstStyle/>
          <a:p>
            <a:pPr indent="0" marL="0">
              <a:buNone/>
            </a:pPr>
            <a:r>
              <a:rPr lang="en-US" sz="1050" dirty="0">
                <a:solidFill>
                  <a:srgbClr val="666666"/>
                </a:solidFill>
                <a:latin typeface="Poppins" pitchFamily="34" charset="0"/>
                <a:ea typeface="Poppins" pitchFamily="34" charset="-122"/>
                <a:cs typeface="Poppins" pitchFamily="34" charset="-120"/>
              </a:rPr>
              <a:t>The QA team's UI + API tests</a:t>
            </a:r>
            <a:endParaRPr lang="en-US" sz="1050" dirty="0"/>
          </a:p>
        </p:txBody>
      </p:sp>
      <p:sp>
        <p:nvSpPr>
          <p:cNvPr id="24" name="Shape 20"/>
          <p:cNvSpPr/>
          <p:nvPr/>
        </p:nvSpPr>
        <p:spPr>
          <a:xfrm>
            <a:off x="3291840" y="4873752"/>
            <a:ext cx="347472" cy="0"/>
          </a:xfrm>
          <a:prstGeom prst="line">
            <a:avLst/>
          </a:prstGeom>
          <a:noFill/>
          <a:ln w="15875">
            <a:solidFill>
              <a:srgbClr val="999999"/>
            </a:solidFill>
            <a:prstDash val="solid"/>
          </a:ln>
        </p:spPr>
        <p:txBody>
          <a:bodyPr/>
          <a:p/>
        </p:txBody>
      </p:sp>
      <p:sp>
        <p:nvSpPr>
          <p:cNvPr id="25" name="Shape 21"/>
          <p:cNvSpPr/>
          <p:nvPr/>
        </p:nvSpPr>
        <p:spPr>
          <a:xfrm>
            <a:off x="3639312" y="2441448"/>
            <a:ext cx="0" cy="2432304"/>
          </a:xfrm>
          <a:prstGeom prst="line">
            <a:avLst/>
          </a:prstGeom>
          <a:noFill/>
          <a:ln w="15875">
            <a:solidFill>
              <a:srgbClr val="999999"/>
            </a:solidFill>
            <a:prstDash val="solid"/>
          </a:ln>
        </p:spPr>
        <p:txBody>
          <a:bodyPr/>
          <a:p/>
        </p:txBody>
      </p:sp>
      <p:sp>
        <p:nvSpPr>
          <p:cNvPr id="26" name="Shape 22"/>
          <p:cNvSpPr/>
          <p:nvPr/>
        </p:nvSpPr>
        <p:spPr>
          <a:xfrm>
            <a:off x="3639312" y="3657600"/>
            <a:ext cx="338328" cy="0"/>
          </a:xfrm>
          <a:prstGeom prst="line">
            <a:avLst/>
          </a:prstGeom>
          <a:noFill/>
          <a:ln w="15875">
            <a:solidFill>
              <a:srgbClr val="999999"/>
            </a:solidFill>
            <a:prstDash val="solid"/>
            <a:tailEnd type="triangle"/>
          </a:ln>
        </p:spPr>
        <p:txBody>
          <a:bodyPr/>
          <a:p/>
        </p:txBody>
      </p:sp>
      <p:sp>
        <p:nvSpPr>
          <p:cNvPr id="27" name="Shape 23"/>
          <p:cNvSpPr/>
          <p:nvPr/>
        </p:nvSpPr>
        <p:spPr>
          <a:xfrm>
            <a:off x="3977640" y="2103120"/>
            <a:ext cx="3246120" cy="3108960"/>
          </a:xfrm>
          <a:prstGeom prst="roundRect">
            <a:avLst>
              <a:gd name="adj" fmla="val 1765"/>
            </a:avLst>
          </a:prstGeom>
          <a:solidFill>
            <a:srgbClr val="EEF0FF"/>
          </a:solidFill>
          <a:ln w="12700">
            <a:solidFill>
              <a:srgbClr val="405AE7"/>
            </a:solidFill>
            <a:prstDash val="solid"/>
          </a:ln>
        </p:spPr>
        <p:txBody>
          <a:bodyPr/>
          <a:p/>
        </p:txBody>
      </p:sp>
      <p:sp>
        <p:nvSpPr>
          <p:cNvPr id="28" name="Text 24"/>
          <p:cNvSpPr txBox="1"/>
          <p:nvPr/>
        </p:nvSpPr>
        <p:spPr>
          <a:xfrm>
            <a:off x="4178808" y="2240280"/>
            <a:ext cx="2843784" cy="685800"/>
          </a:xfrm>
          <a:prstGeom prst="rect">
            <a:avLst/>
          </a:prstGeom>
          <a:noFill/>
          <a:ln/>
        </p:spPr>
        <p:txBody>
          <a:bodyPr wrap="square" lIns="0" tIns="0" rIns="0" bIns="0" rtlCol="0" anchor="t"/>
          <a:lstStyle/>
          <a:p>
            <a:pPr indent="0" marL="0">
              <a:buNone/>
            </a:pPr>
            <a:r>
              <a:rPr lang="en-US" sz="1500" dirty="0">
                <a:solidFill>
                  <a:srgbClr val="2C3FB0"/>
                </a:solidFill>
                <a:latin typeface="Poppins SemiBold" pitchFamily="34" charset="0"/>
                <a:ea typeface="Poppins SemiBold" pitchFamily="34" charset="-122"/>
                <a:cs typeface="Poppins SemiBold" pitchFamily="34" charset="-120"/>
              </a:rPr>
              <a:t>/qa-orchestrator:qa-run</a:t>
            </a:r>
            <a:endParaRPr lang="en-US" sz="1500" dirty="0"/>
          </a:p>
          <a:p>
            <a:pPr indent="0" marL="0">
              <a:buNone/>
            </a:pPr>
            <a:r>
              <a:rPr lang="en-US" sz="1500" dirty="0">
                <a:solidFill>
                  <a:srgbClr val="2C3FB0"/>
                </a:solidFill>
                <a:latin typeface="Poppins SemiBold" pitchFamily="34" charset="0"/>
                <a:ea typeface="Poppins SemiBold" pitchFamily="34" charset="-122"/>
                <a:cs typeface="Poppins SemiBold" pitchFamily="34" charset="-120"/>
              </a:rPr>
              <a:t>Skill + 7 Agents</a:t>
            </a:r>
            <a:endParaRPr lang="en-US" sz="1500" dirty="0"/>
          </a:p>
        </p:txBody>
      </p:sp>
      <p:sp>
        <p:nvSpPr>
          <p:cNvPr id="29" name="Text 25"/>
          <p:cNvSpPr txBox="1"/>
          <p:nvPr/>
        </p:nvSpPr>
        <p:spPr>
          <a:xfrm>
            <a:off x="4178808" y="3017520"/>
            <a:ext cx="2843784" cy="2103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Decides which tests to update, add or delete, and finds what the ticket missed by reading the code. Writes the tests, runs the suite, classifies every failure, and writes the QA report.</a:t>
            </a:r>
            <a:endParaRPr lang="en-US" sz="1100" dirty="0"/>
          </a:p>
        </p:txBody>
      </p:sp>
      <p:sp>
        <p:nvSpPr>
          <p:cNvPr id="30" name="Shape 26"/>
          <p:cNvSpPr/>
          <p:nvPr/>
        </p:nvSpPr>
        <p:spPr>
          <a:xfrm>
            <a:off x="7223760" y="3657600"/>
            <a:ext cx="658368" cy="0"/>
          </a:xfrm>
          <a:prstGeom prst="line">
            <a:avLst/>
          </a:prstGeom>
          <a:noFill/>
          <a:ln w="15875">
            <a:solidFill>
              <a:srgbClr val="999999"/>
            </a:solidFill>
            <a:prstDash val="solid"/>
          </a:ln>
        </p:spPr>
        <p:txBody>
          <a:bodyPr/>
          <a:p/>
        </p:txBody>
      </p:sp>
      <p:sp>
        <p:nvSpPr>
          <p:cNvPr id="31" name="Shape 27"/>
          <p:cNvSpPr/>
          <p:nvPr/>
        </p:nvSpPr>
        <p:spPr>
          <a:xfrm>
            <a:off x="7882128" y="2834640"/>
            <a:ext cx="0" cy="1645920"/>
          </a:xfrm>
          <a:prstGeom prst="line">
            <a:avLst/>
          </a:prstGeom>
          <a:noFill/>
          <a:ln w="15875">
            <a:solidFill>
              <a:srgbClr val="999999"/>
            </a:solidFill>
            <a:prstDash val="solid"/>
          </a:ln>
        </p:spPr>
        <p:txBody>
          <a:bodyPr/>
          <a:p/>
        </p:txBody>
      </p:sp>
      <p:sp>
        <p:nvSpPr>
          <p:cNvPr id="32" name="Shape 28"/>
          <p:cNvSpPr/>
          <p:nvPr/>
        </p:nvSpPr>
        <p:spPr>
          <a:xfrm>
            <a:off x="7882128" y="2834640"/>
            <a:ext cx="667512" cy="0"/>
          </a:xfrm>
          <a:prstGeom prst="line">
            <a:avLst/>
          </a:prstGeom>
          <a:noFill/>
          <a:ln w="15875">
            <a:solidFill>
              <a:srgbClr val="999999"/>
            </a:solidFill>
            <a:prstDash val="solid"/>
            <a:tailEnd type="triangle"/>
          </a:ln>
        </p:spPr>
        <p:txBody>
          <a:bodyPr/>
          <a:p/>
        </p:txBody>
      </p:sp>
      <p:sp>
        <p:nvSpPr>
          <p:cNvPr id="33" name="Shape 29"/>
          <p:cNvSpPr/>
          <p:nvPr/>
        </p:nvSpPr>
        <p:spPr>
          <a:xfrm>
            <a:off x="7882128" y="4480560"/>
            <a:ext cx="667512" cy="0"/>
          </a:xfrm>
          <a:prstGeom prst="line">
            <a:avLst/>
          </a:prstGeom>
          <a:noFill/>
          <a:ln w="15875">
            <a:solidFill>
              <a:srgbClr val="999999"/>
            </a:solidFill>
            <a:prstDash val="solid"/>
            <a:tailEnd type="triangle"/>
          </a:ln>
        </p:spPr>
        <p:txBody>
          <a:bodyPr/>
          <a:p/>
        </p:txBody>
      </p:sp>
      <p:sp>
        <p:nvSpPr>
          <p:cNvPr id="34" name="Shape 30"/>
          <p:cNvSpPr/>
          <p:nvPr/>
        </p:nvSpPr>
        <p:spPr>
          <a:xfrm>
            <a:off x="8549640" y="2103120"/>
            <a:ext cx="2953512" cy="1463040"/>
          </a:xfrm>
          <a:prstGeom prst="roundRect">
            <a:avLst>
              <a:gd name="adj" fmla="val 3750"/>
            </a:avLst>
          </a:prstGeom>
          <a:solidFill>
            <a:srgbClr val="F7F9FC"/>
          </a:solidFill>
          <a:ln/>
        </p:spPr>
        <p:txBody>
          <a:bodyPr/>
          <a:p/>
        </p:txBody>
      </p:sp>
      <p:sp>
        <p:nvSpPr>
          <p:cNvPr id="35" name="Text 31"/>
          <p:cNvSpPr txBox="1"/>
          <p:nvPr/>
        </p:nvSpPr>
        <p:spPr>
          <a:xfrm>
            <a:off x="8750808" y="2221992"/>
            <a:ext cx="2560320" cy="320040"/>
          </a:xfrm>
          <a:prstGeom prst="rect">
            <a:avLst/>
          </a:prstGeom>
          <a:noFill/>
          <a:ln/>
        </p:spPr>
        <p:txBody>
          <a:bodyPr wrap="square" lIns="0" tIns="0" rIns="0" bIns="0" rtlCol="0" anchor="t"/>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QA Pull Request</a:t>
            </a:r>
            <a:endParaRPr lang="en-US" sz="1400" dirty="0"/>
          </a:p>
        </p:txBody>
      </p:sp>
      <p:sp>
        <p:nvSpPr>
          <p:cNvPr id="36" name="Text 32"/>
          <p:cNvSpPr txBox="1"/>
          <p:nvPr/>
        </p:nvSpPr>
        <p:spPr>
          <a:xfrm>
            <a:off x="8750808" y="2578608"/>
            <a:ext cx="2606040" cy="914400"/>
          </a:xfrm>
          <a:prstGeom prst="rect">
            <a:avLst/>
          </a:prstGeom>
          <a:noFill/>
          <a:ln/>
        </p:spPr>
        <p:txBody>
          <a:bodyPr wrap="square" lIns="0" tIns="0" rIns="0" bIns="0" rtlCol="0" anchor="t"/>
          <a:lstStyle/>
          <a:p>
            <a:pPr indent="0" marL="0">
              <a:buNone/>
            </a:pPr>
            <a:r>
              <a:rPr lang="en-US" sz="1050" dirty="0">
                <a:solidFill>
                  <a:srgbClr val="666666"/>
                </a:solidFill>
                <a:latin typeface="Poppins" pitchFamily="34" charset="0"/>
                <a:ea typeface="Poppins" pitchFamily="34" charset="-122"/>
                <a:cs typeface="Poppins" pitchFamily="34" charset="-120"/>
              </a:rPr>
              <a:t>Test changes + report into the dev branch. A draft when the recommendation is QA Failed.</a:t>
            </a:r>
            <a:endParaRPr lang="en-US" sz="1050" dirty="0"/>
          </a:p>
        </p:txBody>
      </p:sp>
      <p:sp>
        <p:nvSpPr>
          <p:cNvPr id="37" name="Shape 33"/>
          <p:cNvSpPr/>
          <p:nvPr/>
        </p:nvSpPr>
        <p:spPr>
          <a:xfrm>
            <a:off x="8549640" y="3749040"/>
            <a:ext cx="2953512" cy="1463040"/>
          </a:xfrm>
          <a:prstGeom prst="roundRect">
            <a:avLst>
              <a:gd name="adj" fmla="val 3750"/>
            </a:avLst>
          </a:prstGeom>
          <a:solidFill>
            <a:srgbClr val="F7F9FC"/>
          </a:solidFill>
          <a:ln/>
        </p:spPr>
        <p:txBody>
          <a:bodyPr/>
          <a:p/>
        </p:txBody>
      </p:sp>
      <p:sp>
        <p:nvSpPr>
          <p:cNvPr id="38" name="Text 34"/>
          <p:cNvSpPr txBox="1"/>
          <p:nvPr/>
        </p:nvSpPr>
        <p:spPr>
          <a:xfrm>
            <a:off x="8750808" y="3867912"/>
            <a:ext cx="2560320" cy="320040"/>
          </a:xfrm>
          <a:prstGeom prst="rect">
            <a:avLst/>
          </a:prstGeom>
          <a:noFill/>
          <a:ln/>
        </p:spPr>
        <p:txBody>
          <a:bodyPr wrap="square" lIns="0" tIns="0" rIns="0" bIns="0" rtlCol="0" anchor="t"/>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Jira Update</a:t>
            </a:r>
            <a:endParaRPr lang="en-US" sz="1400" dirty="0"/>
          </a:p>
        </p:txBody>
      </p:sp>
      <p:sp>
        <p:nvSpPr>
          <p:cNvPr id="39" name="Text 35"/>
          <p:cNvSpPr txBox="1"/>
          <p:nvPr/>
        </p:nvSpPr>
        <p:spPr>
          <a:xfrm>
            <a:off x="8750808" y="4224528"/>
            <a:ext cx="2606040" cy="914400"/>
          </a:xfrm>
          <a:prstGeom prst="rect">
            <a:avLst/>
          </a:prstGeom>
          <a:noFill/>
          <a:ln/>
        </p:spPr>
        <p:txBody>
          <a:bodyPr wrap="square" lIns="0" tIns="0" rIns="0" bIns="0" rtlCol="0" anchor="t"/>
          <a:lstStyle/>
          <a:p>
            <a:pPr indent="0" marL="0">
              <a:buNone/>
            </a:pPr>
            <a:r>
              <a:rPr lang="en-US" sz="1050" dirty="0">
                <a:solidFill>
                  <a:srgbClr val="666666"/>
                </a:solidFill>
                <a:latin typeface="Poppins" pitchFamily="34" charset="0"/>
                <a:ea typeface="Poppins" pitchFamily="34" charset="-122"/>
                <a:cs typeface="Poppins" pitchFamily="34" charset="-120"/>
              </a:rPr>
              <a:t>Report comment and a move to QA Review. Never to QA Passed / Failed.</a:t>
            </a:r>
            <a:endParaRPr lang="en-US" sz="1050" dirty="0"/>
          </a:p>
        </p:txBody>
      </p:sp>
      <p:sp>
        <p:nvSpPr>
          <p:cNvPr id="40" name="Text 36"/>
          <p:cNvSpPr txBox="1"/>
          <p:nvPr/>
        </p:nvSpPr>
        <p:spPr>
          <a:xfrm>
            <a:off x="685800" y="571500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A person merges the QA PR and sets QA Passed or QA Failed. The plugin is blocked from doing either.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Three Layers, Three Trust Levels</a:t>
            </a:r>
            <a:endParaRPr lang="en-US" sz="30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13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0" name="Shape 6"/>
          <p:cNvSpPr/>
          <p:nvPr/>
        </p:nvSpPr>
        <p:spPr>
          <a:xfrm>
            <a:off x="685800" y="1600200"/>
            <a:ext cx="10817352" cy="1298448"/>
          </a:xfrm>
          <a:prstGeom prst="roundRect">
            <a:avLst>
              <a:gd name="adj" fmla="val 4225"/>
            </a:avLst>
          </a:prstGeom>
          <a:solidFill>
            <a:srgbClr val="EEF0FF"/>
          </a:solidFill>
          <a:ln/>
        </p:spPr>
        <p:txBody>
          <a:bodyPr/>
          <a:p/>
        </p:txBody>
      </p:sp>
      <p:sp>
        <p:nvSpPr>
          <p:cNvPr id="11" name="Shape 7"/>
          <p:cNvSpPr/>
          <p:nvPr/>
        </p:nvSpPr>
        <p:spPr>
          <a:xfrm>
            <a:off x="914400" y="1783080"/>
            <a:ext cx="384048" cy="384048"/>
          </a:xfrm>
          <a:prstGeom prst="ellipse">
            <a:avLst/>
          </a:prstGeom>
          <a:solidFill>
            <a:srgbClr val="405AE7"/>
          </a:solidFill>
          <a:ln/>
        </p:spPr>
        <p:txBody>
          <a:bodyPr/>
          <a:p/>
        </p:txBody>
      </p:sp>
      <p:sp>
        <p:nvSpPr>
          <p:cNvPr id="12" name="Text 8"/>
          <p:cNvSpPr txBox="1"/>
          <p:nvPr/>
        </p:nvSpPr>
        <p:spPr>
          <a:xfrm>
            <a:off x="914400" y="178308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3" name="Text 9"/>
          <p:cNvSpPr txBox="1"/>
          <p:nvPr/>
        </p:nvSpPr>
        <p:spPr>
          <a:xfrm>
            <a:off x="1463040" y="1764792"/>
            <a:ext cx="3108960" cy="411480"/>
          </a:xfrm>
          <a:prstGeom prst="rect">
            <a:avLst/>
          </a:prstGeom>
          <a:noFill/>
          <a:ln/>
        </p:spPr>
        <p:txBody>
          <a:bodyPr wrap="square" lIns="0" tIns="0" rIns="0" bIns="0" rtlCol="0" anchor="t"/>
          <a:lstStyle/>
          <a:p>
            <a:pPr indent="0" marL="0">
              <a:buNone/>
            </a:pPr>
            <a:r>
              <a:rPr lang="en-US" sz="1700" dirty="0">
                <a:solidFill>
                  <a:srgbClr val="405AE7"/>
                </a:solidFill>
                <a:latin typeface="Poppins SemiBold" pitchFamily="34" charset="0"/>
                <a:ea typeface="Poppins SemiBold" pitchFamily="34" charset="-122"/>
                <a:cs typeface="Poppins SemiBold" pitchFamily="34" charset="-120"/>
              </a:rPr>
              <a:t>Orchestrator</a:t>
            </a:r>
            <a:endParaRPr lang="en-US" sz="1700" dirty="0"/>
          </a:p>
        </p:txBody>
      </p:sp>
      <p:sp>
        <p:nvSpPr>
          <p:cNvPr id="14" name="Text 10"/>
          <p:cNvSpPr txBox="1"/>
          <p:nvPr/>
        </p:nvSpPr>
        <p:spPr>
          <a:xfrm>
            <a:off x="1463040" y="2194560"/>
            <a:ext cx="3108960" cy="548640"/>
          </a:xfrm>
          <a:prstGeom prst="rect">
            <a:avLst/>
          </a:prstGeom>
          <a:noFill/>
          <a:ln/>
        </p:spPr>
        <p:txBody>
          <a:bodyPr wrap="square" lIns="0" tIns="0" rIns="0" bIns="0" rtlCol="0" anchor="t"/>
          <a:lstStyle/>
          <a:p>
            <a:pPr indent="0" marL="0">
              <a:buNone/>
            </a:pPr>
            <a:r>
              <a:rPr lang="en-US" sz="1050" dirty="0">
                <a:solidFill>
                  <a:srgbClr val="666666"/>
                </a:solidFill>
                <a:latin typeface="Consolas" pitchFamily="34" charset="0"/>
                <a:ea typeface="Consolas" pitchFamily="34" charset="-122"/>
                <a:cs typeface="Consolas" pitchFamily="34" charset="-120"/>
              </a:rPr>
              <a:t>skills/qa-run/SKILL.md · the main session</a:t>
            </a:r>
            <a:endParaRPr lang="en-US" sz="1050" dirty="0"/>
          </a:p>
        </p:txBody>
      </p:sp>
      <p:sp>
        <p:nvSpPr>
          <p:cNvPr id="15" name="Text 11"/>
          <p:cNvSpPr txBox="1"/>
          <p:nvPr/>
        </p:nvSpPr>
        <p:spPr>
          <a:xfrm>
            <a:off x="4572000" y="1737360"/>
            <a:ext cx="4846320" cy="1051560"/>
          </a:xfrm>
          <a:prstGeom prst="rect">
            <a:avLst/>
          </a:prstGeom>
          <a:noFill/>
          <a:ln/>
        </p:spPr>
        <p:txBody>
          <a:bodyPr wrap="square" lIns="0" tIns="0" rIns="0" bIns="0" rtlCol="0" anchor="ctr"/>
          <a:lstStyle/>
          <a:p>
            <a:pPr indent="0" marL="0">
              <a:buNone/>
            </a:pPr>
            <a:r>
              <a:rPr lang="en-US" sz="1150" dirty="0">
                <a:solidFill>
                  <a:srgbClr val="666666"/>
                </a:solidFill>
                <a:latin typeface="Poppins" pitchFamily="34" charset="0"/>
                <a:ea typeface="Poppins" pitchFamily="34" charset="-122"/>
                <a:cs typeface="Poppins" pitchFamily="34" charset="-120"/>
              </a:rPr>
              <a:t>Follows the playbook step by step. The only layer that talks to Jira and asks the human at the gates. Delegates judgment, never writes tests itself.</a:t>
            </a:r>
            <a:endParaRPr lang="en-US" sz="1150" dirty="0"/>
          </a:p>
        </p:txBody>
      </p:sp>
      <p:sp>
        <p:nvSpPr>
          <p:cNvPr id="16" name="Shape 12"/>
          <p:cNvSpPr/>
          <p:nvPr/>
        </p:nvSpPr>
        <p:spPr>
          <a:xfrm>
            <a:off x="9646920" y="2057400"/>
            <a:ext cx="1691640" cy="365760"/>
          </a:xfrm>
          <a:prstGeom prst="roundRect">
            <a:avLst>
              <a:gd name="adj" fmla="val 50000"/>
            </a:avLst>
          </a:prstGeom>
          <a:solidFill>
            <a:srgbClr val="FFFFFF"/>
          </a:solidFill>
          <a:ln/>
        </p:spPr>
        <p:txBody>
          <a:bodyPr/>
          <a:p/>
        </p:txBody>
      </p:sp>
      <p:sp>
        <p:nvSpPr>
          <p:cNvPr id="17" name="Text 13"/>
          <p:cNvSpPr txBox="1"/>
          <p:nvPr/>
        </p:nvSpPr>
        <p:spPr>
          <a:xfrm>
            <a:off x="9646920" y="2057400"/>
            <a:ext cx="1691640" cy="365760"/>
          </a:xfrm>
          <a:prstGeom prst="rect">
            <a:avLst/>
          </a:prstGeom>
          <a:noFill/>
          <a:ln/>
        </p:spPr>
        <p:txBody>
          <a:bodyPr wrap="square" lIns="0" tIns="0" rIns="0" bIns="0" rtlCol="0" anchor="ctr"/>
          <a:lstStyle/>
          <a:p>
            <a:pPr algn="ctr" indent="0" marL="0">
              <a:buNone/>
            </a:pPr>
            <a:r>
              <a:rPr lang="en-US" sz="950" dirty="0">
                <a:solidFill>
                  <a:srgbClr val="405AE7"/>
                </a:solidFill>
                <a:latin typeface="Poppins SemiBold" pitchFamily="34" charset="0"/>
                <a:ea typeface="Poppins SemiBold" pitchFamily="34" charset="-122"/>
                <a:cs typeface="Poppins SemiBold" pitchFamily="34" charset="-120"/>
              </a:rPr>
              <a:t>TRUSTED TO ASK</a:t>
            </a:r>
            <a:endParaRPr lang="en-US" sz="950" dirty="0"/>
          </a:p>
        </p:txBody>
      </p:sp>
      <p:sp>
        <p:nvSpPr>
          <p:cNvPr id="18" name="Shape 14"/>
          <p:cNvSpPr/>
          <p:nvPr/>
        </p:nvSpPr>
        <p:spPr>
          <a:xfrm>
            <a:off x="685800" y="3063240"/>
            <a:ext cx="10817352" cy="1298448"/>
          </a:xfrm>
          <a:prstGeom prst="roundRect">
            <a:avLst>
              <a:gd name="adj" fmla="val 4225"/>
            </a:avLst>
          </a:prstGeom>
          <a:solidFill>
            <a:srgbClr val="F1ECF8"/>
          </a:solidFill>
          <a:ln/>
        </p:spPr>
        <p:txBody>
          <a:bodyPr/>
          <a:p/>
        </p:txBody>
      </p:sp>
      <p:sp>
        <p:nvSpPr>
          <p:cNvPr id="19" name="Shape 15"/>
          <p:cNvSpPr/>
          <p:nvPr/>
        </p:nvSpPr>
        <p:spPr>
          <a:xfrm>
            <a:off x="914400" y="3246120"/>
            <a:ext cx="384048" cy="384048"/>
          </a:xfrm>
          <a:prstGeom prst="ellipse">
            <a:avLst/>
          </a:prstGeom>
          <a:solidFill>
            <a:srgbClr val="7B5EA7"/>
          </a:solidFill>
          <a:ln/>
        </p:spPr>
        <p:txBody>
          <a:bodyPr/>
          <a:p/>
        </p:txBody>
      </p:sp>
      <p:sp>
        <p:nvSpPr>
          <p:cNvPr id="20" name="Text 16"/>
          <p:cNvSpPr txBox="1"/>
          <p:nvPr/>
        </p:nvSpPr>
        <p:spPr>
          <a:xfrm>
            <a:off x="914400" y="324612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21" name="Text 17"/>
          <p:cNvSpPr txBox="1"/>
          <p:nvPr/>
        </p:nvSpPr>
        <p:spPr>
          <a:xfrm>
            <a:off x="1463040" y="3227832"/>
            <a:ext cx="3108960" cy="411480"/>
          </a:xfrm>
          <a:prstGeom prst="rect">
            <a:avLst/>
          </a:prstGeom>
          <a:noFill/>
          <a:ln/>
        </p:spPr>
        <p:txBody>
          <a:bodyPr wrap="square" lIns="0" tIns="0" rIns="0" bIns="0" rtlCol="0" anchor="t"/>
          <a:lstStyle/>
          <a:p>
            <a:pPr indent="0" marL="0">
              <a:buNone/>
            </a:pPr>
            <a:r>
              <a:rPr lang="en-US" sz="1700" dirty="0">
                <a:solidFill>
                  <a:srgbClr val="7B5EA7"/>
                </a:solidFill>
                <a:latin typeface="Poppins SemiBold" pitchFamily="34" charset="0"/>
                <a:ea typeface="Poppins SemiBold" pitchFamily="34" charset="-122"/>
                <a:cs typeface="Poppins SemiBold" pitchFamily="34" charset="-120"/>
              </a:rPr>
              <a:t>Seven Agents</a:t>
            </a:r>
            <a:endParaRPr lang="en-US" sz="1700" dirty="0"/>
          </a:p>
        </p:txBody>
      </p:sp>
      <p:sp>
        <p:nvSpPr>
          <p:cNvPr id="22" name="Text 18"/>
          <p:cNvSpPr txBox="1"/>
          <p:nvPr/>
        </p:nvSpPr>
        <p:spPr>
          <a:xfrm>
            <a:off x="1463040" y="3657600"/>
            <a:ext cx="3108960" cy="548640"/>
          </a:xfrm>
          <a:prstGeom prst="rect">
            <a:avLst/>
          </a:prstGeom>
          <a:noFill/>
          <a:ln/>
        </p:spPr>
        <p:txBody>
          <a:bodyPr wrap="square" lIns="0" tIns="0" rIns="0" bIns="0" rtlCol="0" anchor="t"/>
          <a:lstStyle/>
          <a:p>
            <a:pPr indent="0" marL="0">
              <a:buNone/>
            </a:pPr>
            <a:r>
              <a:rPr lang="en-US" sz="1050" dirty="0">
                <a:solidFill>
                  <a:srgbClr val="666666"/>
                </a:solidFill>
                <a:latin typeface="Consolas" pitchFamily="34" charset="0"/>
                <a:ea typeface="Consolas" pitchFamily="34" charset="-122"/>
                <a:cs typeface="Consolas" pitchFamily="34" charset="-120"/>
              </a:rPr>
              <a:t>agents/*.md · subagents</a:t>
            </a:r>
            <a:endParaRPr lang="en-US" sz="1050" dirty="0"/>
          </a:p>
        </p:txBody>
      </p:sp>
      <p:sp>
        <p:nvSpPr>
          <p:cNvPr id="23" name="Text 19"/>
          <p:cNvSpPr txBox="1"/>
          <p:nvPr/>
        </p:nvSpPr>
        <p:spPr>
          <a:xfrm>
            <a:off x="4572000" y="3200400"/>
            <a:ext cx="4846320" cy="1051560"/>
          </a:xfrm>
          <a:prstGeom prst="rect">
            <a:avLst/>
          </a:prstGeom>
          <a:noFill/>
          <a:ln/>
        </p:spPr>
        <p:txBody>
          <a:bodyPr wrap="square" lIns="0" tIns="0" rIns="0" bIns="0" rtlCol="0" anchor="ctr"/>
          <a:lstStyle/>
          <a:p>
            <a:pPr indent="0" marL="0">
              <a:buNone/>
            </a:pPr>
            <a:r>
              <a:rPr lang="en-US" sz="1150" dirty="0">
                <a:solidFill>
                  <a:srgbClr val="666666"/>
                </a:solidFill>
                <a:latin typeface="Poppins" pitchFamily="34" charset="0"/>
                <a:ea typeface="Poppins" pitchFamily="34" charset="-122"/>
                <a:cs typeface="Poppins" pitchFamily="34" charset="-120"/>
              </a:rPr>
              <a:t>Each gets a brief file, does one job and returns one JSON block. A script validates it against a schema: AC ids must exist, files must be in the test folder.</a:t>
            </a:r>
            <a:endParaRPr lang="en-US" sz="1150" dirty="0"/>
          </a:p>
        </p:txBody>
      </p:sp>
      <p:sp>
        <p:nvSpPr>
          <p:cNvPr id="24" name="Shape 20"/>
          <p:cNvSpPr/>
          <p:nvPr/>
        </p:nvSpPr>
        <p:spPr>
          <a:xfrm>
            <a:off x="9646920" y="3520440"/>
            <a:ext cx="1691640" cy="365760"/>
          </a:xfrm>
          <a:prstGeom prst="roundRect">
            <a:avLst>
              <a:gd name="adj" fmla="val 50000"/>
            </a:avLst>
          </a:prstGeom>
          <a:solidFill>
            <a:srgbClr val="FFFFFF"/>
          </a:solidFill>
          <a:ln/>
        </p:spPr>
        <p:txBody>
          <a:bodyPr/>
          <a:p/>
        </p:txBody>
      </p:sp>
      <p:sp>
        <p:nvSpPr>
          <p:cNvPr id="25" name="Text 21"/>
          <p:cNvSpPr txBox="1"/>
          <p:nvPr/>
        </p:nvSpPr>
        <p:spPr>
          <a:xfrm>
            <a:off x="9646920" y="3520440"/>
            <a:ext cx="1691640" cy="365760"/>
          </a:xfrm>
          <a:prstGeom prst="rect">
            <a:avLst/>
          </a:prstGeom>
          <a:noFill/>
          <a:ln/>
        </p:spPr>
        <p:txBody>
          <a:bodyPr wrap="square" lIns="0" tIns="0" rIns="0" bIns="0" rtlCol="0" anchor="ctr"/>
          <a:lstStyle/>
          <a:p>
            <a:pPr algn="ctr" indent="0" marL="0">
              <a:buNone/>
            </a:pPr>
            <a:r>
              <a:rPr lang="en-US" sz="950" dirty="0">
                <a:solidFill>
                  <a:srgbClr val="7B5EA7"/>
                </a:solidFill>
                <a:latin typeface="Poppins SemiBold" pitchFamily="34" charset="0"/>
                <a:ea typeface="Poppins SemiBold" pitchFamily="34" charset="-122"/>
                <a:cs typeface="Poppins SemiBold" pitchFamily="34" charset="-120"/>
              </a:rPr>
              <a:t>TRUSTED TO JUDGE</a:t>
            </a:r>
            <a:endParaRPr lang="en-US" sz="950" dirty="0"/>
          </a:p>
        </p:txBody>
      </p:sp>
      <p:sp>
        <p:nvSpPr>
          <p:cNvPr id="26" name="Shape 22"/>
          <p:cNvSpPr/>
          <p:nvPr/>
        </p:nvSpPr>
        <p:spPr>
          <a:xfrm>
            <a:off x="685800" y="4526280"/>
            <a:ext cx="10817352" cy="1298448"/>
          </a:xfrm>
          <a:prstGeom prst="roundRect">
            <a:avLst>
              <a:gd name="adj" fmla="val 4225"/>
            </a:avLst>
          </a:prstGeom>
          <a:solidFill>
            <a:srgbClr val="E6F3EC"/>
          </a:solidFill>
          <a:ln/>
        </p:spPr>
        <p:txBody>
          <a:bodyPr/>
          <a:p/>
        </p:txBody>
      </p:sp>
      <p:sp>
        <p:nvSpPr>
          <p:cNvPr id="27" name="Shape 23"/>
          <p:cNvSpPr/>
          <p:nvPr/>
        </p:nvSpPr>
        <p:spPr>
          <a:xfrm>
            <a:off x="914400" y="4709160"/>
            <a:ext cx="384048" cy="384048"/>
          </a:xfrm>
          <a:prstGeom prst="ellipse">
            <a:avLst/>
          </a:prstGeom>
          <a:solidFill>
            <a:srgbClr val="2D8C55"/>
          </a:solidFill>
          <a:ln/>
        </p:spPr>
        <p:txBody>
          <a:bodyPr/>
          <a:p/>
        </p:txBody>
      </p:sp>
      <p:sp>
        <p:nvSpPr>
          <p:cNvPr id="28" name="Text 24"/>
          <p:cNvSpPr txBox="1"/>
          <p:nvPr/>
        </p:nvSpPr>
        <p:spPr>
          <a:xfrm>
            <a:off x="914400" y="4709160"/>
            <a:ext cx="38404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9" name="Text 25"/>
          <p:cNvSpPr txBox="1"/>
          <p:nvPr/>
        </p:nvSpPr>
        <p:spPr>
          <a:xfrm>
            <a:off x="1463040" y="4690872"/>
            <a:ext cx="3108960" cy="411480"/>
          </a:xfrm>
          <a:prstGeom prst="rect">
            <a:avLst/>
          </a:prstGeom>
          <a:noFill/>
          <a:ln/>
        </p:spPr>
        <p:txBody>
          <a:bodyPr wrap="square" lIns="0" tIns="0" rIns="0" bIns="0" rtlCol="0" anchor="t"/>
          <a:lstStyle/>
          <a:p>
            <a:pPr indent="0" marL="0">
              <a:buNone/>
            </a:pPr>
            <a:r>
              <a:rPr lang="en-US" sz="1700" dirty="0">
                <a:solidFill>
                  <a:srgbClr val="2D8C55"/>
                </a:solidFill>
                <a:latin typeface="Poppins SemiBold" pitchFamily="34" charset="0"/>
                <a:ea typeface="Poppins SemiBold" pitchFamily="34" charset="-122"/>
                <a:cs typeface="Poppins SemiBold" pitchFamily="34" charset="-120"/>
              </a:rPr>
              <a:t>Scripts + Guard</a:t>
            </a:r>
            <a:endParaRPr lang="en-US" sz="1700" dirty="0"/>
          </a:p>
        </p:txBody>
      </p:sp>
      <p:sp>
        <p:nvSpPr>
          <p:cNvPr id="30" name="Text 26"/>
          <p:cNvSpPr txBox="1"/>
          <p:nvPr/>
        </p:nvSpPr>
        <p:spPr>
          <a:xfrm>
            <a:off x="1463040" y="5120640"/>
            <a:ext cx="3108960" cy="548640"/>
          </a:xfrm>
          <a:prstGeom prst="rect">
            <a:avLst/>
          </a:prstGeom>
          <a:noFill/>
          <a:ln/>
        </p:spPr>
        <p:txBody>
          <a:bodyPr wrap="square" lIns="0" tIns="0" rIns="0" bIns="0" rtlCol="0" anchor="t"/>
          <a:lstStyle/>
          <a:p>
            <a:pPr indent="0" marL="0">
              <a:buNone/>
            </a:pPr>
            <a:r>
              <a:rPr lang="en-US" sz="1050" dirty="0">
                <a:solidFill>
                  <a:srgbClr val="666666"/>
                </a:solidFill>
                <a:latin typeface="Consolas" pitchFamily="34" charset="0"/>
                <a:ea typeface="Consolas" pitchFamily="34" charset="-122"/>
                <a:cs typeface="Consolas" pitchFamily="34" charset="-120"/>
              </a:rPr>
              <a:t>scripts/*.mjs · hooks/guard.mjs</a:t>
            </a:r>
            <a:endParaRPr lang="en-US" sz="1050" dirty="0"/>
          </a:p>
        </p:txBody>
      </p:sp>
      <p:sp>
        <p:nvSpPr>
          <p:cNvPr id="31" name="Text 27"/>
          <p:cNvSpPr txBox="1"/>
          <p:nvPr/>
        </p:nvSpPr>
        <p:spPr>
          <a:xfrm>
            <a:off x="4572000" y="4663440"/>
            <a:ext cx="4846320" cy="1051560"/>
          </a:xfrm>
          <a:prstGeom prst="rect">
            <a:avLst/>
          </a:prstGeom>
          <a:noFill/>
          <a:ln/>
        </p:spPr>
        <p:txBody>
          <a:bodyPr wrap="square" lIns="0" tIns="0" rIns="0" bIns="0" rtlCol="0" anchor="ctr"/>
          <a:lstStyle/>
          <a:p>
            <a:pPr indent="0" marL="0">
              <a:buNone/>
            </a:pPr>
            <a:r>
              <a:rPr lang="en-US" sz="1150" dirty="0">
                <a:solidFill>
                  <a:srgbClr val="666666"/>
                </a:solidFill>
                <a:latin typeface="Poppins" pitchFamily="34" charset="0"/>
                <a:ea typeface="Poppins" pitchFamily="34" charset="-122"/>
                <a:cs typeface="Poppins" pitchFamily="34" charset="-120"/>
              </a:rPr>
              <a:t>Every write that matters: git worktree, state, plan merge, deletes, test runs, commit / push / PR, metrics, memory. The guard enforces 11 rules on every tool call.</a:t>
            </a:r>
            <a:endParaRPr lang="en-US" sz="1150" dirty="0"/>
          </a:p>
        </p:txBody>
      </p:sp>
      <p:sp>
        <p:nvSpPr>
          <p:cNvPr id="32" name="Shape 28"/>
          <p:cNvSpPr/>
          <p:nvPr/>
        </p:nvSpPr>
        <p:spPr>
          <a:xfrm>
            <a:off x="9646920" y="4983480"/>
            <a:ext cx="1691640" cy="365760"/>
          </a:xfrm>
          <a:prstGeom prst="roundRect">
            <a:avLst>
              <a:gd name="adj" fmla="val 50000"/>
            </a:avLst>
          </a:prstGeom>
          <a:solidFill>
            <a:srgbClr val="FFFFFF"/>
          </a:solidFill>
          <a:ln/>
        </p:spPr>
        <p:txBody>
          <a:bodyPr/>
          <a:p/>
        </p:txBody>
      </p:sp>
      <p:sp>
        <p:nvSpPr>
          <p:cNvPr id="33" name="Text 29"/>
          <p:cNvSpPr txBox="1"/>
          <p:nvPr/>
        </p:nvSpPr>
        <p:spPr>
          <a:xfrm>
            <a:off x="9646920" y="4983480"/>
            <a:ext cx="1691640" cy="365760"/>
          </a:xfrm>
          <a:prstGeom prst="rect">
            <a:avLst/>
          </a:prstGeom>
          <a:noFill/>
          <a:ln/>
        </p:spPr>
        <p:txBody>
          <a:bodyPr wrap="square" lIns="0" tIns="0" rIns="0" bIns="0" rtlCol="0" anchor="ctr"/>
          <a:lstStyle/>
          <a:p>
            <a:pPr algn="ctr" indent="0" marL="0">
              <a:buNone/>
            </a:pPr>
            <a:r>
              <a:rPr lang="en-US" sz="950" dirty="0">
                <a:solidFill>
                  <a:srgbClr val="2D8C55"/>
                </a:solidFill>
                <a:latin typeface="Poppins SemiBold" pitchFamily="34" charset="0"/>
                <a:ea typeface="Poppins SemiBold" pitchFamily="34" charset="-122"/>
                <a:cs typeface="Poppins SemiBold" pitchFamily="34" charset="-120"/>
              </a:rPr>
              <a:t>TRUSTED TO ACT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Seven Agents, One Job Each</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Each agent has a fixed model, its own tool list and a turn limit. None touches Jira, writes to git or talks to another agent.</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14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737360"/>
            <a:ext cx="2587752" cy="1965960"/>
          </a:xfrm>
          <a:prstGeom prst="roundRect">
            <a:avLst>
              <a:gd name="adj" fmla="val 2791"/>
            </a:avLst>
          </a:prstGeom>
          <a:solidFill>
            <a:srgbClr val="F7F9FC"/>
          </a:solidFill>
          <a:ln/>
        </p:spPr>
        <p:txBody>
          <a:bodyPr/>
          <a:p/>
        </p:txBody>
      </p:sp>
      <p:sp>
        <p:nvSpPr>
          <p:cNvPr id="12" name="Text 8"/>
          <p:cNvSpPr txBox="1"/>
          <p:nvPr/>
        </p:nvSpPr>
        <p:spPr>
          <a:xfrm>
            <a:off x="886968" y="1920240"/>
            <a:ext cx="2185416" cy="329184"/>
          </a:xfrm>
          <a:prstGeom prst="rect">
            <a:avLst/>
          </a:prstGeom>
          <a:noFill/>
          <a:ln/>
        </p:spPr>
        <p:txBody>
          <a:bodyPr wrap="square" lIns="0" tIns="0" rIns="0" bIns="0" rtlCol="0" anchor="t"/>
          <a:lstStyle/>
          <a:p>
            <a:pPr indent="0" marL="0">
              <a:buNone/>
            </a:pPr>
            <a:r>
              <a:rPr lang="en-US" sz="1400" dirty="0">
                <a:solidFill>
                  <a:srgbClr val="2C3FB0"/>
                </a:solidFill>
                <a:latin typeface="Poppins SemiBold" pitchFamily="34" charset="0"/>
                <a:ea typeface="Poppins SemiBold" pitchFamily="34" charset="-122"/>
                <a:cs typeface="Poppins SemiBold" pitchFamily="34" charset="-120"/>
              </a:rPr>
              <a:t>qa-intake</a:t>
            </a:r>
            <a:endParaRPr lang="en-US" sz="1400" dirty="0"/>
          </a:p>
        </p:txBody>
      </p:sp>
      <p:sp>
        <p:nvSpPr>
          <p:cNvPr id="13" name="Shape 9"/>
          <p:cNvSpPr/>
          <p:nvPr/>
        </p:nvSpPr>
        <p:spPr>
          <a:xfrm>
            <a:off x="886968" y="2304288"/>
            <a:ext cx="749808" cy="256032"/>
          </a:xfrm>
          <a:prstGeom prst="roundRect">
            <a:avLst>
              <a:gd name="adj" fmla="val 50000"/>
            </a:avLst>
          </a:prstGeom>
          <a:solidFill>
            <a:srgbClr val="FFFFFF"/>
          </a:solidFill>
          <a:ln/>
        </p:spPr>
        <p:txBody>
          <a:bodyPr/>
          <a:p/>
        </p:txBody>
      </p:sp>
      <p:sp>
        <p:nvSpPr>
          <p:cNvPr id="14" name="Text 10"/>
          <p:cNvSpPr txBox="1"/>
          <p:nvPr/>
        </p:nvSpPr>
        <p:spPr>
          <a:xfrm>
            <a:off x="886968" y="2304288"/>
            <a:ext cx="749808" cy="256032"/>
          </a:xfrm>
          <a:prstGeom prst="rect">
            <a:avLst/>
          </a:prstGeom>
          <a:noFill/>
          <a:ln/>
        </p:spPr>
        <p:txBody>
          <a:bodyPr wrap="square" lIns="0" tIns="0" rIns="0" bIns="0" rtlCol="0" anchor="ctr"/>
          <a:lstStyle/>
          <a:p>
            <a:pPr algn="ctr" indent="0" marL="0">
              <a:buNone/>
            </a:pPr>
            <a:r>
              <a:rPr lang="en-US" sz="950" dirty="0">
                <a:solidFill>
                  <a:srgbClr val="405AE7"/>
                </a:solidFill>
                <a:latin typeface="Poppins SemiBold" pitchFamily="34" charset="0"/>
                <a:ea typeface="Poppins SemiBold" pitchFamily="34" charset="-122"/>
                <a:cs typeface="Poppins SemiBold" pitchFamily="34" charset="-120"/>
              </a:rPr>
              <a:t>sonnet</a:t>
            </a:r>
            <a:endParaRPr lang="en-US" sz="950" dirty="0"/>
          </a:p>
        </p:txBody>
      </p:sp>
      <p:sp>
        <p:nvSpPr>
          <p:cNvPr id="15" name="Text 11"/>
          <p:cNvSpPr txBox="1"/>
          <p:nvPr/>
        </p:nvSpPr>
        <p:spPr>
          <a:xfrm>
            <a:off x="886968" y="2670048"/>
            <a:ext cx="2185416"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Reads the ticket and the merged change: acceptance criteria, change type, blocking ambiguities, assumptions.</a:t>
            </a:r>
            <a:endParaRPr lang="en-US" sz="1100" dirty="0"/>
          </a:p>
        </p:txBody>
      </p:sp>
      <p:sp>
        <p:nvSpPr>
          <p:cNvPr id="16" name="Shape 12"/>
          <p:cNvSpPr/>
          <p:nvPr/>
        </p:nvSpPr>
        <p:spPr>
          <a:xfrm>
            <a:off x="3429000" y="1737360"/>
            <a:ext cx="2587752" cy="1965960"/>
          </a:xfrm>
          <a:prstGeom prst="roundRect">
            <a:avLst>
              <a:gd name="adj" fmla="val 2791"/>
            </a:avLst>
          </a:prstGeom>
          <a:solidFill>
            <a:srgbClr val="F7F9FC"/>
          </a:solidFill>
          <a:ln/>
        </p:spPr>
        <p:txBody>
          <a:bodyPr/>
          <a:p/>
        </p:txBody>
      </p:sp>
      <p:sp>
        <p:nvSpPr>
          <p:cNvPr id="17" name="Text 13"/>
          <p:cNvSpPr txBox="1"/>
          <p:nvPr/>
        </p:nvSpPr>
        <p:spPr>
          <a:xfrm>
            <a:off x="3630168" y="1920240"/>
            <a:ext cx="2185416" cy="329184"/>
          </a:xfrm>
          <a:prstGeom prst="rect">
            <a:avLst/>
          </a:prstGeom>
          <a:noFill/>
          <a:ln/>
        </p:spPr>
        <p:txBody>
          <a:bodyPr wrap="square" lIns="0" tIns="0" rIns="0" bIns="0" rtlCol="0" anchor="t"/>
          <a:lstStyle/>
          <a:p>
            <a:pPr indent="0" marL="0">
              <a:buNone/>
            </a:pPr>
            <a:r>
              <a:rPr lang="en-US" sz="1400" dirty="0">
                <a:solidFill>
                  <a:srgbClr val="2C3FB0"/>
                </a:solidFill>
                <a:latin typeface="Poppins SemiBold" pitchFamily="34" charset="0"/>
                <a:ea typeface="Poppins SemiBold" pitchFamily="34" charset="-122"/>
                <a:cs typeface="Poppins SemiBold" pitchFamily="34" charset="-120"/>
              </a:rPr>
              <a:t>qa-suite-impact</a:t>
            </a:r>
            <a:endParaRPr lang="en-US" sz="1400" dirty="0"/>
          </a:p>
        </p:txBody>
      </p:sp>
      <p:sp>
        <p:nvSpPr>
          <p:cNvPr id="18" name="Shape 14"/>
          <p:cNvSpPr/>
          <p:nvPr/>
        </p:nvSpPr>
        <p:spPr>
          <a:xfrm>
            <a:off x="3630168" y="2304288"/>
            <a:ext cx="749808" cy="256032"/>
          </a:xfrm>
          <a:prstGeom prst="roundRect">
            <a:avLst>
              <a:gd name="adj" fmla="val 50000"/>
            </a:avLst>
          </a:prstGeom>
          <a:solidFill>
            <a:srgbClr val="FFFFFF"/>
          </a:solidFill>
          <a:ln/>
        </p:spPr>
        <p:txBody>
          <a:bodyPr/>
          <a:p/>
        </p:txBody>
      </p:sp>
      <p:sp>
        <p:nvSpPr>
          <p:cNvPr id="19" name="Text 15"/>
          <p:cNvSpPr txBox="1"/>
          <p:nvPr/>
        </p:nvSpPr>
        <p:spPr>
          <a:xfrm>
            <a:off x="3630168" y="2304288"/>
            <a:ext cx="749808" cy="256032"/>
          </a:xfrm>
          <a:prstGeom prst="rect">
            <a:avLst/>
          </a:prstGeom>
          <a:noFill/>
          <a:ln/>
        </p:spPr>
        <p:txBody>
          <a:bodyPr wrap="square" lIns="0" tIns="0" rIns="0" bIns="0" rtlCol="0" anchor="ctr"/>
          <a:lstStyle/>
          <a:p>
            <a:pPr algn="ctr" indent="0" marL="0">
              <a:buNone/>
            </a:pPr>
            <a:r>
              <a:rPr lang="en-US" sz="950" dirty="0">
                <a:solidFill>
                  <a:srgbClr val="405AE7"/>
                </a:solidFill>
                <a:latin typeface="Poppins SemiBold" pitchFamily="34" charset="0"/>
                <a:ea typeface="Poppins SemiBold" pitchFamily="34" charset="-122"/>
                <a:cs typeface="Poppins SemiBold" pitchFamily="34" charset="-120"/>
              </a:rPr>
              <a:t>sonnet</a:t>
            </a:r>
            <a:endParaRPr lang="en-US" sz="950" dirty="0"/>
          </a:p>
        </p:txBody>
      </p:sp>
      <p:sp>
        <p:nvSpPr>
          <p:cNvPr id="20" name="Text 16"/>
          <p:cNvSpPr txBox="1"/>
          <p:nvPr/>
        </p:nvSpPr>
        <p:spPr>
          <a:xfrm>
            <a:off x="3630168" y="2670048"/>
            <a:ext cx="2185416"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Ticket-driven: which existing tests to update, add or delete. Every item cites an AC.</a:t>
            </a:r>
            <a:endParaRPr lang="en-US" sz="1100" dirty="0"/>
          </a:p>
        </p:txBody>
      </p:sp>
      <p:sp>
        <p:nvSpPr>
          <p:cNvPr id="21" name="Shape 17"/>
          <p:cNvSpPr/>
          <p:nvPr/>
        </p:nvSpPr>
        <p:spPr>
          <a:xfrm>
            <a:off x="6172200" y="1737360"/>
            <a:ext cx="2587752" cy="1965960"/>
          </a:xfrm>
          <a:prstGeom prst="roundRect">
            <a:avLst>
              <a:gd name="adj" fmla="val 2791"/>
            </a:avLst>
          </a:prstGeom>
          <a:solidFill>
            <a:srgbClr val="F7F9FC"/>
          </a:solidFill>
          <a:ln/>
        </p:spPr>
        <p:txBody>
          <a:bodyPr/>
          <a:p/>
        </p:txBody>
      </p:sp>
      <p:sp>
        <p:nvSpPr>
          <p:cNvPr id="22" name="Text 18"/>
          <p:cNvSpPr txBox="1"/>
          <p:nvPr/>
        </p:nvSpPr>
        <p:spPr>
          <a:xfrm>
            <a:off x="6373368" y="1920240"/>
            <a:ext cx="2185416" cy="329184"/>
          </a:xfrm>
          <a:prstGeom prst="rect">
            <a:avLst/>
          </a:prstGeom>
          <a:noFill/>
          <a:ln/>
        </p:spPr>
        <p:txBody>
          <a:bodyPr wrap="square" lIns="0" tIns="0" rIns="0" bIns="0" rtlCol="0" anchor="t"/>
          <a:lstStyle/>
          <a:p>
            <a:pPr indent="0" marL="0">
              <a:buNone/>
            </a:pPr>
            <a:r>
              <a:rPr lang="en-US" sz="1400" dirty="0">
                <a:solidFill>
                  <a:srgbClr val="2C3FB0"/>
                </a:solidFill>
                <a:latin typeface="Poppins SemiBold" pitchFamily="34" charset="0"/>
                <a:ea typeface="Poppins SemiBold" pitchFamily="34" charset="-122"/>
                <a:cs typeface="Poppins SemiBold" pitchFamily="34" charset="-120"/>
              </a:rPr>
              <a:t>qa-change-analyst</a:t>
            </a:r>
            <a:endParaRPr lang="en-US" sz="1400" dirty="0"/>
          </a:p>
        </p:txBody>
      </p:sp>
      <p:sp>
        <p:nvSpPr>
          <p:cNvPr id="23" name="Shape 19"/>
          <p:cNvSpPr/>
          <p:nvPr/>
        </p:nvSpPr>
        <p:spPr>
          <a:xfrm>
            <a:off x="6373368" y="2304288"/>
            <a:ext cx="749808" cy="256032"/>
          </a:xfrm>
          <a:prstGeom prst="roundRect">
            <a:avLst>
              <a:gd name="adj" fmla="val 50000"/>
            </a:avLst>
          </a:prstGeom>
          <a:solidFill>
            <a:srgbClr val="FFFFFF"/>
          </a:solidFill>
          <a:ln/>
        </p:spPr>
        <p:txBody>
          <a:bodyPr/>
          <a:p/>
        </p:txBody>
      </p:sp>
      <p:sp>
        <p:nvSpPr>
          <p:cNvPr id="24" name="Text 20"/>
          <p:cNvSpPr txBox="1"/>
          <p:nvPr/>
        </p:nvSpPr>
        <p:spPr>
          <a:xfrm>
            <a:off x="6373368" y="2304288"/>
            <a:ext cx="749808" cy="256032"/>
          </a:xfrm>
          <a:prstGeom prst="rect">
            <a:avLst/>
          </a:prstGeom>
          <a:noFill/>
          <a:ln/>
        </p:spPr>
        <p:txBody>
          <a:bodyPr wrap="square" lIns="0" tIns="0" rIns="0" bIns="0" rtlCol="0" anchor="ctr"/>
          <a:lstStyle/>
          <a:p>
            <a:pPr algn="ctr" indent="0" marL="0">
              <a:buNone/>
            </a:pPr>
            <a:r>
              <a:rPr lang="en-US" sz="950" dirty="0">
                <a:solidFill>
                  <a:srgbClr val="405AE7"/>
                </a:solidFill>
                <a:latin typeface="Poppins SemiBold" pitchFamily="34" charset="0"/>
                <a:ea typeface="Poppins SemiBold" pitchFamily="34" charset="-122"/>
                <a:cs typeface="Poppins SemiBold" pitchFamily="34" charset="-120"/>
              </a:rPr>
              <a:t>sonnet</a:t>
            </a:r>
            <a:endParaRPr lang="en-US" sz="950" dirty="0"/>
          </a:p>
        </p:txBody>
      </p:sp>
      <p:sp>
        <p:nvSpPr>
          <p:cNvPr id="25" name="Text 21"/>
          <p:cNvSpPr txBox="1"/>
          <p:nvPr/>
        </p:nvSpPr>
        <p:spPr>
          <a:xfrm>
            <a:off x="6373368" y="2670048"/>
            <a:ext cx="2185416"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Code-driven: changed behaviour no test covers → extra scenarios. Runs in parallel with suite-impact.</a:t>
            </a:r>
            <a:endParaRPr lang="en-US" sz="1100" dirty="0"/>
          </a:p>
        </p:txBody>
      </p:sp>
      <p:sp>
        <p:nvSpPr>
          <p:cNvPr id="26" name="Shape 22"/>
          <p:cNvSpPr/>
          <p:nvPr/>
        </p:nvSpPr>
        <p:spPr>
          <a:xfrm>
            <a:off x="8915400" y="1737360"/>
            <a:ext cx="2587752" cy="1965960"/>
          </a:xfrm>
          <a:prstGeom prst="roundRect">
            <a:avLst>
              <a:gd name="adj" fmla="val 2791"/>
            </a:avLst>
          </a:prstGeom>
          <a:solidFill>
            <a:srgbClr val="F1ECF8"/>
          </a:solidFill>
          <a:ln/>
        </p:spPr>
        <p:txBody>
          <a:bodyPr/>
          <a:p/>
        </p:txBody>
      </p:sp>
      <p:sp>
        <p:nvSpPr>
          <p:cNvPr id="27" name="Text 23"/>
          <p:cNvSpPr txBox="1"/>
          <p:nvPr/>
        </p:nvSpPr>
        <p:spPr>
          <a:xfrm>
            <a:off x="9116568" y="1920240"/>
            <a:ext cx="2185416" cy="329184"/>
          </a:xfrm>
          <a:prstGeom prst="rect">
            <a:avLst/>
          </a:prstGeom>
          <a:noFill/>
          <a:ln/>
        </p:spPr>
        <p:txBody>
          <a:bodyPr wrap="square" lIns="0" tIns="0" rIns="0" bIns="0" rtlCol="0" anchor="t"/>
          <a:lstStyle/>
          <a:p>
            <a:pPr indent="0" marL="0">
              <a:buNone/>
            </a:pPr>
            <a:r>
              <a:rPr lang="en-US" sz="1400" dirty="0">
                <a:solidFill>
                  <a:srgbClr val="7B5EA7"/>
                </a:solidFill>
                <a:latin typeface="Poppins SemiBold" pitchFamily="34" charset="0"/>
                <a:ea typeface="Poppins SemiBold" pitchFamily="34" charset="-122"/>
                <a:cs typeface="Poppins SemiBold" pitchFamily="34" charset="-120"/>
              </a:rPr>
              <a:t>qa-critic</a:t>
            </a:r>
            <a:endParaRPr lang="en-US" sz="1400" dirty="0"/>
          </a:p>
        </p:txBody>
      </p:sp>
      <p:sp>
        <p:nvSpPr>
          <p:cNvPr id="28" name="Shape 24"/>
          <p:cNvSpPr/>
          <p:nvPr/>
        </p:nvSpPr>
        <p:spPr>
          <a:xfrm>
            <a:off x="9116568" y="2304288"/>
            <a:ext cx="749808" cy="256032"/>
          </a:xfrm>
          <a:prstGeom prst="roundRect">
            <a:avLst>
              <a:gd name="adj" fmla="val 50000"/>
            </a:avLst>
          </a:prstGeom>
          <a:solidFill>
            <a:srgbClr val="FFFFFF"/>
          </a:solidFill>
          <a:ln/>
        </p:spPr>
        <p:txBody>
          <a:bodyPr/>
          <a:p/>
        </p:txBody>
      </p:sp>
      <p:sp>
        <p:nvSpPr>
          <p:cNvPr id="29" name="Text 25"/>
          <p:cNvSpPr txBox="1"/>
          <p:nvPr/>
        </p:nvSpPr>
        <p:spPr>
          <a:xfrm>
            <a:off x="9116568" y="2304288"/>
            <a:ext cx="749808" cy="256032"/>
          </a:xfrm>
          <a:prstGeom prst="rect">
            <a:avLst/>
          </a:prstGeom>
          <a:noFill/>
          <a:ln/>
        </p:spPr>
        <p:txBody>
          <a:bodyPr wrap="square" lIns="0" tIns="0" rIns="0" bIns="0" rtlCol="0" anchor="ctr"/>
          <a:lstStyle/>
          <a:p>
            <a:pPr algn="ctr" indent="0" marL="0">
              <a:buNone/>
            </a:pPr>
            <a:r>
              <a:rPr lang="en-US" sz="950" dirty="0">
                <a:solidFill>
                  <a:srgbClr val="7B5EA7"/>
                </a:solidFill>
                <a:latin typeface="Poppins SemiBold" pitchFamily="34" charset="0"/>
                <a:ea typeface="Poppins SemiBold" pitchFamily="34" charset="-122"/>
                <a:cs typeface="Poppins SemiBold" pitchFamily="34" charset="-120"/>
              </a:rPr>
              <a:t>opus</a:t>
            </a:r>
            <a:endParaRPr lang="en-US" sz="950" dirty="0"/>
          </a:p>
        </p:txBody>
      </p:sp>
      <p:sp>
        <p:nvSpPr>
          <p:cNvPr id="30" name="Text 26"/>
          <p:cNvSpPr txBox="1"/>
          <p:nvPr/>
        </p:nvSpPr>
        <p:spPr>
          <a:xfrm>
            <a:off x="9116568" y="2670048"/>
            <a:ext cx="2185416"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Skeptical review of the merged plan: every AC covered, no update weakens a test. Approve or revise.</a:t>
            </a:r>
            <a:endParaRPr lang="en-US" sz="1100" dirty="0"/>
          </a:p>
        </p:txBody>
      </p:sp>
      <p:sp>
        <p:nvSpPr>
          <p:cNvPr id="31" name="Shape 27"/>
          <p:cNvSpPr/>
          <p:nvPr/>
        </p:nvSpPr>
        <p:spPr>
          <a:xfrm>
            <a:off x="685800" y="3886200"/>
            <a:ext cx="3511296" cy="1965960"/>
          </a:xfrm>
          <a:prstGeom prst="roundRect">
            <a:avLst>
              <a:gd name="adj" fmla="val 2791"/>
            </a:avLst>
          </a:prstGeom>
          <a:solidFill>
            <a:srgbClr val="F7F9FC"/>
          </a:solidFill>
          <a:ln/>
        </p:spPr>
        <p:txBody>
          <a:bodyPr/>
          <a:p/>
        </p:txBody>
      </p:sp>
      <p:sp>
        <p:nvSpPr>
          <p:cNvPr id="32" name="Text 28"/>
          <p:cNvSpPr txBox="1"/>
          <p:nvPr/>
        </p:nvSpPr>
        <p:spPr>
          <a:xfrm>
            <a:off x="886968" y="4069080"/>
            <a:ext cx="3108960" cy="329184"/>
          </a:xfrm>
          <a:prstGeom prst="rect">
            <a:avLst/>
          </a:prstGeom>
          <a:noFill/>
          <a:ln/>
        </p:spPr>
        <p:txBody>
          <a:bodyPr wrap="square" lIns="0" tIns="0" rIns="0" bIns="0" rtlCol="0" anchor="t"/>
          <a:lstStyle/>
          <a:p>
            <a:pPr indent="0" marL="0">
              <a:buNone/>
            </a:pPr>
            <a:r>
              <a:rPr lang="en-US" sz="1400" dirty="0">
                <a:solidFill>
                  <a:srgbClr val="2C3FB0"/>
                </a:solidFill>
                <a:latin typeface="Poppins SemiBold" pitchFamily="34" charset="0"/>
                <a:ea typeface="Poppins SemiBold" pitchFamily="34" charset="-122"/>
                <a:cs typeface="Poppins SemiBold" pitchFamily="34" charset="-120"/>
              </a:rPr>
              <a:t>qa-test-author</a:t>
            </a:r>
            <a:endParaRPr lang="en-US" sz="1400" dirty="0"/>
          </a:p>
        </p:txBody>
      </p:sp>
      <p:sp>
        <p:nvSpPr>
          <p:cNvPr id="33" name="Shape 29"/>
          <p:cNvSpPr/>
          <p:nvPr/>
        </p:nvSpPr>
        <p:spPr>
          <a:xfrm>
            <a:off x="886968" y="4453128"/>
            <a:ext cx="749808" cy="256032"/>
          </a:xfrm>
          <a:prstGeom prst="roundRect">
            <a:avLst>
              <a:gd name="adj" fmla="val 50000"/>
            </a:avLst>
          </a:prstGeom>
          <a:solidFill>
            <a:srgbClr val="FFFFFF"/>
          </a:solidFill>
          <a:ln/>
        </p:spPr>
        <p:txBody>
          <a:bodyPr/>
          <a:p/>
        </p:txBody>
      </p:sp>
      <p:sp>
        <p:nvSpPr>
          <p:cNvPr id="34" name="Text 30"/>
          <p:cNvSpPr txBox="1"/>
          <p:nvPr/>
        </p:nvSpPr>
        <p:spPr>
          <a:xfrm>
            <a:off x="886968" y="4453128"/>
            <a:ext cx="749808" cy="256032"/>
          </a:xfrm>
          <a:prstGeom prst="rect">
            <a:avLst/>
          </a:prstGeom>
          <a:noFill/>
          <a:ln/>
        </p:spPr>
        <p:txBody>
          <a:bodyPr wrap="square" lIns="0" tIns="0" rIns="0" bIns="0" rtlCol="0" anchor="ctr"/>
          <a:lstStyle/>
          <a:p>
            <a:pPr algn="ctr" indent="0" marL="0">
              <a:buNone/>
            </a:pPr>
            <a:r>
              <a:rPr lang="en-US" sz="950" dirty="0">
                <a:solidFill>
                  <a:srgbClr val="405AE7"/>
                </a:solidFill>
                <a:latin typeface="Poppins SemiBold" pitchFamily="34" charset="0"/>
                <a:ea typeface="Poppins SemiBold" pitchFamily="34" charset="-122"/>
                <a:cs typeface="Poppins SemiBold" pitchFamily="34" charset="-120"/>
              </a:rPr>
              <a:t>sonnet</a:t>
            </a:r>
            <a:endParaRPr lang="en-US" sz="950" dirty="0"/>
          </a:p>
        </p:txBody>
      </p:sp>
      <p:sp>
        <p:nvSpPr>
          <p:cNvPr id="35" name="Text 31"/>
          <p:cNvSpPr txBox="1"/>
          <p:nvPr/>
        </p:nvSpPr>
        <p:spPr>
          <a:xfrm>
            <a:off x="886968" y="4818888"/>
            <a:ext cx="3108960"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The only one allowed to write: applies the approved changes, writes new UI and API specs, self-checks them.</a:t>
            </a:r>
            <a:endParaRPr lang="en-US" sz="1100" dirty="0"/>
          </a:p>
        </p:txBody>
      </p:sp>
      <p:sp>
        <p:nvSpPr>
          <p:cNvPr id="36" name="Shape 32"/>
          <p:cNvSpPr/>
          <p:nvPr/>
        </p:nvSpPr>
        <p:spPr>
          <a:xfrm>
            <a:off x="4338828" y="3886200"/>
            <a:ext cx="3511296" cy="1965960"/>
          </a:xfrm>
          <a:prstGeom prst="roundRect">
            <a:avLst>
              <a:gd name="adj" fmla="val 2791"/>
            </a:avLst>
          </a:prstGeom>
          <a:solidFill>
            <a:srgbClr val="F7F9FC"/>
          </a:solidFill>
          <a:ln/>
        </p:spPr>
        <p:txBody>
          <a:bodyPr/>
          <a:p/>
        </p:txBody>
      </p:sp>
      <p:sp>
        <p:nvSpPr>
          <p:cNvPr id="37" name="Text 33"/>
          <p:cNvSpPr txBox="1"/>
          <p:nvPr/>
        </p:nvSpPr>
        <p:spPr>
          <a:xfrm>
            <a:off x="4539996" y="4069080"/>
            <a:ext cx="3108960" cy="329184"/>
          </a:xfrm>
          <a:prstGeom prst="rect">
            <a:avLst/>
          </a:prstGeom>
          <a:noFill/>
          <a:ln/>
        </p:spPr>
        <p:txBody>
          <a:bodyPr wrap="square" lIns="0" tIns="0" rIns="0" bIns="0" rtlCol="0" anchor="t"/>
          <a:lstStyle/>
          <a:p>
            <a:pPr indent="0" marL="0">
              <a:buNone/>
            </a:pPr>
            <a:r>
              <a:rPr lang="en-US" sz="1400" dirty="0">
                <a:solidFill>
                  <a:srgbClr val="2C3FB0"/>
                </a:solidFill>
                <a:latin typeface="Poppins SemiBold" pitchFamily="34" charset="0"/>
                <a:ea typeface="Poppins SemiBold" pitchFamily="34" charset="-122"/>
                <a:cs typeface="Poppins SemiBold" pitchFamily="34" charset="-120"/>
              </a:rPr>
              <a:t>qa-triage</a:t>
            </a:r>
            <a:endParaRPr lang="en-US" sz="1400" dirty="0"/>
          </a:p>
        </p:txBody>
      </p:sp>
      <p:sp>
        <p:nvSpPr>
          <p:cNvPr id="38" name="Shape 34"/>
          <p:cNvSpPr/>
          <p:nvPr/>
        </p:nvSpPr>
        <p:spPr>
          <a:xfrm>
            <a:off x="4539996" y="4453128"/>
            <a:ext cx="749808" cy="256032"/>
          </a:xfrm>
          <a:prstGeom prst="roundRect">
            <a:avLst>
              <a:gd name="adj" fmla="val 50000"/>
            </a:avLst>
          </a:prstGeom>
          <a:solidFill>
            <a:srgbClr val="FFFFFF"/>
          </a:solidFill>
          <a:ln/>
        </p:spPr>
        <p:txBody>
          <a:bodyPr/>
          <a:p/>
        </p:txBody>
      </p:sp>
      <p:sp>
        <p:nvSpPr>
          <p:cNvPr id="39" name="Text 35"/>
          <p:cNvSpPr txBox="1"/>
          <p:nvPr/>
        </p:nvSpPr>
        <p:spPr>
          <a:xfrm>
            <a:off x="4539996" y="4453128"/>
            <a:ext cx="749808" cy="256032"/>
          </a:xfrm>
          <a:prstGeom prst="rect">
            <a:avLst/>
          </a:prstGeom>
          <a:noFill/>
          <a:ln/>
        </p:spPr>
        <p:txBody>
          <a:bodyPr wrap="square" lIns="0" tIns="0" rIns="0" bIns="0" rtlCol="0" anchor="ctr"/>
          <a:lstStyle/>
          <a:p>
            <a:pPr algn="ctr" indent="0" marL="0">
              <a:buNone/>
            </a:pPr>
            <a:r>
              <a:rPr lang="en-US" sz="950" dirty="0">
                <a:solidFill>
                  <a:srgbClr val="405AE7"/>
                </a:solidFill>
                <a:latin typeface="Poppins SemiBold" pitchFamily="34" charset="0"/>
                <a:ea typeface="Poppins SemiBold" pitchFamily="34" charset="-122"/>
                <a:cs typeface="Poppins SemiBold" pitchFamily="34" charset="-120"/>
              </a:rPr>
              <a:t>sonnet</a:t>
            </a:r>
            <a:endParaRPr lang="en-US" sz="950" dirty="0"/>
          </a:p>
        </p:txBody>
      </p:sp>
      <p:sp>
        <p:nvSpPr>
          <p:cNvPr id="40" name="Text 36"/>
          <p:cNvSpPr txBox="1"/>
          <p:nvPr/>
        </p:nvSpPr>
        <p:spPr>
          <a:xfrm>
            <a:off x="4539996" y="4818888"/>
            <a:ext cx="3108960"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Classifies every failure with evidence: defect, flaky, env, test-bug, test-outdated, pre-existing, unknown.</a:t>
            </a:r>
            <a:endParaRPr lang="en-US" sz="1100" dirty="0"/>
          </a:p>
        </p:txBody>
      </p:sp>
      <p:sp>
        <p:nvSpPr>
          <p:cNvPr id="41" name="Shape 37"/>
          <p:cNvSpPr/>
          <p:nvPr/>
        </p:nvSpPr>
        <p:spPr>
          <a:xfrm>
            <a:off x="7991856" y="3886200"/>
            <a:ext cx="3511296" cy="1965960"/>
          </a:xfrm>
          <a:prstGeom prst="roundRect">
            <a:avLst>
              <a:gd name="adj" fmla="val 2791"/>
            </a:avLst>
          </a:prstGeom>
          <a:solidFill>
            <a:srgbClr val="F1ECF8"/>
          </a:solidFill>
          <a:ln/>
        </p:spPr>
        <p:txBody>
          <a:bodyPr/>
          <a:p/>
        </p:txBody>
      </p:sp>
      <p:sp>
        <p:nvSpPr>
          <p:cNvPr id="42" name="Text 38"/>
          <p:cNvSpPr txBox="1"/>
          <p:nvPr/>
        </p:nvSpPr>
        <p:spPr>
          <a:xfrm>
            <a:off x="8193024" y="4069080"/>
            <a:ext cx="3108960" cy="329184"/>
          </a:xfrm>
          <a:prstGeom prst="rect">
            <a:avLst/>
          </a:prstGeom>
          <a:noFill/>
          <a:ln/>
        </p:spPr>
        <p:txBody>
          <a:bodyPr wrap="square" lIns="0" tIns="0" rIns="0" bIns="0" rtlCol="0" anchor="t"/>
          <a:lstStyle/>
          <a:p>
            <a:pPr indent="0" marL="0">
              <a:buNone/>
            </a:pPr>
            <a:r>
              <a:rPr lang="en-US" sz="1400" dirty="0">
                <a:solidFill>
                  <a:srgbClr val="7B5EA7"/>
                </a:solidFill>
                <a:latin typeface="Poppins SemiBold" pitchFamily="34" charset="0"/>
                <a:ea typeface="Poppins SemiBold" pitchFamily="34" charset="-122"/>
                <a:cs typeface="Poppins SemiBold" pitchFamily="34" charset="-120"/>
              </a:rPr>
              <a:t>qa-feedback</a:t>
            </a:r>
            <a:endParaRPr lang="en-US" sz="1400" dirty="0"/>
          </a:p>
        </p:txBody>
      </p:sp>
      <p:sp>
        <p:nvSpPr>
          <p:cNvPr id="43" name="Shape 39"/>
          <p:cNvSpPr/>
          <p:nvPr/>
        </p:nvSpPr>
        <p:spPr>
          <a:xfrm>
            <a:off x="8193024" y="4453128"/>
            <a:ext cx="749808" cy="256032"/>
          </a:xfrm>
          <a:prstGeom prst="roundRect">
            <a:avLst>
              <a:gd name="adj" fmla="val 50000"/>
            </a:avLst>
          </a:prstGeom>
          <a:solidFill>
            <a:srgbClr val="FFFFFF"/>
          </a:solidFill>
          <a:ln/>
        </p:spPr>
        <p:txBody>
          <a:bodyPr/>
          <a:p/>
        </p:txBody>
      </p:sp>
      <p:sp>
        <p:nvSpPr>
          <p:cNvPr id="44" name="Text 40"/>
          <p:cNvSpPr txBox="1"/>
          <p:nvPr/>
        </p:nvSpPr>
        <p:spPr>
          <a:xfrm>
            <a:off x="8193024" y="4453128"/>
            <a:ext cx="749808" cy="256032"/>
          </a:xfrm>
          <a:prstGeom prst="rect">
            <a:avLst/>
          </a:prstGeom>
          <a:noFill/>
          <a:ln/>
        </p:spPr>
        <p:txBody>
          <a:bodyPr wrap="square" lIns="0" tIns="0" rIns="0" bIns="0" rtlCol="0" anchor="ctr"/>
          <a:lstStyle/>
          <a:p>
            <a:pPr algn="ctr" indent="0" marL="0">
              <a:buNone/>
            </a:pPr>
            <a:r>
              <a:rPr lang="en-US" sz="950" dirty="0">
                <a:solidFill>
                  <a:srgbClr val="7B5EA7"/>
                </a:solidFill>
                <a:latin typeface="Poppins SemiBold" pitchFamily="34" charset="0"/>
                <a:ea typeface="Poppins SemiBold" pitchFamily="34" charset="-122"/>
                <a:cs typeface="Poppins SemiBold" pitchFamily="34" charset="-120"/>
              </a:rPr>
              <a:t>opus</a:t>
            </a:r>
            <a:endParaRPr lang="en-US" sz="950" dirty="0"/>
          </a:p>
        </p:txBody>
      </p:sp>
      <p:sp>
        <p:nvSpPr>
          <p:cNvPr id="45" name="Text 41"/>
          <p:cNvSpPr txBox="1"/>
          <p:nvPr/>
        </p:nvSpPr>
        <p:spPr>
          <a:xfrm>
            <a:off x="8193024" y="4818888"/>
            <a:ext cx="3108960" cy="9601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Writes the human-facing report: what changed and why, AC coverage, defects, recommended verdict.</a:t>
            </a:r>
            <a:endParaRPr lang="en-US" sz="1100" dirty="0"/>
          </a:p>
        </p:txBody>
      </p:sp>
      <p:sp>
        <p:nvSpPr>
          <p:cNvPr id="46" name="Text 42"/>
          <p:cNvSpPr txBox="1"/>
          <p:nvPr/>
        </p:nvSpPr>
        <p:spPr>
          <a:xfrm>
            <a:off x="685800" y="598932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Opus where a wrong call is expensive (the plan review, the verdict); Sonnet for the volume work.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The Flow at a Glance</a:t>
            </a:r>
            <a:endParaRPr lang="en-US" sz="30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15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0" name="Shape 6"/>
          <p:cNvSpPr/>
          <p:nvPr/>
        </p:nvSpPr>
        <p:spPr>
          <a:xfrm>
            <a:off x="685800" y="1691640"/>
            <a:ext cx="1600200" cy="914400"/>
          </a:xfrm>
          <a:prstGeom prst="roundRect">
            <a:avLst>
              <a:gd name="adj" fmla="val 6000"/>
            </a:avLst>
          </a:prstGeom>
          <a:solidFill>
            <a:srgbClr val="F7F9FC"/>
          </a:solidFill>
          <a:ln w="12700">
            <a:solidFill>
              <a:srgbClr val="DDDDDD"/>
            </a:solidFill>
            <a:prstDash val="solid"/>
          </a:ln>
        </p:spPr>
        <p:txBody>
          <a:bodyPr/>
          <a:p/>
        </p:txBody>
      </p:sp>
      <p:sp>
        <p:nvSpPr>
          <p:cNvPr id="11" name="Text 7"/>
          <p:cNvSpPr txBox="1"/>
          <p:nvPr/>
        </p:nvSpPr>
        <p:spPr>
          <a:xfrm>
            <a:off x="758952" y="1764792"/>
            <a:ext cx="1453896" cy="292608"/>
          </a:xfrm>
          <a:prstGeom prst="rect">
            <a:avLst/>
          </a:prstGeom>
          <a:noFill/>
          <a:ln/>
        </p:spPr>
        <p:txBody>
          <a:bodyPr wrap="square" lIns="0" tIns="0" rIns="0" bIns="0" rtlCol="0" anchor="t"/>
          <a:lstStyle/>
          <a:p>
            <a:pPr algn="ctr" indent="0" marL="0">
              <a:buNone/>
            </a:pPr>
            <a:r>
              <a:rPr lang="en-US" sz="1150" dirty="0">
                <a:solidFill>
                  <a:srgbClr val="1A1A1A"/>
                </a:solidFill>
                <a:latin typeface="Poppins SemiBold" pitchFamily="34" charset="0"/>
                <a:ea typeface="Poppins SemiBold" pitchFamily="34" charset="-122"/>
                <a:cs typeface="Poppins SemiBold" pitchFamily="34" charset="-120"/>
              </a:rPr>
              <a:t>Preflight</a:t>
            </a:r>
            <a:endParaRPr lang="en-US" sz="1150" dirty="0"/>
          </a:p>
        </p:txBody>
      </p:sp>
      <p:sp>
        <p:nvSpPr>
          <p:cNvPr id="12" name="Text 8"/>
          <p:cNvSpPr txBox="1"/>
          <p:nvPr/>
        </p:nvSpPr>
        <p:spPr>
          <a:xfrm>
            <a:off x="758952" y="2057400"/>
            <a:ext cx="145389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worktree · QA stack · SHA proof</a:t>
            </a:r>
            <a:endParaRPr lang="en-US" sz="900" dirty="0"/>
          </a:p>
        </p:txBody>
      </p:sp>
      <p:sp>
        <p:nvSpPr>
          <p:cNvPr id="13" name="Shape 9"/>
          <p:cNvSpPr/>
          <p:nvPr/>
        </p:nvSpPr>
        <p:spPr>
          <a:xfrm>
            <a:off x="2606040" y="1691640"/>
            <a:ext cx="1417320" cy="914400"/>
          </a:xfrm>
          <a:prstGeom prst="roundRect">
            <a:avLst>
              <a:gd name="adj" fmla="val 6000"/>
            </a:avLst>
          </a:prstGeom>
          <a:solidFill>
            <a:srgbClr val="EEF0FF"/>
          </a:solidFill>
          <a:ln w="12700">
            <a:solidFill>
              <a:srgbClr val="C9D6F5"/>
            </a:solidFill>
            <a:prstDash val="solid"/>
          </a:ln>
        </p:spPr>
        <p:txBody>
          <a:bodyPr/>
          <a:p/>
        </p:txBody>
      </p:sp>
      <p:sp>
        <p:nvSpPr>
          <p:cNvPr id="14" name="Text 10"/>
          <p:cNvSpPr txBox="1"/>
          <p:nvPr/>
        </p:nvSpPr>
        <p:spPr>
          <a:xfrm>
            <a:off x="2679192" y="1764792"/>
            <a:ext cx="1271016" cy="292608"/>
          </a:xfrm>
          <a:prstGeom prst="rect">
            <a:avLst/>
          </a:prstGeom>
          <a:noFill/>
          <a:ln/>
        </p:spPr>
        <p:txBody>
          <a:bodyPr wrap="square" lIns="0" tIns="0" rIns="0" bIns="0" rtlCol="0" anchor="t"/>
          <a:lstStyle/>
          <a:p>
            <a:pPr algn="ctr" indent="0" marL="0">
              <a:buNone/>
            </a:pPr>
            <a:r>
              <a:rPr lang="en-US" sz="1150" dirty="0">
                <a:solidFill>
                  <a:srgbClr val="2C3FB0"/>
                </a:solidFill>
                <a:latin typeface="Poppins SemiBold" pitchFamily="34" charset="0"/>
                <a:ea typeface="Poppins SemiBold" pitchFamily="34" charset="-122"/>
                <a:cs typeface="Poppins SemiBold" pitchFamily="34" charset="-120"/>
              </a:rPr>
              <a:t>Understand</a:t>
            </a:r>
            <a:endParaRPr lang="en-US" sz="1150" dirty="0"/>
          </a:p>
        </p:txBody>
      </p:sp>
      <p:sp>
        <p:nvSpPr>
          <p:cNvPr id="15" name="Text 11"/>
          <p:cNvSpPr txBox="1"/>
          <p:nvPr/>
        </p:nvSpPr>
        <p:spPr>
          <a:xfrm>
            <a:off x="2679192" y="2057400"/>
            <a:ext cx="127101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qa-intake</a:t>
            </a:r>
            <a:endParaRPr lang="en-US" sz="900" dirty="0"/>
          </a:p>
        </p:txBody>
      </p:sp>
      <p:sp>
        <p:nvSpPr>
          <p:cNvPr id="16" name="Shape 12"/>
          <p:cNvSpPr/>
          <p:nvPr/>
        </p:nvSpPr>
        <p:spPr>
          <a:xfrm>
            <a:off x="4343400" y="1463040"/>
            <a:ext cx="1600200" cy="621792"/>
          </a:xfrm>
          <a:prstGeom prst="roundRect">
            <a:avLst>
              <a:gd name="adj" fmla="val 8824"/>
            </a:avLst>
          </a:prstGeom>
          <a:solidFill>
            <a:srgbClr val="EEF0FF"/>
          </a:solidFill>
          <a:ln w="12700">
            <a:solidFill>
              <a:srgbClr val="C9D6F5"/>
            </a:solidFill>
            <a:prstDash val="solid"/>
          </a:ln>
        </p:spPr>
        <p:txBody>
          <a:bodyPr/>
          <a:p/>
        </p:txBody>
      </p:sp>
      <p:sp>
        <p:nvSpPr>
          <p:cNvPr id="17" name="Text 13"/>
          <p:cNvSpPr txBox="1"/>
          <p:nvPr/>
        </p:nvSpPr>
        <p:spPr>
          <a:xfrm>
            <a:off x="4416552" y="1536192"/>
            <a:ext cx="1453896" cy="292608"/>
          </a:xfrm>
          <a:prstGeom prst="rect">
            <a:avLst/>
          </a:prstGeom>
          <a:noFill/>
          <a:ln/>
        </p:spPr>
        <p:txBody>
          <a:bodyPr wrap="square" lIns="0" tIns="0" rIns="0" bIns="0" rtlCol="0" anchor="t"/>
          <a:lstStyle/>
          <a:p>
            <a:pPr algn="ctr" indent="0" marL="0">
              <a:buNone/>
            </a:pPr>
            <a:r>
              <a:rPr lang="en-US" sz="1150" dirty="0">
                <a:solidFill>
                  <a:srgbClr val="2C3FB0"/>
                </a:solidFill>
                <a:latin typeface="Poppins SemiBold" pitchFamily="34" charset="0"/>
                <a:ea typeface="Poppins SemiBold" pitchFamily="34" charset="-122"/>
                <a:cs typeface="Poppins SemiBold" pitchFamily="34" charset="-120"/>
              </a:rPr>
              <a:t>suite-impact</a:t>
            </a:r>
            <a:endParaRPr lang="en-US" sz="1150" dirty="0"/>
          </a:p>
        </p:txBody>
      </p:sp>
      <p:sp>
        <p:nvSpPr>
          <p:cNvPr id="18" name="Shape 14"/>
          <p:cNvSpPr/>
          <p:nvPr/>
        </p:nvSpPr>
        <p:spPr>
          <a:xfrm>
            <a:off x="4343400" y="2212848"/>
            <a:ext cx="1600200" cy="621792"/>
          </a:xfrm>
          <a:prstGeom prst="roundRect">
            <a:avLst>
              <a:gd name="adj" fmla="val 8824"/>
            </a:avLst>
          </a:prstGeom>
          <a:solidFill>
            <a:srgbClr val="EEF0FF"/>
          </a:solidFill>
          <a:ln w="12700">
            <a:solidFill>
              <a:srgbClr val="C9D6F5"/>
            </a:solidFill>
            <a:prstDash val="solid"/>
          </a:ln>
        </p:spPr>
        <p:txBody>
          <a:bodyPr/>
          <a:p/>
        </p:txBody>
      </p:sp>
      <p:sp>
        <p:nvSpPr>
          <p:cNvPr id="19" name="Text 15"/>
          <p:cNvSpPr txBox="1"/>
          <p:nvPr/>
        </p:nvSpPr>
        <p:spPr>
          <a:xfrm>
            <a:off x="4416552" y="2286000"/>
            <a:ext cx="1453896" cy="292608"/>
          </a:xfrm>
          <a:prstGeom prst="rect">
            <a:avLst/>
          </a:prstGeom>
          <a:noFill/>
          <a:ln/>
        </p:spPr>
        <p:txBody>
          <a:bodyPr wrap="square" lIns="0" tIns="0" rIns="0" bIns="0" rtlCol="0" anchor="t"/>
          <a:lstStyle/>
          <a:p>
            <a:pPr algn="ctr" indent="0" marL="0">
              <a:buNone/>
            </a:pPr>
            <a:r>
              <a:rPr lang="en-US" sz="1150" dirty="0">
                <a:solidFill>
                  <a:srgbClr val="2C3FB0"/>
                </a:solidFill>
                <a:latin typeface="Poppins SemiBold" pitchFamily="34" charset="0"/>
                <a:ea typeface="Poppins SemiBold" pitchFamily="34" charset="-122"/>
                <a:cs typeface="Poppins SemiBold" pitchFamily="34" charset="-120"/>
              </a:rPr>
              <a:t>change-analyst</a:t>
            </a:r>
            <a:endParaRPr lang="en-US" sz="1150" dirty="0"/>
          </a:p>
        </p:txBody>
      </p:sp>
      <p:sp>
        <p:nvSpPr>
          <p:cNvPr id="20" name="Text 16"/>
          <p:cNvSpPr txBox="1"/>
          <p:nvPr/>
        </p:nvSpPr>
        <p:spPr>
          <a:xfrm>
            <a:off x="4343400" y="2880360"/>
            <a:ext cx="1600200" cy="228600"/>
          </a:xfrm>
          <a:prstGeom prst="rect">
            <a:avLst/>
          </a:prstGeom>
          <a:noFill/>
          <a:ln/>
        </p:spPr>
        <p:txBody>
          <a:bodyPr wrap="square" lIns="0" tIns="0" rIns="0" bIns="0" rtlCol="0" anchor="t"/>
          <a:lstStyle/>
          <a:p>
            <a:pPr algn="ctr" indent="0" marL="0">
              <a:buNone/>
            </a:pPr>
            <a:r>
              <a:rPr lang="en-US" sz="900" i="1" dirty="0">
                <a:solidFill>
                  <a:srgbClr val="999999"/>
                </a:solidFill>
                <a:latin typeface="Poppins" pitchFamily="34" charset="0"/>
                <a:ea typeface="Poppins" pitchFamily="34" charset="-122"/>
                <a:cs typeface="Poppins" pitchFamily="34" charset="-120"/>
              </a:rPr>
              <a:t>parallel</a:t>
            </a:r>
            <a:endParaRPr lang="en-US" sz="900" dirty="0"/>
          </a:p>
        </p:txBody>
      </p:sp>
      <p:sp>
        <p:nvSpPr>
          <p:cNvPr id="21" name="Shape 17"/>
          <p:cNvSpPr/>
          <p:nvPr/>
        </p:nvSpPr>
        <p:spPr>
          <a:xfrm>
            <a:off x="6263640" y="1691640"/>
            <a:ext cx="1325880" cy="914400"/>
          </a:xfrm>
          <a:prstGeom prst="roundRect">
            <a:avLst>
              <a:gd name="adj" fmla="val 6000"/>
            </a:avLst>
          </a:prstGeom>
          <a:solidFill>
            <a:srgbClr val="F7F9FC"/>
          </a:solidFill>
          <a:ln w="12700">
            <a:solidFill>
              <a:srgbClr val="DDDDDD"/>
            </a:solidFill>
            <a:prstDash val="solid"/>
          </a:ln>
        </p:spPr>
        <p:txBody>
          <a:bodyPr/>
          <a:p/>
        </p:txBody>
      </p:sp>
      <p:sp>
        <p:nvSpPr>
          <p:cNvPr id="22" name="Text 18"/>
          <p:cNvSpPr txBox="1"/>
          <p:nvPr/>
        </p:nvSpPr>
        <p:spPr>
          <a:xfrm>
            <a:off x="6336792" y="1764792"/>
            <a:ext cx="1179576" cy="292608"/>
          </a:xfrm>
          <a:prstGeom prst="rect">
            <a:avLst/>
          </a:prstGeom>
          <a:noFill/>
          <a:ln/>
        </p:spPr>
        <p:txBody>
          <a:bodyPr wrap="square" lIns="0" tIns="0" rIns="0" bIns="0" rtlCol="0" anchor="t"/>
          <a:lstStyle/>
          <a:p>
            <a:pPr algn="ctr" indent="0" marL="0">
              <a:buNone/>
            </a:pPr>
            <a:r>
              <a:rPr lang="en-US" sz="1150" dirty="0">
                <a:solidFill>
                  <a:srgbClr val="1A1A1A"/>
                </a:solidFill>
                <a:latin typeface="Poppins SemiBold" pitchFamily="34" charset="0"/>
                <a:ea typeface="Poppins SemiBold" pitchFamily="34" charset="-122"/>
                <a:cs typeface="Poppins SemiBold" pitchFamily="34" charset="-120"/>
              </a:rPr>
              <a:t>Merge plan</a:t>
            </a:r>
            <a:endParaRPr lang="en-US" sz="1150" dirty="0"/>
          </a:p>
        </p:txBody>
      </p:sp>
      <p:sp>
        <p:nvSpPr>
          <p:cNvPr id="23" name="Text 19"/>
          <p:cNvSpPr txBox="1"/>
          <p:nvPr/>
        </p:nvSpPr>
        <p:spPr>
          <a:xfrm>
            <a:off x="6336792" y="2057400"/>
            <a:ext cx="117957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merge-plan.mjs</a:t>
            </a:r>
            <a:endParaRPr lang="en-US" sz="900" dirty="0"/>
          </a:p>
        </p:txBody>
      </p:sp>
      <p:sp>
        <p:nvSpPr>
          <p:cNvPr id="24" name="Shape 20"/>
          <p:cNvSpPr/>
          <p:nvPr/>
        </p:nvSpPr>
        <p:spPr>
          <a:xfrm>
            <a:off x="7909560" y="1691640"/>
            <a:ext cx="1417320" cy="914400"/>
          </a:xfrm>
          <a:prstGeom prst="roundRect">
            <a:avLst>
              <a:gd name="adj" fmla="val 6000"/>
            </a:avLst>
          </a:prstGeom>
          <a:solidFill>
            <a:srgbClr val="F1ECF8"/>
          </a:solidFill>
          <a:ln w="12700">
            <a:solidFill>
              <a:srgbClr val="D7CBEA"/>
            </a:solidFill>
            <a:prstDash val="solid"/>
          </a:ln>
        </p:spPr>
        <p:txBody>
          <a:bodyPr/>
          <a:p/>
        </p:txBody>
      </p:sp>
      <p:sp>
        <p:nvSpPr>
          <p:cNvPr id="25" name="Text 21"/>
          <p:cNvSpPr txBox="1"/>
          <p:nvPr/>
        </p:nvSpPr>
        <p:spPr>
          <a:xfrm>
            <a:off x="7982712" y="1764792"/>
            <a:ext cx="1271016" cy="292608"/>
          </a:xfrm>
          <a:prstGeom prst="rect">
            <a:avLst/>
          </a:prstGeom>
          <a:noFill/>
          <a:ln/>
        </p:spPr>
        <p:txBody>
          <a:bodyPr wrap="square" lIns="0" tIns="0" rIns="0" bIns="0" rtlCol="0" anchor="t"/>
          <a:lstStyle/>
          <a:p>
            <a:pPr algn="ctr" indent="0" marL="0">
              <a:buNone/>
            </a:pPr>
            <a:r>
              <a:rPr lang="en-US" sz="1150" dirty="0">
                <a:solidFill>
                  <a:srgbClr val="7B5EA7"/>
                </a:solidFill>
                <a:latin typeface="Poppins SemiBold" pitchFamily="34" charset="0"/>
                <a:ea typeface="Poppins SemiBold" pitchFamily="34" charset="-122"/>
                <a:cs typeface="Poppins SemiBold" pitchFamily="34" charset="-120"/>
              </a:rPr>
              <a:t>Critique</a:t>
            </a:r>
            <a:endParaRPr lang="en-US" sz="1150" dirty="0"/>
          </a:p>
        </p:txBody>
      </p:sp>
      <p:sp>
        <p:nvSpPr>
          <p:cNvPr id="26" name="Text 22"/>
          <p:cNvSpPr txBox="1"/>
          <p:nvPr/>
        </p:nvSpPr>
        <p:spPr>
          <a:xfrm>
            <a:off x="7982712" y="2057400"/>
            <a:ext cx="127101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qa-critic</a:t>
            </a:r>
            <a:endParaRPr lang="en-US" sz="900" dirty="0"/>
          </a:p>
        </p:txBody>
      </p:sp>
      <p:sp>
        <p:nvSpPr>
          <p:cNvPr id="27" name="Shape 23"/>
          <p:cNvSpPr/>
          <p:nvPr/>
        </p:nvSpPr>
        <p:spPr>
          <a:xfrm>
            <a:off x="9646920" y="1691640"/>
            <a:ext cx="1856232" cy="914400"/>
          </a:xfrm>
          <a:prstGeom prst="roundRect">
            <a:avLst>
              <a:gd name="adj" fmla="val 6000"/>
            </a:avLst>
          </a:prstGeom>
          <a:solidFill>
            <a:srgbClr val="2D8C55"/>
          </a:solidFill>
          <a:ln w="12700">
            <a:solidFill>
              <a:srgbClr val="2D8C55"/>
            </a:solidFill>
            <a:prstDash val="solid"/>
          </a:ln>
        </p:spPr>
        <p:txBody>
          <a:bodyPr/>
          <a:p/>
        </p:txBody>
      </p:sp>
      <p:sp>
        <p:nvSpPr>
          <p:cNvPr id="28" name="Text 24"/>
          <p:cNvSpPr txBox="1"/>
          <p:nvPr/>
        </p:nvSpPr>
        <p:spPr>
          <a:xfrm>
            <a:off x="9720072" y="1764792"/>
            <a:ext cx="1709928" cy="292608"/>
          </a:xfrm>
          <a:prstGeom prst="rect">
            <a:avLst/>
          </a:prstGeom>
          <a:noFill/>
          <a:ln/>
        </p:spPr>
        <p:txBody>
          <a:bodyPr wrap="square" lIns="0" tIns="0" rIns="0" bIns="0" rtlCol="0" anchor="t"/>
          <a:lstStyle/>
          <a:p>
            <a:pPr algn="ctr" indent="0" marL="0">
              <a:buNone/>
            </a:pPr>
            <a:r>
              <a:rPr lang="en-US" sz="1150" dirty="0">
                <a:solidFill>
                  <a:srgbClr val="FFFFFF"/>
                </a:solidFill>
                <a:latin typeface="Poppins SemiBold" pitchFamily="34" charset="0"/>
                <a:ea typeface="Poppins SemiBold" pitchFamily="34" charset="-122"/>
                <a:cs typeface="Poppins SemiBold" pitchFamily="34" charset="-120"/>
              </a:rPr>
              <a:t>G2 · Approve plan</a:t>
            </a:r>
            <a:endParaRPr lang="en-US" sz="1150" dirty="0"/>
          </a:p>
        </p:txBody>
      </p:sp>
      <p:sp>
        <p:nvSpPr>
          <p:cNvPr id="29" name="Text 25"/>
          <p:cNvSpPr txBox="1"/>
          <p:nvPr/>
        </p:nvSpPr>
        <p:spPr>
          <a:xfrm>
            <a:off x="9720072" y="2057400"/>
            <a:ext cx="1709928" cy="502920"/>
          </a:xfrm>
          <a:prstGeom prst="rect">
            <a:avLst/>
          </a:prstGeom>
          <a:noFill/>
          <a:ln/>
        </p:spPr>
        <p:txBody>
          <a:bodyPr wrap="square" lIns="0" tIns="0" rIns="0" bIns="0" rtlCol="0" anchor="t"/>
          <a:lstStyle/>
          <a:p>
            <a:pPr algn="ctr" indent="0" marL="0">
              <a:buNone/>
            </a:pPr>
            <a:r>
              <a:rPr lang="en-US" sz="900" dirty="0">
                <a:solidFill>
                  <a:srgbClr val="FFFFFF"/>
                </a:solidFill>
                <a:latin typeface="Poppins" pitchFamily="34" charset="0"/>
                <a:ea typeface="Poppins" pitchFamily="34" charset="-122"/>
                <a:cs typeface="Poppins" pitchFamily="34" charset="-120"/>
              </a:rPr>
              <a:t>every run</a:t>
            </a:r>
            <a:endParaRPr lang="en-US" sz="900" dirty="0"/>
          </a:p>
        </p:txBody>
      </p:sp>
      <p:sp>
        <p:nvSpPr>
          <p:cNvPr id="30" name="Shape 26"/>
          <p:cNvSpPr/>
          <p:nvPr/>
        </p:nvSpPr>
        <p:spPr>
          <a:xfrm>
            <a:off x="2286000" y="2148840"/>
            <a:ext cx="320040" cy="0"/>
          </a:xfrm>
          <a:prstGeom prst="line">
            <a:avLst/>
          </a:prstGeom>
          <a:noFill/>
          <a:ln w="15875">
            <a:solidFill>
              <a:srgbClr val="999999"/>
            </a:solidFill>
            <a:prstDash val="solid"/>
            <a:tailEnd type="triangle"/>
          </a:ln>
        </p:spPr>
        <p:txBody>
          <a:bodyPr/>
          <a:p/>
        </p:txBody>
      </p:sp>
      <p:sp>
        <p:nvSpPr>
          <p:cNvPr id="31" name="Shape 27"/>
          <p:cNvSpPr/>
          <p:nvPr/>
        </p:nvSpPr>
        <p:spPr>
          <a:xfrm flipV="1">
            <a:off x="4023360" y="1773936"/>
            <a:ext cx="320040" cy="374904"/>
          </a:xfrm>
          <a:prstGeom prst="line">
            <a:avLst/>
          </a:prstGeom>
          <a:noFill/>
          <a:ln w="15875">
            <a:solidFill>
              <a:srgbClr val="999999"/>
            </a:solidFill>
            <a:prstDash val="solid"/>
            <a:tailEnd type="triangle"/>
          </a:ln>
        </p:spPr>
        <p:txBody>
          <a:bodyPr/>
          <a:p/>
        </p:txBody>
      </p:sp>
      <p:sp>
        <p:nvSpPr>
          <p:cNvPr id="32" name="Shape 28"/>
          <p:cNvSpPr/>
          <p:nvPr/>
        </p:nvSpPr>
        <p:spPr>
          <a:xfrm>
            <a:off x="4023360" y="2148840"/>
            <a:ext cx="320040" cy="374904"/>
          </a:xfrm>
          <a:prstGeom prst="line">
            <a:avLst/>
          </a:prstGeom>
          <a:noFill/>
          <a:ln w="15875">
            <a:solidFill>
              <a:srgbClr val="999999"/>
            </a:solidFill>
            <a:prstDash val="solid"/>
            <a:tailEnd type="triangle"/>
          </a:ln>
        </p:spPr>
        <p:txBody>
          <a:bodyPr/>
          <a:p/>
        </p:txBody>
      </p:sp>
      <p:sp>
        <p:nvSpPr>
          <p:cNvPr id="33" name="Shape 29"/>
          <p:cNvSpPr/>
          <p:nvPr/>
        </p:nvSpPr>
        <p:spPr>
          <a:xfrm>
            <a:off x="5943600" y="1773936"/>
            <a:ext cx="320040" cy="374904"/>
          </a:xfrm>
          <a:prstGeom prst="line">
            <a:avLst/>
          </a:prstGeom>
          <a:noFill/>
          <a:ln w="15875">
            <a:solidFill>
              <a:srgbClr val="999999"/>
            </a:solidFill>
            <a:prstDash val="solid"/>
            <a:tailEnd type="triangle"/>
          </a:ln>
        </p:spPr>
        <p:txBody>
          <a:bodyPr/>
          <a:p/>
        </p:txBody>
      </p:sp>
      <p:sp>
        <p:nvSpPr>
          <p:cNvPr id="34" name="Shape 30"/>
          <p:cNvSpPr/>
          <p:nvPr/>
        </p:nvSpPr>
        <p:spPr>
          <a:xfrm flipV="1">
            <a:off x="5943600" y="2148840"/>
            <a:ext cx="320040" cy="374904"/>
          </a:xfrm>
          <a:prstGeom prst="line">
            <a:avLst/>
          </a:prstGeom>
          <a:noFill/>
          <a:ln w="15875">
            <a:solidFill>
              <a:srgbClr val="999999"/>
            </a:solidFill>
            <a:prstDash val="solid"/>
            <a:tailEnd type="triangle"/>
          </a:ln>
        </p:spPr>
        <p:txBody>
          <a:bodyPr/>
          <a:p/>
        </p:txBody>
      </p:sp>
      <p:sp>
        <p:nvSpPr>
          <p:cNvPr id="35" name="Shape 31"/>
          <p:cNvSpPr/>
          <p:nvPr/>
        </p:nvSpPr>
        <p:spPr>
          <a:xfrm>
            <a:off x="7589520" y="2148840"/>
            <a:ext cx="320040" cy="0"/>
          </a:xfrm>
          <a:prstGeom prst="line">
            <a:avLst/>
          </a:prstGeom>
          <a:noFill/>
          <a:ln w="15875">
            <a:solidFill>
              <a:srgbClr val="999999"/>
            </a:solidFill>
            <a:prstDash val="solid"/>
            <a:tailEnd type="triangle"/>
          </a:ln>
        </p:spPr>
        <p:txBody>
          <a:bodyPr/>
          <a:p/>
        </p:txBody>
      </p:sp>
      <p:sp>
        <p:nvSpPr>
          <p:cNvPr id="36" name="Shape 32"/>
          <p:cNvSpPr/>
          <p:nvPr/>
        </p:nvSpPr>
        <p:spPr>
          <a:xfrm>
            <a:off x="9326880" y="2148840"/>
            <a:ext cx="320040" cy="0"/>
          </a:xfrm>
          <a:prstGeom prst="line">
            <a:avLst/>
          </a:prstGeom>
          <a:noFill/>
          <a:ln w="15875">
            <a:solidFill>
              <a:srgbClr val="999999"/>
            </a:solidFill>
            <a:prstDash val="solid"/>
            <a:tailEnd type="triangle"/>
          </a:ln>
        </p:spPr>
        <p:txBody>
          <a:bodyPr/>
          <a:p/>
        </p:txBody>
      </p:sp>
      <p:sp>
        <p:nvSpPr>
          <p:cNvPr id="37" name="Shape 33"/>
          <p:cNvSpPr/>
          <p:nvPr/>
        </p:nvSpPr>
        <p:spPr>
          <a:xfrm flipV="1">
            <a:off x="8613648" y="1298448"/>
            <a:ext cx="0" cy="393192"/>
          </a:xfrm>
          <a:prstGeom prst="line">
            <a:avLst/>
          </a:prstGeom>
          <a:noFill/>
          <a:ln w="15875">
            <a:solidFill>
              <a:srgbClr val="7B5EA7"/>
            </a:solidFill>
            <a:prstDash val="solid"/>
          </a:ln>
        </p:spPr>
        <p:txBody>
          <a:bodyPr/>
          <a:p/>
        </p:txBody>
      </p:sp>
      <p:sp>
        <p:nvSpPr>
          <p:cNvPr id="38" name="Shape 34"/>
          <p:cNvSpPr/>
          <p:nvPr/>
        </p:nvSpPr>
        <p:spPr>
          <a:xfrm flipH="1">
            <a:off x="5138928" y="1298448"/>
            <a:ext cx="3474720" cy="0"/>
          </a:xfrm>
          <a:prstGeom prst="line">
            <a:avLst/>
          </a:prstGeom>
          <a:noFill/>
          <a:ln w="15875">
            <a:solidFill>
              <a:srgbClr val="7B5EA7"/>
            </a:solidFill>
            <a:prstDash val="solid"/>
          </a:ln>
        </p:spPr>
        <p:txBody>
          <a:bodyPr/>
          <a:p/>
        </p:txBody>
      </p:sp>
      <p:sp>
        <p:nvSpPr>
          <p:cNvPr id="39" name="Shape 35"/>
          <p:cNvSpPr/>
          <p:nvPr/>
        </p:nvSpPr>
        <p:spPr>
          <a:xfrm>
            <a:off x="5138928" y="1298448"/>
            <a:ext cx="0" cy="164592"/>
          </a:xfrm>
          <a:prstGeom prst="line">
            <a:avLst/>
          </a:prstGeom>
          <a:noFill/>
          <a:ln w="15875">
            <a:solidFill>
              <a:srgbClr val="7B5EA7"/>
            </a:solidFill>
            <a:prstDash val="solid"/>
            <a:tailEnd type="triangle"/>
          </a:ln>
        </p:spPr>
        <p:txBody>
          <a:bodyPr/>
          <a:p/>
        </p:txBody>
      </p:sp>
      <p:sp>
        <p:nvSpPr>
          <p:cNvPr id="40" name="Text 36"/>
          <p:cNvSpPr txBox="1"/>
          <p:nvPr/>
        </p:nvSpPr>
        <p:spPr>
          <a:xfrm>
            <a:off x="5303520" y="1335024"/>
            <a:ext cx="3200400" cy="201168"/>
          </a:xfrm>
          <a:prstGeom prst="rect">
            <a:avLst/>
          </a:prstGeom>
          <a:noFill/>
          <a:ln/>
        </p:spPr>
        <p:txBody>
          <a:bodyPr wrap="square" lIns="0" tIns="0" rIns="0" bIns="0" rtlCol="0" anchor="t"/>
          <a:lstStyle/>
          <a:p>
            <a:pPr algn="ctr" indent="0" marL="0">
              <a:buNone/>
            </a:pPr>
            <a:r>
              <a:rPr lang="en-US" sz="900" dirty="0">
                <a:solidFill>
                  <a:srgbClr val="7B5EA7"/>
                </a:solidFill>
                <a:latin typeface="Poppins" pitchFamily="34" charset="0"/>
                <a:ea typeface="Poppins" pitchFamily="34" charset="-122"/>
                <a:cs typeface="Poppins" pitchFamily="34" charset="-120"/>
              </a:rPr>
              <a:t>revise ↺  max 2 revisions (H5), then G2-escalate</a:t>
            </a:r>
            <a:endParaRPr lang="en-US" sz="900" dirty="0"/>
          </a:p>
        </p:txBody>
      </p:sp>
      <p:sp>
        <p:nvSpPr>
          <p:cNvPr id="41" name="Shape 37"/>
          <p:cNvSpPr/>
          <p:nvPr/>
        </p:nvSpPr>
        <p:spPr>
          <a:xfrm>
            <a:off x="2606040" y="2788920"/>
            <a:ext cx="1417320" cy="310896"/>
          </a:xfrm>
          <a:prstGeom prst="roundRect">
            <a:avLst>
              <a:gd name="adj" fmla="val 50000"/>
            </a:avLst>
          </a:prstGeom>
          <a:solidFill>
            <a:srgbClr val="E6F3EC"/>
          </a:solidFill>
          <a:ln/>
        </p:spPr>
        <p:txBody>
          <a:bodyPr/>
          <a:p/>
        </p:txBody>
      </p:sp>
      <p:sp>
        <p:nvSpPr>
          <p:cNvPr id="42" name="Text 38"/>
          <p:cNvSpPr txBox="1"/>
          <p:nvPr/>
        </p:nvSpPr>
        <p:spPr>
          <a:xfrm>
            <a:off x="2606040" y="2788920"/>
            <a:ext cx="1417320" cy="310896"/>
          </a:xfrm>
          <a:prstGeom prst="rect">
            <a:avLst/>
          </a:prstGeom>
          <a:noFill/>
          <a:ln/>
        </p:spPr>
        <p:txBody>
          <a:bodyPr wrap="square" lIns="0" tIns="0" rIns="0" bIns="0" rtlCol="0" anchor="ctr"/>
          <a:lstStyle/>
          <a:p>
            <a:pPr algn="ctr" indent="0" marL="0">
              <a:buNone/>
            </a:pPr>
            <a:r>
              <a:rPr lang="en-US" sz="950" dirty="0">
                <a:solidFill>
                  <a:srgbClr val="2D8C55"/>
                </a:solidFill>
                <a:latin typeface="Poppins SemiBold" pitchFamily="34" charset="0"/>
                <a:ea typeface="Poppins SemiBold" pitchFamily="34" charset="-122"/>
                <a:cs typeface="Poppins SemiBold" pitchFamily="34" charset="-120"/>
              </a:rPr>
              <a:t>G1 · unclear?</a:t>
            </a:r>
            <a:endParaRPr lang="en-US" sz="950" dirty="0"/>
          </a:p>
        </p:txBody>
      </p:sp>
      <p:sp>
        <p:nvSpPr>
          <p:cNvPr id="43" name="Shape 39"/>
          <p:cNvSpPr/>
          <p:nvPr/>
        </p:nvSpPr>
        <p:spPr>
          <a:xfrm>
            <a:off x="3310128" y="2606040"/>
            <a:ext cx="0" cy="182880"/>
          </a:xfrm>
          <a:prstGeom prst="line">
            <a:avLst/>
          </a:prstGeom>
          <a:noFill/>
          <a:ln w="15875">
            <a:solidFill>
              <a:srgbClr val="2D8C55"/>
            </a:solidFill>
            <a:prstDash val="dash"/>
            <a:tailEnd type="triangle"/>
          </a:ln>
        </p:spPr>
        <p:txBody>
          <a:bodyPr/>
          <a:p/>
        </p:txBody>
      </p:sp>
      <p:sp>
        <p:nvSpPr>
          <p:cNvPr id="44" name="Shape 40"/>
          <p:cNvSpPr/>
          <p:nvPr/>
        </p:nvSpPr>
        <p:spPr>
          <a:xfrm>
            <a:off x="685800" y="2788920"/>
            <a:ext cx="1600200" cy="310896"/>
          </a:xfrm>
          <a:prstGeom prst="roundRect">
            <a:avLst>
              <a:gd name="adj" fmla="val 50000"/>
            </a:avLst>
          </a:prstGeom>
          <a:solidFill>
            <a:srgbClr val="FFF6D6"/>
          </a:solidFill>
          <a:ln/>
        </p:spPr>
        <p:txBody>
          <a:bodyPr/>
          <a:p/>
        </p:txBody>
      </p:sp>
      <p:sp>
        <p:nvSpPr>
          <p:cNvPr id="45" name="Text 41"/>
          <p:cNvSpPr txBox="1"/>
          <p:nvPr/>
        </p:nvSpPr>
        <p:spPr>
          <a:xfrm>
            <a:off x="685800" y="2788920"/>
            <a:ext cx="1600200" cy="310896"/>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 3 breakers</a:t>
            </a:r>
            <a:endParaRPr lang="en-US" sz="950" dirty="0"/>
          </a:p>
        </p:txBody>
      </p:sp>
      <p:sp>
        <p:nvSpPr>
          <p:cNvPr id="46" name="Shape 42"/>
          <p:cNvSpPr/>
          <p:nvPr/>
        </p:nvSpPr>
        <p:spPr>
          <a:xfrm>
            <a:off x="1481328" y="2606040"/>
            <a:ext cx="0" cy="182880"/>
          </a:xfrm>
          <a:prstGeom prst="line">
            <a:avLst/>
          </a:prstGeom>
          <a:noFill/>
          <a:ln w="15875">
            <a:solidFill>
              <a:srgbClr val="8A6D00"/>
            </a:solidFill>
            <a:prstDash val="dash"/>
            <a:tailEnd type="triangle"/>
          </a:ln>
        </p:spPr>
        <p:txBody>
          <a:bodyPr/>
          <a:p/>
        </p:txBody>
      </p:sp>
      <p:sp>
        <p:nvSpPr>
          <p:cNvPr id="47" name="Shape 43"/>
          <p:cNvSpPr/>
          <p:nvPr/>
        </p:nvSpPr>
        <p:spPr>
          <a:xfrm>
            <a:off x="685800" y="3749040"/>
            <a:ext cx="1691640" cy="914400"/>
          </a:xfrm>
          <a:prstGeom prst="roundRect">
            <a:avLst>
              <a:gd name="adj" fmla="val 6000"/>
            </a:avLst>
          </a:prstGeom>
          <a:solidFill>
            <a:srgbClr val="EEF0FF"/>
          </a:solidFill>
          <a:ln w="12700">
            <a:solidFill>
              <a:srgbClr val="C9D6F5"/>
            </a:solidFill>
            <a:prstDash val="solid"/>
          </a:ln>
        </p:spPr>
        <p:txBody>
          <a:bodyPr/>
          <a:p/>
        </p:txBody>
      </p:sp>
      <p:sp>
        <p:nvSpPr>
          <p:cNvPr id="48" name="Text 44"/>
          <p:cNvSpPr txBox="1"/>
          <p:nvPr/>
        </p:nvSpPr>
        <p:spPr>
          <a:xfrm>
            <a:off x="758952" y="3822192"/>
            <a:ext cx="1545336" cy="292608"/>
          </a:xfrm>
          <a:prstGeom prst="rect">
            <a:avLst/>
          </a:prstGeom>
          <a:noFill/>
          <a:ln/>
        </p:spPr>
        <p:txBody>
          <a:bodyPr wrap="square" lIns="0" tIns="0" rIns="0" bIns="0" rtlCol="0" anchor="t"/>
          <a:lstStyle/>
          <a:p>
            <a:pPr algn="ctr" indent="0" marL="0">
              <a:buNone/>
            </a:pPr>
            <a:r>
              <a:rPr lang="en-US" sz="1150" dirty="0">
                <a:solidFill>
                  <a:srgbClr val="2C3FB0"/>
                </a:solidFill>
                <a:latin typeface="Poppins SemiBold" pitchFamily="34" charset="0"/>
                <a:ea typeface="Poppins SemiBold" pitchFamily="34" charset="-122"/>
                <a:cs typeface="Poppins SemiBold" pitchFamily="34" charset="-120"/>
              </a:rPr>
              <a:t>Author tests</a:t>
            </a:r>
            <a:endParaRPr lang="en-US" sz="1150" dirty="0"/>
          </a:p>
        </p:txBody>
      </p:sp>
      <p:sp>
        <p:nvSpPr>
          <p:cNvPr id="49" name="Text 45"/>
          <p:cNvSpPr txBox="1"/>
          <p:nvPr/>
        </p:nvSpPr>
        <p:spPr>
          <a:xfrm>
            <a:off x="758952" y="4114800"/>
            <a:ext cx="154533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qa-test-author · self-check ≤ 3</a:t>
            </a:r>
            <a:endParaRPr lang="en-US" sz="900" dirty="0"/>
          </a:p>
        </p:txBody>
      </p:sp>
      <p:sp>
        <p:nvSpPr>
          <p:cNvPr id="50" name="Shape 46"/>
          <p:cNvSpPr/>
          <p:nvPr/>
        </p:nvSpPr>
        <p:spPr>
          <a:xfrm>
            <a:off x="2697480" y="3749040"/>
            <a:ext cx="1371600" cy="914400"/>
          </a:xfrm>
          <a:prstGeom prst="roundRect">
            <a:avLst>
              <a:gd name="adj" fmla="val 6000"/>
            </a:avLst>
          </a:prstGeom>
          <a:solidFill>
            <a:srgbClr val="F7F9FC"/>
          </a:solidFill>
          <a:ln w="12700">
            <a:solidFill>
              <a:srgbClr val="DDDDDD"/>
            </a:solidFill>
            <a:prstDash val="solid"/>
          </a:ln>
        </p:spPr>
        <p:txBody>
          <a:bodyPr/>
          <a:p/>
        </p:txBody>
      </p:sp>
      <p:sp>
        <p:nvSpPr>
          <p:cNvPr id="51" name="Text 47"/>
          <p:cNvSpPr txBox="1"/>
          <p:nvPr/>
        </p:nvSpPr>
        <p:spPr>
          <a:xfrm>
            <a:off x="2770632" y="3822192"/>
            <a:ext cx="1225296" cy="292608"/>
          </a:xfrm>
          <a:prstGeom prst="rect">
            <a:avLst/>
          </a:prstGeom>
          <a:noFill/>
          <a:ln/>
        </p:spPr>
        <p:txBody>
          <a:bodyPr wrap="square" lIns="0" tIns="0" rIns="0" bIns="0" rtlCol="0" anchor="t"/>
          <a:lstStyle/>
          <a:p>
            <a:pPr algn="ctr" indent="0" marL="0">
              <a:buNone/>
            </a:pPr>
            <a:r>
              <a:rPr lang="en-US" sz="1150" dirty="0">
                <a:solidFill>
                  <a:srgbClr val="1A1A1A"/>
                </a:solidFill>
                <a:latin typeface="Poppins SemiBold" pitchFamily="34" charset="0"/>
                <a:ea typeface="Poppins SemiBold" pitchFamily="34" charset="-122"/>
                <a:cs typeface="Poppins SemiBold" pitchFamily="34" charset="-120"/>
              </a:rPr>
              <a:t>Test diff</a:t>
            </a:r>
            <a:endParaRPr lang="en-US" sz="1150" dirty="0"/>
          </a:p>
        </p:txBody>
      </p:sp>
      <p:sp>
        <p:nvSpPr>
          <p:cNvPr id="52" name="Text 48"/>
          <p:cNvSpPr txBox="1"/>
          <p:nvPr/>
        </p:nvSpPr>
        <p:spPr>
          <a:xfrm>
            <a:off x="2770632" y="4114800"/>
            <a:ext cx="122529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test-diff.mjs</a:t>
            </a:r>
            <a:endParaRPr lang="en-US" sz="900" dirty="0"/>
          </a:p>
        </p:txBody>
      </p:sp>
      <p:sp>
        <p:nvSpPr>
          <p:cNvPr id="53" name="Shape 49"/>
          <p:cNvSpPr/>
          <p:nvPr/>
        </p:nvSpPr>
        <p:spPr>
          <a:xfrm>
            <a:off x="4389120" y="3749040"/>
            <a:ext cx="1417320" cy="914400"/>
          </a:xfrm>
          <a:prstGeom prst="roundRect">
            <a:avLst>
              <a:gd name="adj" fmla="val 6000"/>
            </a:avLst>
          </a:prstGeom>
          <a:solidFill>
            <a:srgbClr val="F7F9FC"/>
          </a:solidFill>
          <a:ln w="12700">
            <a:solidFill>
              <a:srgbClr val="DDDDDD"/>
            </a:solidFill>
            <a:prstDash val="solid"/>
          </a:ln>
        </p:spPr>
        <p:txBody>
          <a:bodyPr/>
          <a:p/>
        </p:txBody>
      </p:sp>
      <p:sp>
        <p:nvSpPr>
          <p:cNvPr id="54" name="Text 50"/>
          <p:cNvSpPr txBox="1"/>
          <p:nvPr/>
        </p:nvSpPr>
        <p:spPr>
          <a:xfrm>
            <a:off x="4462272" y="3822192"/>
            <a:ext cx="1271016" cy="292608"/>
          </a:xfrm>
          <a:prstGeom prst="rect">
            <a:avLst/>
          </a:prstGeom>
          <a:noFill/>
          <a:ln/>
        </p:spPr>
        <p:txBody>
          <a:bodyPr wrap="square" lIns="0" tIns="0" rIns="0" bIns="0" rtlCol="0" anchor="t"/>
          <a:lstStyle/>
          <a:p>
            <a:pPr algn="ctr" indent="0" marL="0">
              <a:buNone/>
            </a:pPr>
            <a:r>
              <a:rPr lang="en-US" sz="1150" dirty="0">
                <a:solidFill>
                  <a:srgbClr val="1A1A1A"/>
                </a:solidFill>
                <a:latin typeface="Poppins SemiBold" pitchFamily="34" charset="0"/>
                <a:ea typeface="Poppins SemiBold" pitchFamily="34" charset="-122"/>
                <a:cs typeface="Poppins SemiBold" pitchFamily="34" charset="-120"/>
              </a:rPr>
              <a:t>Run suite</a:t>
            </a:r>
            <a:endParaRPr lang="en-US" sz="1150" dirty="0"/>
          </a:p>
        </p:txBody>
      </p:sp>
      <p:sp>
        <p:nvSpPr>
          <p:cNvPr id="55" name="Text 51"/>
          <p:cNvSpPr txBox="1"/>
          <p:nvPr/>
        </p:nvSpPr>
        <p:spPr>
          <a:xfrm>
            <a:off x="4462272" y="4114800"/>
            <a:ext cx="127101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Playwright</a:t>
            </a:r>
            <a:endParaRPr lang="en-US" sz="900" dirty="0"/>
          </a:p>
        </p:txBody>
      </p:sp>
      <p:sp>
        <p:nvSpPr>
          <p:cNvPr id="56" name="Shape 52"/>
          <p:cNvSpPr/>
          <p:nvPr/>
        </p:nvSpPr>
        <p:spPr>
          <a:xfrm>
            <a:off x="6126480" y="3749040"/>
            <a:ext cx="1371600" cy="914400"/>
          </a:xfrm>
          <a:prstGeom prst="roundRect">
            <a:avLst>
              <a:gd name="adj" fmla="val 6000"/>
            </a:avLst>
          </a:prstGeom>
          <a:solidFill>
            <a:srgbClr val="EEF0FF"/>
          </a:solidFill>
          <a:ln w="12700">
            <a:solidFill>
              <a:srgbClr val="C9D6F5"/>
            </a:solidFill>
            <a:prstDash val="solid"/>
          </a:ln>
        </p:spPr>
        <p:txBody>
          <a:bodyPr/>
          <a:p/>
        </p:txBody>
      </p:sp>
      <p:sp>
        <p:nvSpPr>
          <p:cNvPr id="57" name="Text 53"/>
          <p:cNvSpPr txBox="1"/>
          <p:nvPr/>
        </p:nvSpPr>
        <p:spPr>
          <a:xfrm>
            <a:off x="6199632" y="3822192"/>
            <a:ext cx="1225296" cy="292608"/>
          </a:xfrm>
          <a:prstGeom prst="rect">
            <a:avLst/>
          </a:prstGeom>
          <a:noFill/>
          <a:ln/>
        </p:spPr>
        <p:txBody>
          <a:bodyPr wrap="square" lIns="0" tIns="0" rIns="0" bIns="0" rtlCol="0" anchor="t"/>
          <a:lstStyle/>
          <a:p>
            <a:pPr algn="ctr" indent="0" marL="0">
              <a:buNone/>
            </a:pPr>
            <a:r>
              <a:rPr lang="en-US" sz="1150" dirty="0">
                <a:solidFill>
                  <a:srgbClr val="2C3FB0"/>
                </a:solidFill>
                <a:latin typeface="Poppins SemiBold" pitchFamily="34" charset="0"/>
                <a:ea typeface="Poppins SemiBold" pitchFamily="34" charset="-122"/>
                <a:cs typeface="Poppins SemiBold" pitchFamily="34" charset="-120"/>
              </a:rPr>
              <a:t>Triage</a:t>
            </a:r>
            <a:endParaRPr lang="en-US" sz="1150" dirty="0"/>
          </a:p>
        </p:txBody>
      </p:sp>
      <p:sp>
        <p:nvSpPr>
          <p:cNvPr id="58" name="Text 54"/>
          <p:cNvSpPr txBox="1"/>
          <p:nvPr/>
        </p:nvSpPr>
        <p:spPr>
          <a:xfrm>
            <a:off x="6199632" y="4114800"/>
            <a:ext cx="122529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qa-triage</a:t>
            </a:r>
            <a:endParaRPr lang="en-US" sz="900" dirty="0"/>
          </a:p>
        </p:txBody>
      </p:sp>
      <p:sp>
        <p:nvSpPr>
          <p:cNvPr id="59" name="Shape 55"/>
          <p:cNvSpPr/>
          <p:nvPr/>
        </p:nvSpPr>
        <p:spPr>
          <a:xfrm>
            <a:off x="7818120" y="3749040"/>
            <a:ext cx="1371600" cy="914400"/>
          </a:xfrm>
          <a:prstGeom prst="roundRect">
            <a:avLst>
              <a:gd name="adj" fmla="val 6000"/>
            </a:avLst>
          </a:prstGeom>
          <a:solidFill>
            <a:srgbClr val="F1ECF8"/>
          </a:solidFill>
          <a:ln w="12700">
            <a:solidFill>
              <a:srgbClr val="D7CBEA"/>
            </a:solidFill>
            <a:prstDash val="solid"/>
          </a:ln>
        </p:spPr>
        <p:txBody>
          <a:bodyPr/>
          <a:p/>
        </p:txBody>
      </p:sp>
      <p:sp>
        <p:nvSpPr>
          <p:cNvPr id="60" name="Text 56"/>
          <p:cNvSpPr txBox="1"/>
          <p:nvPr/>
        </p:nvSpPr>
        <p:spPr>
          <a:xfrm>
            <a:off x="7891272" y="3822192"/>
            <a:ext cx="1225296" cy="292608"/>
          </a:xfrm>
          <a:prstGeom prst="rect">
            <a:avLst/>
          </a:prstGeom>
          <a:noFill/>
          <a:ln/>
        </p:spPr>
        <p:txBody>
          <a:bodyPr wrap="square" lIns="0" tIns="0" rIns="0" bIns="0" rtlCol="0" anchor="t"/>
          <a:lstStyle/>
          <a:p>
            <a:pPr algn="ctr" indent="0" marL="0">
              <a:buNone/>
            </a:pPr>
            <a:r>
              <a:rPr lang="en-US" sz="1150" dirty="0">
                <a:solidFill>
                  <a:srgbClr val="7B5EA7"/>
                </a:solidFill>
                <a:latin typeface="Poppins SemiBold" pitchFamily="34" charset="0"/>
                <a:ea typeface="Poppins SemiBold" pitchFamily="34" charset="-122"/>
                <a:cs typeface="Poppins SemiBold" pitchFamily="34" charset="-120"/>
              </a:rPr>
              <a:t>Report</a:t>
            </a:r>
            <a:endParaRPr lang="en-US" sz="1150" dirty="0"/>
          </a:p>
        </p:txBody>
      </p:sp>
      <p:sp>
        <p:nvSpPr>
          <p:cNvPr id="61" name="Text 57"/>
          <p:cNvSpPr txBox="1"/>
          <p:nvPr/>
        </p:nvSpPr>
        <p:spPr>
          <a:xfrm>
            <a:off x="7891272" y="4114800"/>
            <a:ext cx="1225296" cy="502920"/>
          </a:xfrm>
          <a:prstGeom prst="rect">
            <a:avLst/>
          </a:prstGeom>
          <a:noFill/>
          <a:ln/>
        </p:spPr>
        <p:txBody>
          <a:bodyPr wrap="square" lIns="0" tIns="0" rIns="0" bIns="0" rtlCol="0" anchor="t"/>
          <a:lstStyle/>
          <a:p>
            <a:pPr algn="ctr" indent="0" marL="0">
              <a:buNone/>
            </a:pPr>
            <a:r>
              <a:rPr lang="en-US" sz="900" dirty="0">
                <a:solidFill>
                  <a:srgbClr val="666666"/>
                </a:solidFill>
                <a:latin typeface="Poppins" pitchFamily="34" charset="0"/>
                <a:ea typeface="Poppins" pitchFamily="34" charset="-122"/>
                <a:cs typeface="Poppins" pitchFamily="34" charset="-120"/>
              </a:rPr>
              <a:t>qa-feedback</a:t>
            </a:r>
            <a:endParaRPr lang="en-US" sz="900" dirty="0"/>
          </a:p>
        </p:txBody>
      </p:sp>
      <p:sp>
        <p:nvSpPr>
          <p:cNvPr id="62" name="Shape 58"/>
          <p:cNvSpPr/>
          <p:nvPr/>
        </p:nvSpPr>
        <p:spPr>
          <a:xfrm>
            <a:off x="9509760" y="3749040"/>
            <a:ext cx="914400" cy="914400"/>
          </a:xfrm>
          <a:prstGeom prst="roundRect">
            <a:avLst>
              <a:gd name="adj" fmla="val 6000"/>
            </a:avLst>
          </a:prstGeom>
          <a:solidFill>
            <a:srgbClr val="2D8C55"/>
          </a:solidFill>
          <a:ln w="12700">
            <a:solidFill>
              <a:srgbClr val="2D8C55"/>
            </a:solidFill>
            <a:prstDash val="solid"/>
          </a:ln>
        </p:spPr>
        <p:txBody>
          <a:bodyPr/>
          <a:p/>
        </p:txBody>
      </p:sp>
      <p:sp>
        <p:nvSpPr>
          <p:cNvPr id="63" name="Text 59"/>
          <p:cNvSpPr txBox="1"/>
          <p:nvPr/>
        </p:nvSpPr>
        <p:spPr>
          <a:xfrm>
            <a:off x="9582912" y="3822192"/>
            <a:ext cx="768096" cy="292608"/>
          </a:xfrm>
          <a:prstGeom prst="rect">
            <a:avLst/>
          </a:prstGeom>
          <a:noFill/>
          <a:ln/>
        </p:spPr>
        <p:txBody>
          <a:bodyPr wrap="square" lIns="0" tIns="0" rIns="0" bIns="0" rtlCol="0" anchor="t"/>
          <a:lstStyle/>
          <a:p>
            <a:pPr algn="ctr" indent="0" marL="0">
              <a:buNone/>
            </a:pPr>
            <a:r>
              <a:rPr lang="en-US" sz="1150" dirty="0">
                <a:solidFill>
                  <a:srgbClr val="FFFFFF"/>
                </a:solidFill>
                <a:latin typeface="Poppins SemiBold" pitchFamily="34" charset="0"/>
                <a:ea typeface="Poppins SemiBold" pitchFamily="34" charset="-122"/>
                <a:cs typeface="Poppins SemiBold" pitchFamily="34" charset="-120"/>
              </a:rPr>
              <a:t>DELIVER</a:t>
            </a:r>
            <a:endParaRPr lang="en-US" sz="1150" dirty="0"/>
          </a:p>
        </p:txBody>
      </p:sp>
      <p:sp>
        <p:nvSpPr>
          <p:cNvPr id="64" name="Text 60"/>
          <p:cNvSpPr txBox="1"/>
          <p:nvPr/>
        </p:nvSpPr>
        <p:spPr>
          <a:xfrm>
            <a:off x="9582912" y="4114800"/>
            <a:ext cx="768096" cy="502920"/>
          </a:xfrm>
          <a:prstGeom prst="rect">
            <a:avLst/>
          </a:prstGeom>
          <a:noFill/>
          <a:ln/>
        </p:spPr>
        <p:txBody>
          <a:bodyPr wrap="square" lIns="0" tIns="0" rIns="0" bIns="0" rtlCol="0" anchor="t"/>
          <a:lstStyle/>
          <a:p>
            <a:pPr algn="ctr" indent="0" marL="0">
              <a:buNone/>
            </a:pPr>
            <a:r>
              <a:rPr lang="en-US" sz="900" dirty="0">
                <a:solidFill>
                  <a:srgbClr val="FFFFFF"/>
                </a:solidFill>
                <a:latin typeface="Poppins" pitchFamily="34" charset="0"/>
                <a:ea typeface="Poppins" pitchFamily="34" charset="-122"/>
                <a:cs typeface="Poppins" pitchFamily="34" charset="-120"/>
              </a:rPr>
              <a:t>push PR?</a:t>
            </a:r>
            <a:endParaRPr lang="en-US" sz="900" dirty="0"/>
          </a:p>
        </p:txBody>
      </p:sp>
      <p:sp>
        <p:nvSpPr>
          <p:cNvPr id="65" name="Shape 61"/>
          <p:cNvSpPr/>
          <p:nvPr/>
        </p:nvSpPr>
        <p:spPr>
          <a:xfrm>
            <a:off x="10607040" y="3749040"/>
            <a:ext cx="896112" cy="914400"/>
          </a:xfrm>
          <a:prstGeom prst="roundRect">
            <a:avLst>
              <a:gd name="adj" fmla="val 6122"/>
            </a:avLst>
          </a:prstGeom>
          <a:solidFill>
            <a:srgbClr val="2D8C55"/>
          </a:solidFill>
          <a:ln w="12700">
            <a:solidFill>
              <a:srgbClr val="2D8C55"/>
            </a:solidFill>
            <a:prstDash val="solid"/>
          </a:ln>
        </p:spPr>
        <p:txBody>
          <a:bodyPr/>
          <a:p/>
        </p:txBody>
      </p:sp>
      <p:sp>
        <p:nvSpPr>
          <p:cNvPr id="66" name="Text 62"/>
          <p:cNvSpPr txBox="1"/>
          <p:nvPr/>
        </p:nvSpPr>
        <p:spPr>
          <a:xfrm>
            <a:off x="10680192" y="3822192"/>
            <a:ext cx="749808" cy="292608"/>
          </a:xfrm>
          <a:prstGeom prst="rect">
            <a:avLst/>
          </a:prstGeom>
          <a:noFill/>
          <a:ln/>
        </p:spPr>
        <p:txBody>
          <a:bodyPr wrap="square" lIns="0" tIns="0" rIns="0" bIns="0" rtlCol="0" anchor="t"/>
          <a:lstStyle/>
          <a:p>
            <a:pPr algn="ctr" indent="0" marL="0">
              <a:buNone/>
            </a:pPr>
            <a:r>
              <a:rPr lang="en-US" sz="1150" dirty="0">
                <a:solidFill>
                  <a:srgbClr val="FFFFFF"/>
                </a:solidFill>
                <a:latin typeface="Poppins SemiBold" pitchFamily="34" charset="0"/>
                <a:ea typeface="Poppins SemiBold" pitchFamily="34" charset="-122"/>
                <a:cs typeface="Poppins SemiBold" pitchFamily="34" charset="-120"/>
              </a:rPr>
              <a:t>G4</a:t>
            </a:r>
            <a:endParaRPr lang="en-US" sz="1150" dirty="0"/>
          </a:p>
        </p:txBody>
      </p:sp>
      <p:sp>
        <p:nvSpPr>
          <p:cNvPr id="67" name="Text 63"/>
          <p:cNvSpPr txBox="1"/>
          <p:nvPr/>
        </p:nvSpPr>
        <p:spPr>
          <a:xfrm>
            <a:off x="10680192" y="4114800"/>
            <a:ext cx="749808" cy="502920"/>
          </a:xfrm>
          <a:prstGeom prst="rect">
            <a:avLst/>
          </a:prstGeom>
          <a:noFill/>
          <a:ln/>
        </p:spPr>
        <p:txBody>
          <a:bodyPr wrap="square" lIns="0" tIns="0" rIns="0" bIns="0" rtlCol="0" anchor="t"/>
          <a:lstStyle/>
          <a:p>
            <a:pPr algn="ctr" indent="0" marL="0">
              <a:buNone/>
            </a:pPr>
            <a:r>
              <a:rPr lang="en-US" sz="900" dirty="0">
                <a:solidFill>
                  <a:srgbClr val="FFFFFF"/>
                </a:solidFill>
                <a:latin typeface="Poppins" pitchFamily="34" charset="0"/>
                <a:ea typeface="Poppins" pitchFamily="34" charset="-122"/>
                <a:cs typeface="Poppins" pitchFamily="34" charset="-120"/>
              </a:rPr>
              <a:t>merge + verdict</a:t>
            </a:r>
            <a:endParaRPr lang="en-US" sz="900" dirty="0"/>
          </a:p>
        </p:txBody>
      </p:sp>
      <p:sp>
        <p:nvSpPr>
          <p:cNvPr id="68" name="Shape 64"/>
          <p:cNvSpPr/>
          <p:nvPr/>
        </p:nvSpPr>
        <p:spPr>
          <a:xfrm>
            <a:off x="2377440" y="4206240"/>
            <a:ext cx="320040" cy="0"/>
          </a:xfrm>
          <a:prstGeom prst="line">
            <a:avLst/>
          </a:prstGeom>
          <a:noFill/>
          <a:ln w="15875">
            <a:solidFill>
              <a:srgbClr val="999999"/>
            </a:solidFill>
            <a:prstDash val="solid"/>
            <a:tailEnd type="triangle"/>
          </a:ln>
        </p:spPr>
        <p:txBody>
          <a:bodyPr/>
          <a:p/>
        </p:txBody>
      </p:sp>
      <p:sp>
        <p:nvSpPr>
          <p:cNvPr id="69" name="Shape 65"/>
          <p:cNvSpPr/>
          <p:nvPr/>
        </p:nvSpPr>
        <p:spPr>
          <a:xfrm>
            <a:off x="4069080" y="4206240"/>
            <a:ext cx="320040" cy="0"/>
          </a:xfrm>
          <a:prstGeom prst="line">
            <a:avLst/>
          </a:prstGeom>
          <a:noFill/>
          <a:ln w="15875">
            <a:solidFill>
              <a:srgbClr val="999999"/>
            </a:solidFill>
            <a:prstDash val="solid"/>
            <a:tailEnd type="triangle"/>
          </a:ln>
        </p:spPr>
        <p:txBody>
          <a:bodyPr/>
          <a:p/>
        </p:txBody>
      </p:sp>
      <p:sp>
        <p:nvSpPr>
          <p:cNvPr id="70" name="Shape 66"/>
          <p:cNvSpPr/>
          <p:nvPr/>
        </p:nvSpPr>
        <p:spPr>
          <a:xfrm>
            <a:off x="5806440" y="4206240"/>
            <a:ext cx="320040" cy="0"/>
          </a:xfrm>
          <a:prstGeom prst="line">
            <a:avLst/>
          </a:prstGeom>
          <a:noFill/>
          <a:ln w="15875">
            <a:solidFill>
              <a:srgbClr val="999999"/>
            </a:solidFill>
            <a:prstDash val="solid"/>
            <a:tailEnd type="triangle"/>
          </a:ln>
        </p:spPr>
        <p:txBody>
          <a:bodyPr/>
          <a:p/>
        </p:txBody>
      </p:sp>
      <p:sp>
        <p:nvSpPr>
          <p:cNvPr id="71" name="Shape 67"/>
          <p:cNvSpPr/>
          <p:nvPr/>
        </p:nvSpPr>
        <p:spPr>
          <a:xfrm>
            <a:off x="7498080" y="4206240"/>
            <a:ext cx="320040" cy="0"/>
          </a:xfrm>
          <a:prstGeom prst="line">
            <a:avLst/>
          </a:prstGeom>
          <a:noFill/>
          <a:ln w="15875">
            <a:solidFill>
              <a:srgbClr val="999999"/>
            </a:solidFill>
            <a:prstDash val="solid"/>
            <a:tailEnd type="triangle"/>
          </a:ln>
        </p:spPr>
        <p:txBody>
          <a:bodyPr/>
          <a:p/>
        </p:txBody>
      </p:sp>
      <p:sp>
        <p:nvSpPr>
          <p:cNvPr id="72" name="Shape 68"/>
          <p:cNvSpPr/>
          <p:nvPr/>
        </p:nvSpPr>
        <p:spPr>
          <a:xfrm>
            <a:off x="9189720" y="4206240"/>
            <a:ext cx="320040" cy="0"/>
          </a:xfrm>
          <a:prstGeom prst="line">
            <a:avLst/>
          </a:prstGeom>
          <a:noFill/>
          <a:ln w="15875">
            <a:solidFill>
              <a:srgbClr val="999999"/>
            </a:solidFill>
            <a:prstDash val="solid"/>
            <a:tailEnd type="triangle"/>
          </a:ln>
        </p:spPr>
        <p:txBody>
          <a:bodyPr/>
          <a:p/>
        </p:txBody>
      </p:sp>
      <p:sp>
        <p:nvSpPr>
          <p:cNvPr id="73" name="Shape 69"/>
          <p:cNvSpPr/>
          <p:nvPr/>
        </p:nvSpPr>
        <p:spPr>
          <a:xfrm>
            <a:off x="10424160" y="4206240"/>
            <a:ext cx="182880" cy="0"/>
          </a:xfrm>
          <a:prstGeom prst="line">
            <a:avLst/>
          </a:prstGeom>
          <a:noFill/>
          <a:ln w="15875">
            <a:solidFill>
              <a:srgbClr val="999999"/>
            </a:solidFill>
            <a:prstDash val="solid"/>
            <a:tailEnd type="triangle"/>
          </a:ln>
        </p:spPr>
        <p:txBody>
          <a:bodyPr/>
          <a:p/>
        </p:txBody>
      </p:sp>
      <p:sp>
        <p:nvSpPr>
          <p:cNvPr id="74" name="Shape 70"/>
          <p:cNvSpPr/>
          <p:nvPr/>
        </p:nvSpPr>
        <p:spPr>
          <a:xfrm>
            <a:off x="10579608" y="2606040"/>
            <a:ext cx="0" cy="731520"/>
          </a:xfrm>
          <a:prstGeom prst="line">
            <a:avLst/>
          </a:prstGeom>
          <a:noFill/>
          <a:ln w="15875">
            <a:solidFill>
              <a:srgbClr val="999999"/>
            </a:solidFill>
            <a:prstDash val="solid"/>
          </a:ln>
        </p:spPr>
        <p:txBody>
          <a:bodyPr/>
          <a:p/>
        </p:txBody>
      </p:sp>
      <p:sp>
        <p:nvSpPr>
          <p:cNvPr id="75" name="Shape 71"/>
          <p:cNvSpPr/>
          <p:nvPr/>
        </p:nvSpPr>
        <p:spPr>
          <a:xfrm flipH="1">
            <a:off x="1527048" y="3337560"/>
            <a:ext cx="9052560" cy="0"/>
          </a:xfrm>
          <a:prstGeom prst="line">
            <a:avLst/>
          </a:prstGeom>
          <a:noFill/>
          <a:ln w="15875">
            <a:solidFill>
              <a:srgbClr val="999999"/>
            </a:solidFill>
            <a:prstDash val="solid"/>
          </a:ln>
        </p:spPr>
        <p:txBody>
          <a:bodyPr/>
          <a:p/>
        </p:txBody>
      </p:sp>
      <p:sp>
        <p:nvSpPr>
          <p:cNvPr id="76" name="Shape 72"/>
          <p:cNvSpPr/>
          <p:nvPr/>
        </p:nvSpPr>
        <p:spPr>
          <a:xfrm>
            <a:off x="1527048" y="3337560"/>
            <a:ext cx="0" cy="411480"/>
          </a:xfrm>
          <a:prstGeom prst="line">
            <a:avLst/>
          </a:prstGeom>
          <a:noFill/>
          <a:ln w="15875">
            <a:solidFill>
              <a:srgbClr val="999999"/>
            </a:solidFill>
            <a:prstDash val="solid"/>
            <a:tailEnd type="triangle"/>
          </a:ln>
        </p:spPr>
        <p:txBody>
          <a:bodyPr/>
          <a:p/>
        </p:txBody>
      </p:sp>
      <p:sp>
        <p:nvSpPr>
          <p:cNvPr id="77" name="Shape 73"/>
          <p:cNvSpPr/>
          <p:nvPr/>
        </p:nvSpPr>
        <p:spPr>
          <a:xfrm>
            <a:off x="6812280" y="4663440"/>
            <a:ext cx="0" cy="320040"/>
          </a:xfrm>
          <a:prstGeom prst="line">
            <a:avLst/>
          </a:prstGeom>
          <a:noFill/>
          <a:ln w="15875">
            <a:solidFill>
              <a:srgbClr val="405AE7"/>
            </a:solidFill>
            <a:prstDash val="solid"/>
          </a:ln>
        </p:spPr>
        <p:txBody>
          <a:bodyPr/>
          <a:p/>
        </p:txBody>
      </p:sp>
      <p:sp>
        <p:nvSpPr>
          <p:cNvPr id="78" name="Shape 74"/>
          <p:cNvSpPr/>
          <p:nvPr/>
        </p:nvSpPr>
        <p:spPr>
          <a:xfrm flipH="1">
            <a:off x="5093208" y="4983480"/>
            <a:ext cx="1719072" cy="0"/>
          </a:xfrm>
          <a:prstGeom prst="line">
            <a:avLst/>
          </a:prstGeom>
          <a:noFill/>
          <a:ln w="15875">
            <a:solidFill>
              <a:srgbClr val="405AE7"/>
            </a:solidFill>
            <a:prstDash val="solid"/>
          </a:ln>
        </p:spPr>
        <p:txBody>
          <a:bodyPr/>
          <a:p/>
        </p:txBody>
      </p:sp>
      <p:sp>
        <p:nvSpPr>
          <p:cNvPr id="79" name="Shape 75"/>
          <p:cNvSpPr/>
          <p:nvPr/>
        </p:nvSpPr>
        <p:spPr>
          <a:xfrm flipV="1">
            <a:off x="5093208" y="4663440"/>
            <a:ext cx="0" cy="320040"/>
          </a:xfrm>
          <a:prstGeom prst="line">
            <a:avLst/>
          </a:prstGeom>
          <a:noFill/>
          <a:ln w="15875">
            <a:solidFill>
              <a:srgbClr val="405AE7"/>
            </a:solidFill>
            <a:prstDash val="solid"/>
            <a:tailEnd type="triangle"/>
          </a:ln>
        </p:spPr>
        <p:txBody>
          <a:bodyPr/>
          <a:p/>
        </p:txBody>
      </p:sp>
      <p:sp>
        <p:nvSpPr>
          <p:cNvPr id="80" name="Text 76"/>
          <p:cNvSpPr txBox="1"/>
          <p:nvPr/>
        </p:nvSpPr>
        <p:spPr>
          <a:xfrm>
            <a:off x="4572000" y="5029200"/>
            <a:ext cx="2743200" cy="201168"/>
          </a:xfrm>
          <a:prstGeom prst="rect">
            <a:avLst/>
          </a:prstGeom>
          <a:noFill/>
          <a:ln/>
        </p:spPr>
        <p:txBody>
          <a:bodyPr wrap="square" lIns="0" tIns="0" rIns="0" bIns="0" rtlCol="0" anchor="t"/>
          <a:lstStyle/>
          <a:p>
            <a:pPr algn="ctr" indent="0" marL="0">
              <a:buNone/>
            </a:pPr>
            <a:r>
              <a:rPr lang="en-US" sz="900" dirty="0">
                <a:solidFill>
                  <a:srgbClr val="405AE7"/>
                </a:solidFill>
                <a:latin typeface="Poppins" pitchFamily="34" charset="0"/>
                <a:ea typeface="Poppins" pitchFamily="34" charset="-122"/>
                <a:cs typeface="Poppins" pitchFamily="34" charset="-120"/>
              </a:rPr>
              <a:t>flaky → 1 rerun · test-bug → 1 repair</a:t>
            </a:r>
            <a:endParaRPr lang="en-US" sz="900" dirty="0"/>
          </a:p>
        </p:txBody>
      </p:sp>
      <p:sp>
        <p:nvSpPr>
          <p:cNvPr id="81" name="Shape 77"/>
          <p:cNvSpPr/>
          <p:nvPr/>
        </p:nvSpPr>
        <p:spPr>
          <a:xfrm>
            <a:off x="3383280" y="4892040"/>
            <a:ext cx="914400" cy="292608"/>
          </a:xfrm>
          <a:prstGeom prst="roundRect">
            <a:avLst>
              <a:gd name="adj" fmla="val 50000"/>
            </a:avLst>
          </a:prstGeom>
          <a:solidFill>
            <a:srgbClr val="E6F3EC"/>
          </a:solidFill>
          <a:ln/>
        </p:spPr>
        <p:txBody>
          <a:bodyPr/>
          <a:p/>
        </p:txBody>
      </p:sp>
      <p:sp>
        <p:nvSpPr>
          <p:cNvPr id="82" name="Text 78"/>
          <p:cNvSpPr txBox="1"/>
          <p:nvPr/>
        </p:nvSpPr>
        <p:spPr>
          <a:xfrm>
            <a:off x="3383280" y="4892040"/>
            <a:ext cx="914400" cy="292608"/>
          </a:xfrm>
          <a:prstGeom prst="rect">
            <a:avLst/>
          </a:prstGeom>
          <a:noFill/>
          <a:ln/>
        </p:spPr>
        <p:txBody>
          <a:bodyPr wrap="square" lIns="0" tIns="0" rIns="0" bIns="0" rtlCol="0" anchor="ctr"/>
          <a:lstStyle/>
          <a:p>
            <a:pPr algn="ctr" indent="0" marL="0">
              <a:buNone/>
            </a:pPr>
            <a:r>
              <a:rPr lang="en-US" sz="950" dirty="0">
                <a:solidFill>
                  <a:srgbClr val="2D8C55"/>
                </a:solidFill>
                <a:latin typeface="Poppins SemiBold" pitchFamily="34" charset="0"/>
                <a:ea typeface="Poppins SemiBold" pitchFamily="34" charset="-122"/>
                <a:cs typeface="Poppins SemiBold" pitchFamily="34" charset="-120"/>
              </a:rPr>
              <a:t>G3</a:t>
            </a:r>
            <a:endParaRPr lang="en-US" sz="950" dirty="0"/>
          </a:p>
        </p:txBody>
      </p:sp>
      <p:sp>
        <p:nvSpPr>
          <p:cNvPr id="83" name="Text 79"/>
          <p:cNvSpPr txBox="1"/>
          <p:nvPr/>
        </p:nvSpPr>
        <p:spPr>
          <a:xfrm>
            <a:off x="2377440" y="5230368"/>
            <a:ext cx="2926080" cy="201168"/>
          </a:xfrm>
          <a:prstGeom prst="rect">
            <a:avLst/>
          </a:prstGeom>
          <a:noFill/>
          <a:ln/>
        </p:spPr>
        <p:txBody>
          <a:bodyPr wrap="square" lIns="0" tIns="0" rIns="0" bIns="0" rtlCol="0" anchor="t"/>
          <a:lstStyle/>
          <a:p>
            <a:pPr algn="ctr" indent="0" marL="0">
              <a:buNone/>
            </a:pPr>
            <a:r>
              <a:rPr lang="en-US" sz="900" dirty="0">
                <a:solidFill>
                  <a:srgbClr val="2D8C55"/>
                </a:solidFill>
                <a:latin typeface="Poppins" pitchFamily="34" charset="0"/>
                <a:ea typeface="Poppins" pitchFamily="34" charset="-122"/>
                <a:cs typeface="Poppins" pitchFamily="34" charset="-120"/>
              </a:rPr>
              <a:t>G3 · unexpected → ask</a:t>
            </a:r>
            <a:endParaRPr lang="en-US" sz="900" dirty="0"/>
          </a:p>
        </p:txBody>
      </p:sp>
      <p:sp>
        <p:nvSpPr>
          <p:cNvPr id="84" name="Shape 80"/>
          <p:cNvSpPr/>
          <p:nvPr/>
        </p:nvSpPr>
        <p:spPr>
          <a:xfrm>
            <a:off x="3383280" y="4663440"/>
            <a:ext cx="274320" cy="228600"/>
          </a:xfrm>
          <a:prstGeom prst="line">
            <a:avLst/>
          </a:prstGeom>
          <a:noFill/>
          <a:ln w="15875">
            <a:solidFill>
              <a:srgbClr val="2D8C55"/>
            </a:solidFill>
            <a:prstDash val="dash"/>
            <a:tailEnd type="triangle"/>
          </a:ln>
        </p:spPr>
        <p:txBody>
          <a:bodyPr/>
          <a:p/>
        </p:txBody>
      </p:sp>
      <p:sp>
        <p:nvSpPr>
          <p:cNvPr id="85" name="Shape 81"/>
          <p:cNvSpPr/>
          <p:nvPr/>
        </p:nvSpPr>
        <p:spPr>
          <a:xfrm>
            <a:off x="7863840" y="4892040"/>
            <a:ext cx="3639312" cy="292608"/>
          </a:xfrm>
          <a:prstGeom prst="roundRect">
            <a:avLst>
              <a:gd name="adj" fmla="val 50000"/>
            </a:avLst>
          </a:prstGeom>
          <a:solidFill>
            <a:srgbClr val="FFF6D6"/>
          </a:solidFill>
          <a:ln/>
        </p:spPr>
        <p:txBody>
          <a:bodyPr/>
          <a:p/>
        </p:txBody>
      </p:sp>
      <p:sp>
        <p:nvSpPr>
          <p:cNvPr id="86" name="Text 82"/>
          <p:cNvSpPr txBox="1"/>
          <p:nvPr/>
        </p:nvSpPr>
        <p:spPr>
          <a:xfrm>
            <a:off x="7863840" y="4892040"/>
            <a:ext cx="3639312" cy="29260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H7 · 7 test launches for the whole run</a:t>
            </a:r>
            <a:endParaRPr lang="en-US" sz="950" dirty="0"/>
          </a:p>
        </p:txBody>
      </p:sp>
      <p:sp>
        <p:nvSpPr>
          <p:cNvPr id="87" name="Shape 83"/>
          <p:cNvSpPr/>
          <p:nvPr/>
        </p:nvSpPr>
        <p:spPr>
          <a:xfrm>
            <a:off x="685800" y="5760720"/>
            <a:ext cx="274320" cy="201168"/>
          </a:xfrm>
          <a:prstGeom prst="roundRect">
            <a:avLst>
              <a:gd name="adj" fmla="val 13636"/>
            </a:avLst>
          </a:prstGeom>
          <a:solidFill>
            <a:srgbClr val="EEF0FF"/>
          </a:solidFill>
          <a:ln w="12700">
            <a:solidFill>
              <a:srgbClr val="C9D6F5"/>
            </a:solidFill>
            <a:prstDash val="solid"/>
          </a:ln>
        </p:spPr>
        <p:txBody>
          <a:bodyPr/>
          <a:p/>
        </p:txBody>
      </p:sp>
      <p:sp>
        <p:nvSpPr>
          <p:cNvPr id="88" name="Text 84"/>
          <p:cNvSpPr txBox="1"/>
          <p:nvPr/>
        </p:nvSpPr>
        <p:spPr>
          <a:xfrm>
            <a:off x="1051560" y="5733288"/>
            <a:ext cx="1645920" cy="256032"/>
          </a:xfrm>
          <a:prstGeom prst="rect">
            <a:avLst/>
          </a:prstGeom>
          <a:noFill/>
          <a:ln/>
        </p:spPr>
        <p:txBody>
          <a:bodyPr wrap="square" lIns="0" tIns="0" rIns="0" bIns="0" rtlCol="0" anchor="ctr"/>
          <a:lstStyle/>
          <a:p>
            <a:pPr indent="0" marL="0">
              <a:buNone/>
            </a:pPr>
            <a:r>
              <a:rPr lang="en-US" sz="1000" dirty="0">
                <a:solidFill>
                  <a:srgbClr val="666666"/>
                </a:solidFill>
                <a:latin typeface="Poppins" pitchFamily="34" charset="0"/>
                <a:ea typeface="Poppins" pitchFamily="34" charset="-122"/>
                <a:cs typeface="Poppins" pitchFamily="34" charset="-120"/>
              </a:rPr>
              <a:t>Agent (sonnet)</a:t>
            </a:r>
            <a:endParaRPr lang="en-US" sz="1000" dirty="0"/>
          </a:p>
        </p:txBody>
      </p:sp>
      <p:sp>
        <p:nvSpPr>
          <p:cNvPr id="89" name="Shape 85"/>
          <p:cNvSpPr/>
          <p:nvPr/>
        </p:nvSpPr>
        <p:spPr>
          <a:xfrm>
            <a:off x="2788920" y="5760720"/>
            <a:ext cx="274320" cy="201168"/>
          </a:xfrm>
          <a:prstGeom prst="roundRect">
            <a:avLst>
              <a:gd name="adj" fmla="val 13636"/>
            </a:avLst>
          </a:prstGeom>
          <a:solidFill>
            <a:srgbClr val="F1ECF8"/>
          </a:solidFill>
          <a:ln w="12700">
            <a:solidFill>
              <a:srgbClr val="D7CBEA"/>
            </a:solidFill>
            <a:prstDash val="solid"/>
          </a:ln>
        </p:spPr>
        <p:txBody>
          <a:bodyPr/>
          <a:p/>
        </p:txBody>
      </p:sp>
      <p:sp>
        <p:nvSpPr>
          <p:cNvPr id="90" name="Text 86"/>
          <p:cNvSpPr txBox="1"/>
          <p:nvPr/>
        </p:nvSpPr>
        <p:spPr>
          <a:xfrm>
            <a:off x="3154680" y="5733288"/>
            <a:ext cx="1645920" cy="256032"/>
          </a:xfrm>
          <a:prstGeom prst="rect">
            <a:avLst/>
          </a:prstGeom>
          <a:noFill/>
          <a:ln/>
        </p:spPr>
        <p:txBody>
          <a:bodyPr wrap="square" lIns="0" tIns="0" rIns="0" bIns="0" rtlCol="0" anchor="ctr"/>
          <a:lstStyle/>
          <a:p>
            <a:pPr indent="0" marL="0">
              <a:buNone/>
            </a:pPr>
            <a:r>
              <a:rPr lang="en-US" sz="1000" dirty="0">
                <a:solidFill>
                  <a:srgbClr val="666666"/>
                </a:solidFill>
                <a:latin typeface="Poppins" pitchFamily="34" charset="0"/>
                <a:ea typeface="Poppins" pitchFamily="34" charset="-122"/>
                <a:cs typeface="Poppins" pitchFamily="34" charset="-120"/>
              </a:rPr>
              <a:t>Agent (opus)</a:t>
            </a:r>
            <a:endParaRPr lang="en-US" sz="1000" dirty="0"/>
          </a:p>
        </p:txBody>
      </p:sp>
      <p:sp>
        <p:nvSpPr>
          <p:cNvPr id="91" name="Shape 87"/>
          <p:cNvSpPr/>
          <p:nvPr/>
        </p:nvSpPr>
        <p:spPr>
          <a:xfrm>
            <a:off x="4892040" y="5760720"/>
            <a:ext cx="274320" cy="201168"/>
          </a:xfrm>
          <a:prstGeom prst="roundRect">
            <a:avLst>
              <a:gd name="adj" fmla="val 13636"/>
            </a:avLst>
          </a:prstGeom>
          <a:solidFill>
            <a:srgbClr val="F7F9FC"/>
          </a:solidFill>
          <a:ln w="12700">
            <a:solidFill>
              <a:srgbClr val="DDDDDD"/>
            </a:solidFill>
            <a:prstDash val="solid"/>
          </a:ln>
        </p:spPr>
        <p:txBody>
          <a:bodyPr/>
          <a:p/>
        </p:txBody>
      </p:sp>
      <p:sp>
        <p:nvSpPr>
          <p:cNvPr id="92" name="Text 88"/>
          <p:cNvSpPr txBox="1"/>
          <p:nvPr/>
        </p:nvSpPr>
        <p:spPr>
          <a:xfrm>
            <a:off x="5257800" y="5733288"/>
            <a:ext cx="1645920" cy="256032"/>
          </a:xfrm>
          <a:prstGeom prst="rect">
            <a:avLst/>
          </a:prstGeom>
          <a:noFill/>
          <a:ln/>
        </p:spPr>
        <p:txBody>
          <a:bodyPr wrap="square" lIns="0" tIns="0" rIns="0" bIns="0" rtlCol="0" anchor="ctr"/>
          <a:lstStyle/>
          <a:p>
            <a:pPr indent="0" marL="0">
              <a:buNone/>
            </a:pPr>
            <a:r>
              <a:rPr lang="en-US" sz="1000" dirty="0">
                <a:solidFill>
                  <a:srgbClr val="666666"/>
                </a:solidFill>
                <a:latin typeface="Poppins" pitchFamily="34" charset="0"/>
                <a:ea typeface="Poppins" pitchFamily="34" charset="-122"/>
                <a:cs typeface="Poppins" pitchFamily="34" charset="-120"/>
              </a:rPr>
              <a:t>Script / tool</a:t>
            </a:r>
            <a:endParaRPr lang="en-US" sz="1000" dirty="0"/>
          </a:p>
        </p:txBody>
      </p:sp>
      <p:sp>
        <p:nvSpPr>
          <p:cNvPr id="93" name="Shape 89"/>
          <p:cNvSpPr/>
          <p:nvPr/>
        </p:nvSpPr>
        <p:spPr>
          <a:xfrm>
            <a:off x="6995160" y="5760720"/>
            <a:ext cx="274320" cy="201168"/>
          </a:xfrm>
          <a:prstGeom prst="roundRect">
            <a:avLst>
              <a:gd name="adj" fmla="val 13636"/>
            </a:avLst>
          </a:prstGeom>
          <a:solidFill>
            <a:srgbClr val="2D8C55"/>
          </a:solidFill>
          <a:ln w="12700">
            <a:solidFill>
              <a:srgbClr val="2D8C55"/>
            </a:solidFill>
            <a:prstDash val="solid"/>
          </a:ln>
        </p:spPr>
        <p:txBody>
          <a:bodyPr/>
          <a:p/>
        </p:txBody>
      </p:sp>
      <p:sp>
        <p:nvSpPr>
          <p:cNvPr id="94" name="Text 90"/>
          <p:cNvSpPr txBox="1"/>
          <p:nvPr/>
        </p:nvSpPr>
        <p:spPr>
          <a:xfrm>
            <a:off x="7360920" y="5733288"/>
            <a:ext cx="1645920" cy="256032"/>
          </a:xfrm>
          <a:prstGeom prst="rect">
            <a:avLst/>
          </a:prstGeom>
          <a:noFill/>
          <a:ln/>
        </p:spPr>
        <p:txBody>
          <a:bodyPr wrap="square" lIns="0" tIns="0" rIns="0" bIns="0" rtlCol="0" anchor="ctr"/>
          <a:lstStyle/>
          <a:p>
            <a:pPr indent="0" marL="0">
              <a:buNone/>
            </a:pPr>
            <a:r>
              <a:rPr lang="en-US" sz="1000" dirty="0">
                <a:solidFill>
                  <a:srgbClr val="666666"/>
                </a:solidFill>
                <a:latin typeface="Poppins" pitchFamily="34" charset="0"/>
                <a:ea typeface="Poppins" pitchFamily="34" charset="-122"/>
                <a:cs typeface="Poppins" pitchFamily="34" charset="-120"/>
              </a:rPr>
              <a:t>Human gate</a:t>
            </a:r>
            <a:endParaRPr lang="en-US" sz="1000" dirty="0"/>
          </a:p>
        </p:txBody>
      </p:sp>
      <p:sp>
        <p:nvSpPr>
          <p:cNvPr id="95" name="Text 91"/>
          <p:cNvSpPr txBox="1"/>
          <p:nvPr/>
        </p:nvSpPr>
        <p:spPr>
          <a:xfrm>
            <a:off x="8778240" y="5733288"/>
            <a:ext cx="2724912" cy="256032"/>
          </a:xfrm>
          <a:prstGeom prst="rect">
            <a:avLst/>
          </a:prstGeom>
          <a:noFill/>
          <a:ln/>
        </p:spPr>
        <p:txBody>
          <a:bodyPr wrap="square" lIns="0" tIns="0" rIns="0" bIns="0" rtlCol="0" anchor="ctr"/>
          <a:lstStyle/>
          <a:p>
            <a:pPr algn="r" indent="0" marL="0">
              <a:buNone/>
            </a:pPr>
            <a:r>
              <a:rPr lang="en-US" sz="1000" dirty="0">
                <a:solidFill>
                  <a:srgbClr val="405AE7"/>
                </a:solidFill>
                <a:latin typeface="Poppins SemiBold" pitchFamily="34" charset="0"/>
                <a:ea typeface="Poppins SemiBold" pitchFamily="34" charset="-122"/>
                <a:cs typeface="Poppins SemiBold" pitchFamily="34" charset="-120"/>
              </a:rPr>
              <a:t>Full map: docs/demo/workflow.html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Where a Person Decides</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The run stops and asks. Every gate is asked by the main session, with fixed options and no recommended answer.</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16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3502152" cy="1847088"/>
          </a:xfrm>
          <a:prstGeom prst="roundRect">
            <a:avLst>
              <a:gd name="adj" fmla="val 2970"/>
            </a:avLst>
          </a:prstGeom>
          <a:solidFill>
            <a:srgbClr val="F7F9FC"/>
          </a:solidFill>
          <a:ln/>
        </p:spPr>
        <p:txBody>
          <a:bodyPr/>
          <a:p/>
        </p:txBody>
      </p:sp>
      <p:sp>
        <p:nvSpPr>
          <p:cNvPr id="12" name="Shape 8"/>
          <p:cNvSpPr/>
          <p:nvPr/>
        </p:nvSpPr>
        <p:spPr>
          <a:xfrm>
            <a:off x="886968" y="1892808"/>
            <a:ext cx="566928" cy="310896"/>
          </a:xfrm>
          <a:prstGeom prst="roundRect">
            <a:avLst>
              <a:gd name="adj" fmla="val 50000"/>
            </a:avLst>
          </a:prstGeom>
          <a:solidFill>
            <a:srgbClr val="2D8C55"/>
          </a:solidFill>
          <a:ln/>
        </p:spPr>
        <p:txBody>
          <a:bodyPr/>
          <a:p/>
        </p:txBody>
      </p:sp>
      <p:sp>
        <p:nvSpPr>
          <p:cNvPr id="13" name="Text 9"/>
          <p:cNvSpPr txBox="1"/>
          <p:nvPr/>
        </p:nvSpPr>
        <p:spPr>
          <a:xfrm>
            <a:off x="886968" y="1892808"/>
            <a:ext cx="566928" cy="310896"/>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G0</a:t>
            </a:r>
            <a:endParaRPr lang="en-US" sz="1050" dirty="0"/>
          </a:p>
        </p:txBody>
      </p:sp>
      <p:sp>
        <p:nvSpPr>
          <p:cNvPr id="14" name="Text 10"/>
          <p:cNvSpPr txBox="1"/>
          <p:nvPr/>
        </p:nvSpPr>
        <p:spPr>
          <a:xfrm>
            <a:off x="1600200" y="1874520"/>
            <a:ext cx="2039112" cy="347472"/>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Interrupted run</a:t>
            </a:r>
            <a:endParaRPr lang="en-US" sz="1400" dirty="0"/>
          </a:p>
        </p:txBody>
      </p:sp>
      <p:sp>
        <p:nvSpPr>
          <p:cNvPr id="15" name="Text 11"/>
          <p:cNvSpPr txBox="1"/>
          <p:nvPr/>
        </p:nvSpPr>
        <p:spPr>
          <a:xfrm>
            <a:off x="886968" y="2331720"/>
            <a:ext cx="3099816" cy="65836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A previous run for this ticket was cut off.</a:t>
            </a:r>
            <a:endParaRPr lang="en-US" sz="1100" dirty="0"/>
          </a:p>
        </p:txBody>
      </p:sp>
      <p:sp>
        <p:nvSpPr>
          <p:cNvPr id="16" name="Text 12"/>
          <p:cNvSpPr txBox="1"/>
          <p:nvPr/>
        </p:nvSpPr>
        <p:spPr>
          <a:xfrm>
            <a:off x="886968" y="2990088"/>
            <a:ext cx="3099816" cy="457200"/>
          </a:xfrm>
          <a:prstGeom prst="rect">
            <a:avLst/>
          </a:prstGeom>
          <a:noFill/>
          <a:ln/>
        </p:spPr>
        <p:txBody>
          <a:bodyPr wrap="square" lIns="0" tIns="0" rIns="0" bIns="0" rtlCol="0" anchor="t"/>
          <a:lstStyle/>
          <a:p>
            <a:pPr indent="0" marL="0">
              <a:buNone/>
            </a:pPr>
            <a:r>
              <a:rPr lang="en-US" sz="1000" dirty="0">
                <a:solidFill>
                  <a:srgbClr val="2D8C55"/>
                </a:solidFill>
                <a:latin typeface="Poppins SemiBold" pitchFamily="34" charset="0"/>
                <a:ea typeface="Poppins SemiBold" pitchFamily="34" charset="-122"/>
                <a:cs typeface="Poppins SemiBold" pitchFamily="34" charset="-120"/>
              </a:rPr>
              <a:t>Resume · take over · start new</a:t>
            </a:r>
            <a:endParaRPr lang="en-US" sz="1000" dirty="0"/>
          </a:p>
        </p:txBody>
      </p:sp>
      <p:sp>
        <p:nvSpPr>
          <p:cNvPr id="17" name="Shape 13"/>
          <p:cNvSpPr/>
          <p:nvPr/>
        </p:nvSpPr>
        <p:spPr>
          <a:xfrm>
            <a:off x="4343400" y="1691640"/>
            <a:ext cx="3502152" cy="1847088"/>
          </a:xfrm>
          <a:prstGeom prst="roundRect">
            <a:avLst>
              <a:gd name="adj" fmla="val 2970"/>
            </a:avLst>
          </a:prstGeom>
          <a:solidFill>
            <a:srgbClr val="F7F9FC"/>
          </a:solidFill>
          <a:ln/>
        </p:spPr>
        <p:txBody>
          <a:bodyPr/>
          <a:p/>
        </p:txBody>
      </p:sp>
      <p:sp>
        <p:nvSpPr>
          <p:cNvPr id="18" name="Shape 14"/>
          <p:cNvSpPr/>
          <p:nvPr/>
        </p:nvSpPr>
        <p:spPr>
          <a:xfrm>
            <a:off x="4544568" y="1892808"/>
            <a:ext cx="566928" cy="310896"/>
          </a:xfrm>
          <a:prstGeom prst="roundRect">
            <a:avLst>
              <a:gd name="adj" fmla="val 50000"/>
            </a:avLst>
          </a:prstGeom>
          <a:solidFill>
            <a:srgbClr val="2D8C55"/>
          </a:solidFill>
          <a:ln/>
        </p:spPr>
        <p:txBody>
          <a:bodyPr/>
          <a:p/>
        </p:txBody>
      </p:sp>
      <p:sp>
        <p:nvSpPr>
          <p:cNvPr id="19" name="Text 15"/>
          <p:cNvSpPr txBox="1"/>
          <p:nvPr/>
        </p:nvSpPr>
        <p:spPr>
          <a:xfrm>
            <a:off x="4544568" y="1892808"/>
            <a:ext cx="566928" cy="310896"/>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G1</a:t>
            </a:r>
            <a:endParaRPr lang="en-US" sz="1050" dirty="0"/>
          </a:p>
        </p:txBody>
      </p:sp>
      <p:sp>
        <p:nvSpPr>
          <p:cNvPr id="20" name="Text 16"/>
          <p:cNvSpPr txBox="1"/>
          <p:nvPr/>
        </p:nvSpPr>
        <p:spPr>
          <a:xfrm>
            <a:off x="5257800" y="1874520"/>
            <a:ext cx="2039112" cy="347472"/>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Ticket unclear</a:t>
            </a:r>
            <a:endParaRPr lang="en-US" sz="1400" dirty="0"/>
          </a:p>
        </p:txBody>
      </p:sp>
      <p:sp>
        <p:nvSpPr>
          <p:cNvPr id="21" name="Text 17"/>
          <p:cNvSpPr txBox="1"/>
          <p:nvPr/>
        </p:nvSpPr>
        <p:spPr>
          <a:xfrm>
            <a:off x="4544568" y="2331720"/>
            <a:ext cx="3099816" cy="65836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Intake found blocking ambiguities or low confidence.</a:t>
            </a:r>
            <a:endParaRPr lang="en-US" sz="1100" dirty="0"/>
          </a:p>
        </p:txBody>
      </p:sp>
      <p:sp>
        <p:nvSpPr>
          <p:cNvPr id="22" name="Text 18"/>
          <p:cNvSpPr txBox="1"/>
          <p:nvPr/>
        </p:nvSpPr>
        <p:spPr>
          <a:xfrm>
            <a:off x="4544568" y="2990088"/>
            <a:ext cx="3099816" cy="457200"/>
          </a:xfrm>
          <a:prstGeom prst="rect">
            <a:avLst/>
          </a:prstGeom>
          <a:noFill/>
          <a:ln/>
        </p:spPr>
        <p:txBody>
          <a:bodyPr wrap="square" lIns="0" tIns="0" rIns="0" bIns="0" rtlCol="0" anchor="t"/>
          <a:lstStyle/>
          <a:p>
            <a:pPr indent="0" marL="0">
              <a:buNone/>
            </a:pPr>
            <a:r>
              <a:rPr lang="en-US" sz="1000" dirty="0">
                <a:solidFill>
                  <a:srgbClr val="2D8C55"/>
                </a:solidFill>
                <a:latin typeface="Poppins SemiBold" pitchFamily="34" charset="0"/>
                <a:ea typeface="Poppins SemiBold" pitchFamily="34" charset="-122"/>
                <a:cs typeface="Poppins SemiBold" pitchFamily="34" charset="-120"/>
              </a:rPr>
              <a:t>Answer now · post questions to Jira and stop · proceed</a:t>
            </a:r>
            <a:endParaRPr lang="en-US" sz="1000" dirty="0"/>
          </a:p>
        </p:txBody>
      </p:sp>
      <p:sp>
        <p:nvSpPr>
          <p:cNvPr id="23" name="Shape 19"/>
          <p:cNvSpPr/>
          <p:nvPr/>
        </p:nvSpPr>
        <p:spPr>
          <a:xfrm>
            <a:off x="8001000" y="1691640"/>
            <a:ext cx="3502152" cy="1847088"/>
          </a:xfrm>
          <a:prstGeom prst="roundRect">
            <a:avLst>
              <a:gd name="adj" fmla="val 2970"/>
            </a:avLst>
          </a:prstGeom>
          <a:solidFill>
            <a:srgbClr val="F7F9FC"/>
          </a:solidFill>
          <a:ln/>
        </p:spPr>
        <p:txBody>
          <a:bodyPr/>
          <a:p/>
        </p:txBody>
      </p:sp>
      <p:sp>
        <p:nvSpPr>
          <p:cNvPr id="24" name="Shape 20"/>
          <p:cNvSpPr/>
          <p:nvPr/>
        </p:nvSpPr>
        <p:spPr>
          <a:xfrm>
            <a:off x="8202168" y="1892808"/>
            <a:ext cx="566928" cy="310896"/>
          </a:xfrm>
          <a:prstGeom prst="roundRect">
            <a:avLst>
              <a:gd name="adj" fmla="val 50000"/>
            </a:avLst>
          </a:prstGeom>
          <a:solidFill>
            <a:srgbClr val="2D8C55"/>
          </a:solidFill>
          <a:ln/>
        </p:spPr>
        <p:txBody>
          <a:bodyPr/>
          <a:p/>
        </p:txBody>
      </p:sp>
      <p:sp>
        <p:nvSpPr>
          <p:cNvPr id="25" name="Text 21"/>
          <p:cNvSpPr txBox="1"/>
          <p:nvPr/>
        </p:nvSpPr>
        <p:spPr>
          <a:xfrm>
            <a:off x="8202168" y="1892808"/>
            <a:ext cx="566928" cy="310896"/>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G2</a:t>
            </a:r>
            <a:endParaRPr lang="en-US" sz="1050" dirty="0"/>
          </a:p>
        </p:txBody>
      </p:sp>
      <p:sp>
        <p:nvSpPr>
          <p:cNvPr id="26" name="Text 22"/>
          <p:cNvSpPr txBox="1"/>
          <p:nvPr/>
        </p:nvSpPr>
        <p:spPr>
          <a:xfrm>
            <a:off x="8915400" y="1874520"/>
            <a:ext cx="2039112" cy="347472"/>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Approve the plan</a:t>
            </a:r>
            <a:endParaRPr lang="en-US" sz="1400" dirty="0"/>
          </a:p>
        </p:txBody>
      </p:sp>
      <p:sp>
        <p:nvSpPr>
          <p:cNvPr id="27" name="Text 23"/>
          <p:cNvSpPr txBox="1"/>
          <p:nvPr/>
        </p:nvSpPr>
        <p:spPr>
          <a:xfrm>
            <a:off x="8202168" y="2331720"/>
            <a:ext cx="3099816" cy="65836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Every run. Approval binds to the plan's hash: any later edit voids it.</a:t>
            </a:r>
            <a:endParaRPr lang="en-US" sz="1100" dirty="0"/>
          </a:p>
        </p:txBody>
      </p:sp>
      <p:sp>
        <p:nvSpPr>
          <p:cNvPr id="28" name="Text 24"/>
          <p:cNvSpPr txBox="1"/>
          <p:nvPr/>
        </p:nvSpPr>
        <p:spPr>
          <a:xfrm>
            <a:off x="8202168" y="2990088"/>
            <a:ext cx="3099816" cy="457200"/>
          </a:xfrm>
          <a:prstGeom prst="rect">
            <a:avLst/>
          </a:prstGeom>
          <a:noFill/>
          <a:ln/>
        </p:spPr>
        <p:txBody>
          <a:bodyPr wrap="square" lIns="0" tIns="0" rIns="0" bIns="0" rtlCol="0" anchor="t"/>
          <a:lstStyle/>
          <a:p>
            <a:pPr indent="0" marL="0">
              <a:buNone/>
            </a:pPr>
            <a:r>
              <a:rPr lang="en-US" sz="1000" dirty="0">
                <a:solidFill>
                  <a:srgbClr val="2D8C55"/>
                </a:solidFill>
                <a:latin typeface="Poppins SemiBold" pitchFamily="34" charset="0"/>
                <a:ea typeface="Poppins SemiBold" pitchFamily="34" charset="-122"/>
                <a:cs typeface="Poppins SemiBold" pitchFamily="34" charset="-120"/>
              </a:rPr>
              <a:t>Approve · approve + deliver if clean · change · stop</a:t>
            </a:r>
            <a:endParaRPr lang="en-US" sz="1000" dirty="0"/>
          </a:p>
        </p:txBody>
      </p:sp>
      <p:sp>
        <p:nvSpPr>
          <p:cNvPr id="29" name="Shape 25"/>
          <p:cNvSpPr/>
          <p:nvPr/>
        </p:nvSpPr>
        <p:spPr>
          <a:xfrm>
            <a:off x="685800" y="3703320"/>
            <a:ext cx="3502152" cy="1847088"/>
          </a:xfrm>
          <a:prstGeom prst="roundRect">
            <a:avLst>
              <a:gd name="adj" fmla="val 2970"/>
            </a:avLst>
          </a:prstGeom>
          <a:solidFill>
            <a:srgbClr val="F7F9FC"/>
          </a:solidFill>
          <a:ln/>
        </p:spPr>
        <p:txBody>
          <a:bodyPr/>
          <a:p/>
        </p:txBody>
      </p:sp>
      <p:sp>
        <p:nvSpPr>
          <p:cNvPr id="30" name="Shape 26"/>
          <p:cNvSpPr/>
          <p:nvPr/>
        </p:nvSpPr>
        <p:spPr>
          <a:xfrm>
            <a:off x="886968" y="3904488"/>
            <a:ext cx="566928" cy="310896"/>
          </a:xfrm>
          <a:prstGeom prst="roundRect">
            <a:avLst>
              <a:gd name="adj" fmla="val 50000"/>
            </a:avLst>
          </a:prstGeom>
          <a:solidFill>
            <a:srgbClr val="2D8C55"/>
          </a:solidFill>
          <a:ln/>
        </p:spPr>
        <p:txBody>
          <a:bodyPr/>
          <a:p/>
        </p:txBody>
      </p:sp>
      <p:sp>
        <p:nvSpPr>
          <p:cNvPr id="31" name="Text 27"/>
          <p:cNvSpPr txBox="1"/>
          <p:nvPr/>
        </p:nvSpPr>
        <p:spPr>
          <a:xfrm>
            <a:off x="886968" y="3904488"/>
            <a:ext cx="566928" cy="310896"/>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G3</a:t>
            </a:r>
            <a:endParaRPr lang="en-US" sz="1050" dirty="0"/>
          </a:p>
        </p:txBody>
      </p:sp>
      <p:sp>
        <p:nvSpPr>
          <p:cNvPr id="32" name="Text 28"/>
          <p:cNvSpPr txBox="1"/>
          <p:nvPr/>
        </p:nvSpPr>
        <p:spPr>
          <a:xfrm>
            <a:off x="1600200" y="3886200"/>
            <a:ext cx="2039112" cy="347472"/>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Unexpected</a:t>
            </a:r>
            <a:endParaRPr lang="en-US" sz="1400" dirty="0"/>
          </a:p>
        </p:txBody>
      </p:sp>
      <p:sp>
        <p:nvSpPr>
          <p:cNvPr id="33" name="Text 29"/>
          <p:cNvSpPr txBox="1"/>
          <p:nvPr/>
        </p:nvSpPr>
        <p:spPr>
          <a:xfrm>
            <a:off x="886968" y="4343400"/>
            <a:ext cx="3099816" cy="65836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Invalid agent output, a flagged test diff, test budget used, a failure that isn't a plain defect.</a:t>
            </a:r>
            <a:endParaRPr lang="en-US" sz="1100" dirty="0"/>
          </a:p>
        </p:txBody>
      </p:sp>
      <p:sp>
        <p:nvSpPr>
          <p:cNvPr id="34" name="Text 30"/>
          <p:cNvSpPr txBox="1"/>
          <p:nvPr/>
        </p:nvSpPr>
        <p:spPr>
          <a:xfrm>
            <a:off x="886968" y="5001768"/>
            <a:ext cx="3099816" cy="457200"/>
          </a:xfrm>
          <a:prstGeom prst="rect">
            <a:avLst/>
          </a:prstGeom>
          <a:noFill/>
          <a:ln/>
        </p:spPr>
        <p:txBody>
          <a:bodyPr wrap="square" lIns="0" tIns="0" rIns="0" bIns="0" rtlCol="0" anchor="t"/>
          <a:lstStyle/>
          <a:p>
            <a:pPr indent="0" marL="0">
              <a:buNone/>
            </a:pPr>
            <a:r>
              <a:rPr lang="en-US" sz="1000" dirty="0">
                <a:solidFill>
                  <a:srgbClr val="2D8C55"/>
                </a:solidFill>
                <a:latin typeface="Poppins SemiBold" pitchFamily="34" charset="0"/>
                <a:ea typeface="Poppins SemiBold" pitchFamily="34" charset="-122"/>
                <a:cs typeface="Poppins SemiBold" pitchFamily="34" charset="-120"/>
              </a:rPr>
              <a:t>Fix · accept · continue with findings · stop</a:t>
            </a:r>
            <a:endParaRPr lang="en-US" sz="1000" dirty="0"/>
          </a:p>
        </p:txBody>
      </p:sp>
      <p:sp>
        <p:nvSpPr>
          <p:cNvPr id="35" name="Shape 31"/>
          <p:cNvSpPr/>
          <p:nvPr/>
        </p:nvSpPr>
        <p:spPr>
          <a:xfrm>
            <a:off x="4343400" y="3703320"/>
            <a:ext cx="3502152" cy="1847088"/>
          </a:xfrm>
          <a:prstGeom prst="roundRect">
            <a:avLst>
              <a:gd name="adj" fmla="val 2970"/>
            </a:avLst>
          </a:prstGeom>
          <a:solidFill>
            <a:srgbClr val="F7F9FC"/>
          </a:solidFill>
          <a:ln/>
        </p:spPr>
        <p:txBody>
          <a:bodyPr/>
          <a:p/>
        </p:txBody>
      </p:sp>
      <p:sp>
        <p:nvSpPr>
          <p:cNvPr id="36" name="Shape 32"/>
          <p:cNvSpPr/>
          <p:nvPr/>
        </p:nvSpPr>
        <p:spPr>
          <a:xfrm>
            <a:off x="4544568" y="3904488"/>
            <a:ext cx="1051560" cy="310896"/>
          </a:xfrm>
          <a:prstGeom prst="roundRect">
            <a:avLst>
              <a:gd name="adj" fmla="val 50000"/>
            </a:avLst>
          </a:prstGeom>
          <a:solidFill>
            <a:srgbClr val="2D8C55"/>
          </a:solidFill>
          <a:ln/>
        </p:spPr>
        <p:txBody>
          <a:bodyPr/>
          <a:p/>
        </p:txBody>
      </p:sp>
      <p:sp>
        <p:nvSpPr>
          <p:cNvPr id="37" name="Text 33"/>
          <p:cNvSpPr txBox="1"/>
          <p:nvPr/>
        </p:nvSpPr>
        <p:spPr>
          <a:xfrm>
            <a:off x="4544568" y="3904488"/>
            <a:ext cx="1051560" cy="310896"/>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DELIVER</a:t>
            </a:r>
            <a:endParaRPr lang="en-US" sz="1050" dirty="0"/>
          </a:p>
        </p:txBody>
      </p:sp>
      <p:sp>
        <p:nvSpPr>
          <p:cNvPr id="38" name="Text 34"/>
          <p:cNvSpPr txBox="1"/>
          <p:nvPr/>
        </p:nvSpPr>
        <p:spPr>
          <a:xfrm>
            <a:off x="5715000" y="3886200"/>
            <a:ext cx="2039112" cy="347472"/>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Push the QA PR?</a:t>
            </a:r>
            <a:endParaRPr lang="en-US" sz="1400" dirty="0"/>
          </a:p>
        </p:txBody>
      </p:sp>
      <p:sp>
        <p:nvSpPr>
          <p:cNvPr id="39" name="Text 35"/>
          <p:cNvSpPr txBox="1"/>
          <p:nvPr/>
        </p:nvSpPr>
        <p:spPr>
          <a:xfrm>
            <a:off x="4544568" y="4343400"/>
            <a:ext cx="3099816" cy="65836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Skipped when G2 pre-approved a clean pass, or when there's nothing to push.</a:t>
            </a:r>
            <a:endParaRPr lang="en-US" sz="1100" dirty="0"/>
          </a:p>
        </p:txBody>
      </p:sp>
      <p:sp>
        <p:nvSpPr>
          <p:cNvPr id="40" name="Text 36"/>
          <p:cNvSpPr txBox="1"/>
          <p:nvPr/>
        </p:nvSpPr>
        <p:spPr>
          <a:xfrm>
            <a:off x="4544568" y="5001768"/>
            <a:ext cx="3099816" cy="457200"/>
          </a:xfrm>
          <a:prstGeom prst="rect">
            <a:avLst/>
          </a:prstGeom>
          <a:noFill/>
          <a:ln/>
        </p:spPr>
        <p:txBody>
          <a:bodyPr wrap="square" lIns="0" tIns="0" rIns="0" bIns="0" rtlCol="0" anchor="t"/>
          <a:lstStyle/>
          <a:p>
            <a:pPr indent="0" marL="0">
              <a:buNone/>
            </a:pPr>
            <a:r>
              <a:rPr lang="en-US" sz="1000" dirty="0">
                <a:solidFill>
                  <a:srgbClr val="2D8C55"/>
                </a:solidFill>
                <a:latin typeface="Poppins SemiBold" pitchFamily="34" charset="0"/>
                <a:ea typeface="Poppins SemiBold" pitchFamily="34" charset="-122"/>
                <a:cs typeface="Poppins SemiBold" pitchFamily="34" charset="-120"/>
              </a:rPr>
              <a:t>Yes · No (nothing pushed, ticket stays In QA)</a:t>
            </a:r>
            <a:endParaRPr lang="en-US" sz="1000" dirty="0"/>
          </a:p>
        </p:txBody>
      </p:sp>
      <p:sp>
        <p:nvSpPr>
          <p:cNvPr id="41" name="Shape 37"/>
          <p:cNvSpPr/>
          <p:nvPr/>
        </p:nvSpPr>
        <p:spPr>
          <a:xfrm>
            <a:off x="8001000" y="3703320"/>
            <a:ext cx="3502152" cy="1847088"/>
          </a:xfrm>
          <a:prstGeom prst="roundRect">
            <a:avLst>
              <a:gd name="adj" fmla="val 2970"/>
            </a:avLst>
          </a:prstGeom>
          <a:solidFill>
            <a:srgbClr val="E6F3EC"/>
          </a:solidFill>
          <a:ln/>
        </p:spPr>
        <p:txBody>
          <a:bodyPr/>
          <a:p/>
        </p:txBody>
      </p:sp>
      <p:sp>
        <p:nvSpPr>
          <p:cNvPr id="42" name="Shape 38"/>
          <p:cNvSpPr/>
          <p:nvPr/>
        </p:nvSpPr>
        <p:spPr>
          <a:xfrm>
            <a:off x="8202168" y="3904488"/>
            <a:ext cx="566928" cy="310896"/>
          </a:xfrm>
          <a:prstGeom prst="roundRect">
            <a:avLst>
              <a:gd name="adj" fmla="val 50000"/>
            </a:avLst>
          </a:prstGeom>
          <a:solidFill>
            <a:srgbClr val="2D8C55"/>
          </a:solidFill>
          <a:ln/>
        </p:spPr>
        <p:txBody>
          <a:bodyPr/>
          <a:p/>
        </p:txBody>
      </p:sp>
      <p:sp>
        <p:nvSpPr>
          <p:cNvPr id="43" name="Text 39"/>
          <p:cNvSpPr txBox="1"/>
          <p:nvPr/>
        </p:nvSpPr>
        <p:spPr>
          <a:xfrm>
            <a:off x="8202168" y="3904488"/>
            <a:ext cx="566928" cy="310896"/>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G4</a:t>
            </a:r>
            <a:endParaRPr lang="en-US" sz="1050" dirty="0"/>
          </a:p>
        </p:txBody>
      </p:sp>
      <p:sp>
        <p:nvSpPr>
          <p:cNvPr id="44" name="Text 40"/>
          <p:cNvSpPr txBox="1"/>
          <p:nvPr/>
        </p:nvSpPr>
        <p:spPr>
          <a:xfrm>
            <a:off x="8915400" y="3886200"/>
            <a:ext cx="2039112" cy="347472"/>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Merge + verdict</a:t>
            </a:r>
            <a:endParaRPr lang="en-US" sz="1400" dirty="0"/>
          </a:p>
        </p:txBody>
      </p:sp>
      <p:sp>
        <p:nvSpPr>
          <p:cNvPr id="45" name="Text 41"/>
          <p:cNvSpPr txBox="1"/>
          <p:nvPr/>
        </p:nvSpPr>
        <p:spPr>
          <a:xfrm>
            <a:off x="8202168" y="4343400"/>
            <a:ext cx="3099816" cy="65836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Always a person, in GitHub and Jira. The plugin can't do it.</a:t>
            </a:r>
            <a:endParaRPr lang="en-US" sz="1100" dirty="0"/>
          </a:p>
        </p:txBody>
      </p:sp>
      <p:sp>
        <p:nvSpPr>
          <p:cNvPr id="46" name="Text 42"/>
          <p:cNvSpPr txBox="1"/>
          <p:nvPr/>
        </p:nvSpPr>
        <p:spPr>
          <a:xfrm>
            <a:off x="8202168" y="5001768"/>
            <a:ext cx="3099816" cy="457200"/>
          </a:xfrm>
          <a:prstGeom prst="rect">
            <a:avLst/>
          </a:prstGeom>
          <a:noFill/>
          <a:ln/>
        </p:spPr>
        <p:txBody>
          <a:bodyPr wrap="square" lIns="0" tIns="0" rIns="0" bIns="0" rtlCol="0" anchor="t"/>
          <a:lstStyle/>
          <a:p>
            <a:pPr indent="0" marL="0">
              <a:buNone/>
            </a:pPr>
            <a:r>
              <a:rPr lang="en-US" sz="1000" dirty="0">
                <a:solidFill>
                  <a:srgbClr val="2D8C55"/>
                </a:solidFill>
                <a:latin typeface="Poppins SemiBold" pitchFamily="34" charset="0"/>
                <a:ea typeface="Poppins SemiBold" pitchFamily="34" charset="-122"/>
                <a:cs typeface="Poppins SemiBold" pitchFamily="34" charset="-120"/>
              </a:rPr>
              <a:t>Merge the QA PR · set QA Passed / QA Failed</a:t>
            </a:r>
            <a:endParaRPr lang="en-US" sz="1000" dirty="0"/>
          </a:p>
        </p:txBody>
      </p:sp>
      <p:sp>
        <p:nvSpPr>
          <p:cNvPr id="47" name="Text 43"/>
          <p:cNvSpPr txBox="1"/>
          <p:nvPr/>
        </p:nvSpPr>
        <p:spPr>
          <a:xfrm>
            <a:off x="685800" y="576072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Plus three breakers that stop the run without asking: BLOCKED_BACKGROUND · BLOCKED_NOT_INTEGRATED · BLOCKED_ENV (app down or wrong build).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Every Loop Has a Cap</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The counter lives in a hook or a script, never in the model's head</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17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10817352" cy="576072"/>
          </a:xfrm>
          <a:prstGeom prst="roundRect">
            <a:avLst>
              <a:gd name="adj" fmla="val 6349"/>
            </a:avLst>
          </a:prstGeom>
          <a:solidFill>
            <a:srgbClr val="F7F9FC"/>
          </a:solidFill>
          <a:ln/>
        </p:spPr>
        <p:txBody>
          <a:bodyPr/>
          <a:p/>
        </p:txBody>
      </p:sp>
      <p:sp>
        <p:nvSpPr>
          <p:cNvPr id="12" name="Text 8"/>
          <p:cNvSpPr txBox="1"/>
          <p:nvPr/>
        </p:nvSpPr>
        <p:spPr>
          <a:xfrm>
            <a:off x="822960" y="1691640"/>
            <a:ext cx="365760" cy="576072"/>
          </a:xfrm>
          <a:prstGeom prst="rect">
            <a:avLst/>
          </a:prstGeom>
          <a:noFill/>
          <a:ln/>
        </p:spPr>
        <p:txBody>
          <a:bodyPr wrap="square" lIns="0" tIns="0" rIns="0" bIns="0" rtlCol="0" anchor="ctr"/>
          <a:lstStyle/>
          <a:p>
            <a:pPr algn="ctr" indent="0" marL="0">
              <a:buNone/>
            </a:pPr>
            <a:r>
              <a:rPr lang="en-US" sz="1800" dirty="0">
                <a:solidFill>
                  <a:srgbClr val="405AE7"/>
                </a:solidFill>
                <a:latin typeface="Poppins" pitchFamily="34" charset="0"/>
                <a:ea typeface="Poppins" pitchFamily="34" charset="-122"/>
                <a:cs typeface="Poppins" pitchFamily="34" charset="-120"/>
              </a:rPr>
              <a:t>↺</a:t>
            </a:r>
            <a:endParaRPr lang="en-US" sz="1800" dirty="0"/>
          </a:p>
        </p:txBody>
      </p:sp>
      <p:sp>
        <p:nvSpPr>
          <p:cNvPr id="13" name="Text 9"/>
          <p:cNvSpPr txBox="1"/>
          <p:nvPr/>
        </p:nvSpPr>
        <p:spPr>
          <a:xfrm>
            <a:off x="1280160" y="1691640"/>
            <a:ext cx="2377440" cy="576072"/>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Critic review</a:t>
            </a:r>
            <a:endParaRPr lang="en-US" sz="1300" dirty="0"/>
          </a:p>
        </p:txBody>
      </p:sp>
      <p:sp>
        <p:nvSpPr>
          <p:cNvPr id="14" name="Text 10"/>
          <p:cNvSpPr txBox="1"/>
          <p:nvPr/>
        </p:nvSpPr>
        <p:spPr>
          <a:xfrm>
            <a:off x="3657600" y="1691640"/>
            <a:ext cx="4297680" cy="576072"/>
          </a:xfrm>
          <a:prstGeom prst="rect">
            <a:avLst/>
          </a:prstGeom>
          <a:noFill/>
          <a:ln/>
        </p:spPr>
        <p:txBody>
          <a:bodyPr wrap="square" lIns="0" tIns="0" rIns="0" bIns="0" rtlCol="0" anchor="ctr"/>
          <a:lstStyle/>
          <a:p>
            <a:pPr indent="0" marL="0">
              <a:buNone/>
            </a:pPr>
            <a:r>
              <a:rPr lang="en-US" sz="1050" dirty="0">
                <a:solidFill>
                  <a:srgbClr val="666666"/>
                </a:solidFill>
                <a:latin typeface="Poppins" pitchFamily="34" charset="0"/>
                <a:ea typeface="Poppins" pitchFamily="34" charset="-122"/>
                <a:cs typeface="Poppins" pitchFamily="34" charset="-120"/>
              </a:rPr>
              <a:t>revise → re-run only the targeted agents → merge → critique again</a:t>
            </a:r>
            <a:endParaRPr lang="en-US" sz="1050" dirty="0"/>
          </a:p>
        </p:txBody>
      </p:sp>
      <p:sp>
        <p:nvSpPr>
          <p:cNvPr id="15" name="Shape 11"/>
          <p:cNvSpPr/>
          <p:nvPr/>
        </p:nvSpPr>
        <p:spPr>
          <a:xfrm>
            <a:off x="8092440" y="1810512"/>
            <a:ext cx="2606040" cy="338328"/>
          </a:xfrm>
          <a:prstGeom prst="roundRect">
            <a:avLst>
              <a:gd name="adj" fmla="val 50000"/>
            </a:avLst>
          </a:prstGeom>
          <a:solidFill>
            <a:srgbClr val="FFF6D6"/>
          </a:solidFill>
          <a:ln/>
        </p:spPr>
        <p:txBody>
          <a:bodyPr/>
          <a:p/>
        </p:txBody>
      </p:sp>
      <p:sp>
        <p:nvSpPr>
          <p:cNvPr id="16" name="Text 12"/>
          <p:cNvSpPr txBox="1"/>
          <p:nvPr/>
        </p:nvSpPr>
        <p:spPr>
          <a:xfrm>
            <a:off x="8092440" y="1810512"/>
            <a:ext cx="2606040" cy="33832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max 2 revisions, then G2-escalate</a:t>
            </a:r>
            <a:endParaRPr lang="en-US" sz="950" dirty="0"/>
          </a:p>
        </p:txBody>
      </p:sp>
      <p:sp>
        <p:nvSpPr>
          <p:cNvPr id="17" name="Text 13"/>
          <p:cNvSpPr txBox="1"/>
          <p:nvPr/>
        </p:nvSpPr>
        <p:spPr>
          <a:xfrm>
            <a:off x="10789920" y="1691640"/>
            <a:ext cx="594360" cy="576072"/>
          </a:xfrm>
          <a:prstGeom prst="rect">
            <a:avLst/>
          </a:prstGeom>
          <a:noFill/>
          <a:ln/>
        </p:spPr>
        <p:txBody>
          <a:bodyPr wrap="square" lIns="0" tIns="0" rIns="0" bIns="0" rtlCol="0" anchor="ctr"/>
          <a:lstStyle/>
          <a:p>
            <a:pPr algn="ctr" indent="0" marL="0">
              <a:buNone/>
            </a:pPr>
            <a:r>
              <a:rPr lang="en-US" sz="1000" dirty="0">
                <a:solidFill>
                  <a:srgbClr val="999999"/>
                </a:solidFill>
                <a:latin typeface="Poppins SemiBold" pitchFamily="34" charset="0"/>
                <a:ea typeface="Poppins SemiBold" pitchFamily="34" charset="-122"/>
                <a:cs typeface="Poppins SemiBold" pitchFamily="34" charset="-120"/>
              </a:rPr>
              <a:t>H5</a:t>
            </a:r>
            <a:endParaRPr lang="en-US" sz="1000" dirty="0"/>
          </a:p>
        </p:txBody>
      </p:sp>
      <p:sp>
        <p:nvSpPr>
          <p:cNvPr id="18" name="Shape 14"/>
          <p:cNvSpPr/>
          <p:nvPr/>
        </p:nvSpPr>
        <p:spPr>
          <a:xfrm>
            <a:off x="685800" y="2377440"/>
            <a:ext cx="10817352" cy="576072"/>
          </a:xfrm>
          <a:prstGeom prst="roundRect">
            <a:avLst>
              <a:gd name="adj" fmla="val 6349"/>
            </a:avLst>
          </a:prstGeom>
          <a:solidFill>
            <a:srgbClr val="F7F9FC"/>
          </a:solidFill>
          <a:ln/>
        </p:spPr>
        <p:txBody>
          <a:bodyPr/>
          <a:p/>
        </p:txBody>
      </p:sp>
      <p:sp>
        <p:nvSpPr>
          <p:cNvPr id="19" name="Text 15"/>
          <p:cNvSpPr txBox="1"/>
          <p:nvPr/>
        </p:nvSpPr>
        <p:spPr>
          <a:xfrm>
            <a:off x="822960" y="2377440"/>
            <a:ext cx="365760" cy="576072"/>
          </a:xfrm>
          <a:prstGeom prst="rect">
            <a:avLst/>
          </a:prstGeom>
          <a:noFill/>
          <a:ln/>
        </p:spPr>
        <p:txBody>
          <a:bodyPr wrap="square" lIns="0" tIns="0" rIns="0" bIns="0" rtlCol="0" anchor="ctr"/>
          <a:lstStyle/>
          <a:p>
            <a:pPr algn="ctr" indent="0" marL="0">
              <a:buNone/>
            </a:pPr>
            <a:r>
              <a:rPr lang="en-US" sz="1800" dirty="0">
                <a:solidFill>
                  <a:srgbClr val="405AE7"/>
                </a:solidFill>
                <a:latin typeface="Poppins" pitchFamily="34" charset="0"/>
                <a:ea typeface="Poppins" pitchFamily="34" charset="-122"/>
                <a:cs typeface="Poppins" pitchFamily="34" charset="-120"/>
              </a:rPr>
              <a:t>↺</a:t>
            </a:r>
            <a:endParaRPr lang="en-US" sz="1800" dirty="0"/>
          </a:p>
        </p:txBody>
      </p:sp>
      <p:sp>
        <p:nvSpPr>
          <p:cNvPr id="20" name="Text 16"/>
          <p:cNvSpPr txBox="1"/>
          <p:nvPr/>
        </p:nvSpPr>
        <p:spPr>
          <a:xfrm>
            <a:off x="1280160" y="2377440"/>
            <a:ext cx="2377440" cy="576072"/>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Invalid agent output</a:t>
            </a:r>
            <a:endParaRPr lang="en-US" sz="1300" dirty="0"/>
          </a:p>
        </p:txBody>
      </p:sp>
      <p:sp>
        <p:nvSpPr>
          <p:cNvPr id="21" name="Text 17"/>
          <p:cNvSpPr txBox="1"/>
          <p:nvPr/>
        </p:nvSpPr>
        <p:spPr>
          <a:xfrm>
            <a:off x="3657600" y="2377440"/>
            <a:ext cx="4297680" cy="576072"/>
          </a:xfrm>
          <a:prstGeom prst="rect">
            <a:avLst/>
          </a:prstGeom>
          <a:noFill/>
          <a:ln/>
        </p:spPr>
        <p:txBody>
          <a:bodyPr wrap="square" lIns="0" tIns="0" rIns="0" bIns="0" rtlCol="0" anchor="ctr"/>
          <a:lstStyle/>
          <a:p>
            <a:pPr indent="0" marL="0">
              <a:buNone/>
            </a:pPr>
            <a:r>
              <a:rPr lang="en-US" sz="1050" dirty="0">
                <a:solidFill>
                  <a:srgbClr val="666666"/>
                </a:solidFill>
                <a:latin typeface="Poppins" pitchFamily="34" charset="0"/>
                <a:ea typeface="Poppins" pitchFamily="34" charset="-122"/>
                <a:cs typeface="Poppins" pitchFamily="34" charset="-120"/>
              </a:rPr>
              <a:t>schema fails → one -fix dispatch with the errors → G3 → one more -fix → stop</a:t>
            </a:r>
            <a:endParaRPr lang="en-US" sz="1050" dirty="0"/>
          </a:p>
        </p:txBody>
      </p:sp>
      <p:sp>
        <p:nvSpPr>
          <p:cNvPr id="22" name="Shape 18"/>
          <p:cNvSpPr/>
          <p:nvPr/>
        </p:nvSpPr>
        <p:spPr>
          <a:xfrm>
            <a:off x="8092440" y="2496312"/>
            <a:ext cx="2606040" cy="338328"/>
          </a:xfrm>
          <a:prstGeom prst="roundRect">
            <a:avLst>
              <a:gd name="adj" fmla="val 50000"/>
            </a:avLst>
          </a:prstGeom>
          <a:solidFill>
            <a:srgbClr val="FFF6D6"/>
          </a:solidFill>
          <a:ln/>
        </p:spPr>
        <p:txBody>
          <a:bodyPr/>
          <a:p/>
        </p:txBody>
      </p:sp>
      <p:sp>
        <p:nvSpPr>
          <p:cNvPr id="23" name="Text 19"/>
          <p:cNvSpPr txBox="1"/>
          <p:nvPr/>
        </p:nvSpPr>
        <p:spPr>
          <a:xfrm>
            <a:off x="8092440" y="2496312"/>
            <a:ext cx="2606040" cy="33832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2 fixes, then the run stops</a:t>
            </a:r>
            <a:endParaRPr lang="en-US" sz="950" dirty="0"/>
          </a:p>
        </p:txBody>
      </p:sp>
      <p:sp>
        <p:nvSpPr>
          <p:cNvPr id="24" name="Text 20"/>
          <p:cNvSpPr txBox="1"/>
          <p:nvPr/>
        </p:nvSpPr>
        <p:spPr>
          <a:xfrm>
            <a:off x="10789920" y="2377440"/>
            <a:ext cx="594360" cy="576072"/>
          </a:xfrm>
          <a:prstGeom prst="rect">
            <a:avLst/>
          </a:prstGeom>
          <a:noFill/>
          <a:ln/>
        </p:spPr>
        <p:txBody>
          <a:bodyPr wrap="square" lIns="0" tIns="0" rIns="0" bIns="0" rtlCol="0" anchor="ctr"/>
          <a:lstStyle/>
          <a:p>
            <a:pPr algn="ctr" indent="0" marL="0">
              <a:buNone/>
            </a:pPr>
            <a:r>
              <a:rPr lang="en-US" sz="1000" dirty="0">
                <a:solidFill>
                  <a:srgbClr val="999999"/>
                </a:solidFill>
                <a:latin typeface="Poppins SemiBold" pitchFamily="34" charset="0"/>
                <a:ea typeface="Poppins SemiBold" pitchFamily="34" charset="-122"/>
                <a:cs typeface="Poppins SemiBold" pitchFamily="34" charset="-120"/>
              </a:rPr>
              <a:t>validate</a:t>
            </a:r>
            <a:endParaRPr lang="en-US" sz="1000" dirty="0"/>
          </a:p>
        </p:txBody>
      </p:sp>
      <p:sp>
        <p:nvSpPr>
          <p:cNvPr id="25" name="Shape 21"/>
          <p:cNvSpPr/>
          <p:nvPr/>
        </p:nvSpPr>
        <p:spPr>
          <a:xfrm>
            <a:off x="685800" y="3063240"/>
            <a:ext cx="10817352" cy="576072"/>
          </a:xfrm>
          <a:prstGeom prst="roundRect">
            <a:avLst>
              <a:gd name="adj" fmla="val 6349"/>
            </a:avLst>
          </a:prstGeom>
          <a:solidFill>
            <a:srgbClr val="F7F9FC"/>
          </a:solidFill>
          <a:ln/>
        </p:spPr>
        <p:txBody>
          <a:bodyPr/>
          <a:p/>
        </p:txBody>
      </p:sp>
      <p:sp>
        <p:nvSpPr>
          <p:cNvPr id="26" name="Text 22"/>
          <p:cNvSpPr txBox="1"/>
          <p:nvPr/>
        </p:nvSpPr>
        <p:spPr>
          <a:xfrm>
            <a:off x="822960" y="3063240"/>
            <a:ext cx="365760" cy="576072"/>
          </a:xfrm>
          <a:prstGeom prst="rect">
            <a:avLst/>
          </a:prstGeom>
          <a:noFill/>
          <a:ln/>
        </p:spPr>
        <p:txBody>
          <a:bodyPr wrap="square" lIns="0" tIns="0" rIns="0" bIns="0" rtlCol="0" anchor="ctr"/>
          <a:lstStyle/>
          <a:p>
            <a:pPr algn="ctr" indent="0" marL="0">
              <a:buNone/>
            </a:pPr>
            <a:r>
              <a:rPr lang="en-US" sz="1800" dirty="0">
                <a:solidFill>
                  <a:srgbClr val="405AE7"/>
                </a:solidFill>
                <a:latin typeface="Poppins" pitchFamily="34" charset="0"/>
                <a:ea typeface="Poppins" pitchFamily="34" charset="-122"/>
                <a:cs typeface="Poppins" pitchFamily="34" charset="-120"/>
              </a:rPr>
              <a:t>↺</a:t>
            </a:r>
            <a:endParaRPr lang="en-US" sz="1800" dirty="0"/>
          </a:p>
        </p:txBody>
      </p:sp>
      <p:sp>
        <p:nvSpPr>
          <p:cNvPr id="27" name="Text 23"/>
          <p:cNvSpPr txBox="1"/>
          <p:nvPr/>
        </p:nvSpPr>
        <p:spPr>
          <a:xfrm>
            <a:off x="1280160" y="3063240"/>
            <a:ext cx="2377440" cy="576072"/>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Author self-check</a:t>
            </a:r>
            <a:endParaRPr lang="en-US" sz="1300" dirty="0"/>
          </a:p>
        </p:txBody>
      </p:sp>
      <p:sp>
        <p:nvSpPr>
          <p:cNvPr id="28" name="Text 24"/>
          <p:cNvSpPr txBox="1"/>
          <p:nvPr/>
        </p:nvSpPr>
        <p:spPr>
          <a:xfrm>
            <a:off x="3657600" y="3063240"/>
            <a:ext cx="4297680" cy="576072"/>
          </a:xfrm>
          <a:prstGeom prst="rect">
            <a:avLst/>
          </a:prstGeom>
          <a:noFill/>
          <a:ln/>
        </p:spPr>
        <p:txBody>
          <a:bodyPr wrap="square" lIns="0" tIns="0" rIns="0" bIns="0" rtlCol="0" anchor="ctr"/>
          <a:lstStyle/>
          <a:p>
            <a:pPr indent="0" marL="0">
              <a:buNone/>
            </a:pPr>
            <a:r>
              <a:rPr lang="en-US" sz="1050" dirty="0">
                <a:solidFill>
                  <a:srgbClr val="666666"/>
                </a:solidFill>
                <a:latin typeface="Poppins" pitchFamily="34" charset="0"/>
                <a:ea typeface="Poppins" pitchFamily="34" charset="-122"/>
                <a:cs typeface="Poppins" pitchFamily="34" charset="-120"/>
              </a:rPr>
              <a:t>the author runs its own new specs before handing back</a:t>
            </a:r>
            <a:endParaRPr lang="en-US" sz="1050" dirty="0"/>
          </a:p>
        </p:txBody>
      </p:sp>
      <p:sp>
        <p:nvSpPr>
          <p:cNvPr id="29" name="Shape 25"/>
          <p:cNvSpPr/>
          <p:nvPr/>
        </p:nvSpPr>
        <p:spPr>
          <a:xfrm>
            <a:off x="8092440" y="3182112"/>
            <a:ext cx="2606040" cy="338328"/>
          </a:xfrm>
          <a:prstGeom prst="roundRect">
            <a:avLst>
              <a:gd name="adj" fmla="val 50000"/>
            </a:avLst>
          </a:prstGeom>
          <a:solidFill>
            <a:srgbClr val="FFF6D6"/>
          </a:solidFill>
          <a:ln/>
        </p:spPr>
        <p:txBody>
          <a:bodyPr/>
          <a:p/>
        </p:txBody>
      </p:sp>
      <p:sp>
        <p:nvSpPr>
          <p:cNvPr id="30" name="Text 26"/>
          <p:cNvSpPr txBox="1"/>
          <p:nvPr/>
        </p:nvSpPr>
        <p:spPr>
          <a:xfrm>
            <a:off x="8092440" y="3182112"/>
            <a:ext cx="2606040" cy="33832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max 3, the 3rd only on still-failing specs</a:t>
            </a:r>
            <a:endParaRPr lang="en-US" sz="950" dirty="0"/>
          </a:p>
        </p:txBody>
      </p:sp>
      <p:sp>
        <p:nvSpPr>
          <p:cNvPr id="31" name="Text 27"/>
          <p:cNvSpPr txBox="1"/>
          <p:nvPr/>
        </p:nvSpPr>
        <p:spPr>
          <a:xfrm>
            <a:off x="10789920" y="3063240"/>
            <a:ext cx="594360" cy="576072"/>
          </a:xfrm>
          <a:prstGeom prst="rect">
            <a:avLst/>
          </a:prstGeom>
          <a:noFill/>
          <a:ln/>
        </p:spPr>
        <p:txBody>
          <a:bodyPr wrap="square" lIns="0" tIns="0" rIns="0" bIns="0" rtlCol="0" anchor="ctr"/>
          <a:lstStyle/>
          <a:p>
            <a:pPr algn="ctr" indent="0" marL="0">
              <a:buNone/>
            </a:pPr>
            <a:r>
              <a:rPr lang="en-US" sz="1000" dirty="0">
                <a:solidFill>
                  <a:srgbClr val="999999"/>
                </a:solidFill>
                <a:latin typeface="Poppins SemiBold" pitchFamily="34" charset="0"/>
                <a:ea typeface="Poppins SemiBold" pitchFamily="34" charset="-122"/>
                <a:cs typeface="Poppins SemiBold" pitchFamily="34" charset="-120"/>
              </a:rPr>
              <a:t>brief</a:t>
            </a:r>
            <a:endParaRPr lang="en-US" sz="1000" dirty="0"/>
          </a:p>
        </p:txBody>
      </p:sp>
      <p:sp>
        <p:nvSpPr>
          <p:cNvPr id="32" name="Shape 28"/>
          <p:cNvSpPr/>
          <p:nvPr/>
        </p:nvSpPr>
        <p:spPr>
          <a:xfrm>
            <a:off x="685800" y="3749040"/>
            <a:ext cx="10817352" cy="576072"/>
          </a:xfrm>
          <a:prstGeom prst="roundRect">
            <a:avLst>
              <a:gd name="adj" fmla="val 6349"/>
            </a:avLst>
          </a:prstGeom>
          <a:solidFill>
            <a:srgbClr val="F7F9FC"/>
          </a:solidFill>
          <a:ln/>
        </p:spPr>
        <p:txBody>
          <a:bodyPr/>
          <a:p/>
        </p:txBody>
      </p:sp>
      <p:sp>
        <p:nvSpPr>
          <p:cNvPr id="33" name="Text 29"/>
          <p:cNvSpPr txBox="1"/>
          <p:nvPr/>
        </p:nvSpPr>
        <p:spPr>
          <a:xfrm>
            <a:off x="822960" y="3749040"/>
            <a:ext cx="365760" cy="576072"/>
          </a:xfrm>
          <a:prstGeom prst="rect">
            <a:avLst/>
          </a:prstGeom>
          <a:noFill/>
          <a:ln/>
        </p:spPr>
        <p:txBody>
          <a:bodyPr wrap="square" lIns="0" tIns="0" rIns="0" bIns="0" rtlCol="0" anchor="ctr"/>
          <a:lstStyle/>
          <a:p>
            <a:pPr algn="ctr" indent="0" marL="0">
              <a:buNone/>
            </a:pPr>
            <a:r>
              <a:rPr lang="en-US" sz="1800" dirty="0">
                <a:solidFill>
                  <a:srgbClr val="405AE7"/>
                </a:solidFill>
                <a:latin typeface="Poppins" pitchFamily="34" charset="0"/>
                <a:ea typeface="Poppins" pitchFamily="34" charset="-122"/>
                <a:cs typeface="Poppins" pitchFamily="34" charset="-120"/>
              </a:rPr>
              <a:t>↺</a:t>
            </a:r>
            <a:endParaRPr lang="en-US" sz="1800" dirty="0"/>
          </a:p>
        </p:txBody>
      </p:sp>
      <p:sp>
        <p:nvSpPr>
          <p:cNvPr id="34" name="Text 30"/>
          <p:cNvSpPr txBox="1"/>
          <p:nvPr/>
        </p:nvSpPr>
        <p:spPr>
          <a:xfrm>
            <a:off x="1280160" y="3749040"/>
            <a:ext cx="2377440" cy="576072"/>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Flaky suspected</a:t>
            </a:r>
            <a:endParaRPr lang="en-US" sz="1300" dirty="0"/>
          </a:p>
        </p:txBody>
      </p:sp>
      <p:sp>
        <p:nvSpPr>
          <p:cNvPr id="35" name="Text 31"/>
          <p:cNvSpPr txBox="1"/>
          <p:nvPr/>
        </p:nvSpPr>
        <p:spPr>
          <a:xfrm>
            <a:off x="3657600" y="3749040"/>
            <a:ext cx="4297680" cy="576072"/>
          </a:xfrm>
          <a:prstGeom prst="rect">
            <a:avLst/>
          </a:prstGeom>
          <a:noFill/>
          <a:ln/>
        </p:spPr>
        <p:txBody>
          <a:bodyPr wrap="square" lIns="0" tIns="0" rIns="0" bIns="0" rtlCol="0" anchor="ctr"/>
          <a:lstStyle/>
          <a:p>
            <a:pPr indent="0" marL="0">
              <a:buNone/>
            </a:pPr>
            <a:r>
              <a:rPr lang="en-US" sz="1050" dirty="0">
                <a:solidFill>
                  <a:srgbClr val="666666"/>
                </a:solidFill>
                <a:latin typeface="Poppins" pitchFamily="34" charset="0"/>
                <a:ea typeface="Poppins" pitchFamily="34" charset="-122"/>
                <a:cs typeface="Poppins" pitchFamily="34" charset="-120"/>
              </a:rPr>
              <a:t>rerun only those specs once, then triage again if it still fails</a:t>
            </a:r>
            <a:endParaRPr lang="en-US" sz="1050" dirty="0"/>
          </a:p>
        </p:txBody>
      </p:sp>
      <p:sp>
        <p:nvSpPr>
          <p:cNvPr id="36" name="Shape 32"/>
          <p:cNvSpPr/>
          <p:nvPr/>
        </p:nvSpPr>
        <p:spPr>
          <a:xfrm>
            <a:off x="8092440" y="3867912"/>
            <a:ext cx="2606040" cy="338328"/>
          </a:xfrm>
          <a:prstGeom prst="roundRect">
            <a:avLst>
              <a:gd name="adj" fmla="val 50000"/>
            </a:avLst>
          </a:prstGeom>
          <a:solidFill>
            <a:srgbClr val="FFF6D6"/>
          </a:solidFill>
          <a:ln/>
        </p:spPr>
        <p:txBody>
          <a:bodyPr/>
          <a:p/>
        </p:txBody>
      </p:sp>
      <p:sp>
        <p:nvSpPr>
          <p:cNvPr id="37" name="Text 33"/>
          <p:cNvSpPr txBox="1"/>
          <p:nvPr/>
        </p:nvSpPr>
        <p:spPr>
          <a:xfrm>
            <a:off x="8092440" y="3867912"/>
            <a:ext cx="2606040" cy="33832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1 rerun; flaky twice = unknown</a:t>
            </a:r>
            <a:endParaRPr lang="en-US" sz="950" dirty="0"/>
          </a:p>
        </p:txBody>
      </p:sp>
      <p:sp>
        <p:nvSpPr>
          <p:cNvPr id="38" name="Text 34"/>
          <p:cNvSpPr txBox="1"/>
          <p:nvPr/>
        </p:nvSpPr>
        <p:spPr>
          <a:xfrm>
            <a:off x="10789920" y="3749040"/>
            <a:ext cx="594360" cy="576072"/>
          </a:xfrm>
          <a:prstGeom prst="rect">
            <a:avLst/>
          </a:prstGeom>
          <a:noFill/>
          <a:ln/>
        </p:spPr>
        <p:txBody>
          <a:bodyPr wrap="square" lIns="0" tIns="0" rIns="0" bIns="0" rtlCol="0" anchor="ctr"/>
          <a:lstStyle/>
          <a:p>
            <a:pPr algn="ctr" indent="0" marL="0">
              <a:buNone/>
            </a:pPr>
            <a:r>
              <a:rPr lang="en-US" sz="1000" dirty="0">
                <a:solidFill>
                  <a:srgbClr val="999999"/>
                </a:solidFill>
                <a:latin typeface="Poppins SemiBold" pitchFamily="34" charset="0"/>
                <a:ea typeface="Poppins SemiBold" pitchFamily="34" charset="-122"/>
                <a:cs typeface="Poppins SemiBold" pitchFamily="34" charset="-120"/>
              </a:rPr>
              <a:t>skill</a:t>
            </a:r>
            <a:endParaRPr lang="en-US" sz="1000" dirty="0"/>
          </a:p>
        </p:txBody>
      </p:sp>
      <p:sp>
        <p:nvSpPr>
          <p:cNvPr id="39" name="Shape 35"/>
          <p:cNvSpPr/>
          <p:nvPr/>
        </p:nvSpPr>
        <p:spPr>
          <a:xfrm>
            <a:off x="685800" y="4434840"/>
            <a:ext cx="10817352" cy="576072"/>
          </a:xfrm>
          <a:prstGeom prst="roundRect">
            <a:avLst>
              <a:gd name="adj" fmla="val 6349"/>
            </a:avLst>
          </a:prstGeom>
          <a:solidFill>
            <a:srgbClr val="F7F9FC"/>
          </a:solidFill>
          <a:ln/>
        </p:spPr>
        <p:txBody>
          <a:bodyPr/>
          <a:p/>
        </p:txBody>
      </p:sp>
      <p:sp>
        <p:nvSpPr>
          <p:cNvPr id="40" name="Text 36"/>
          <p:cNvSpPr txBox="1"/>
          <p:nvPr/>
        </p:nvSpPr>
        <p:spPr>
          <a:xfrm>
            <a:off x="822960" y="4434840"/>
            <a:ext cx="365760" cy="576072"/>
          </a:xfrm>
          <a:prstGeom prst="rect">
            <a:avLst/>
          </a:prstGeom>
          <a:noFill/>
          <a:ln/>
        </p:spPr>
        <p:txBody>
          <a:bodyPr wrap="square" lIns="0" tIns="0" rIns="0" bIns="0" rtlCol="0" anchor="ctr"/>
          <a:lstStyle/>
          <a:p>
            <a:pPr algn="ctr" indent="0" marL="0">
              <a:buNone/>
            </a:pPr>
            <a:r>
              <a:rPr lang="en-US" sz="1800" dirty="0">
                <a:solidFill>
                  <a:srgbClr val="405AE7"/>
                </a:solidFill>
                <a:latin typeface="Poppins" pitchFamily="34" charset="0"/>
                <a:ea typeface="Poppins" pitchFamily="34" charset="-122"/>
                <a:cs typeface="Poppins" pitchFamily="34" charset="-120"/>
              </a:rPr>
              <a:t>↺</a:t>
            </a:r>
            <a:endParaRPr lang="en-US" sz="1800" dirty="0"/>
          </a:p>
        </p:txBody>
      </p:sp>
      <p:sp>
        <p:nvSpPr>
          <p:cNvPr id="41" name="Text 37"/>
          <p:cNvSpPr txBox="1"/>
          <p:nvPr/>
        </p:nvSpPr>
        <p:spPr>
          <a:xfrm>
            <a:off x="1280160" y="4434840"/>
            <a:ext cx="2377440" cy="576072"/>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Test-bug in a new spec</a:t>
            </a:r>
            <a:endParaRPr lang="en-US" sz="1300" dirty="0"/>
          </a:p>
        </p:txBody>
      </p:sp>
      <p:sp>
        <p:nvSpPr>
          <p:cNvPr id="42" name="Text 38"/>
          <p:cNvSpPr txBox="1"/>
          <p:nvPr/>
        </p:nvSpPr>
        <p:spPr>
          <a:xfrm>
            <a:off x="3657600" y="4434840"/>
            <a:ext cx="4297680" cy="576072"/>
          </a:xfrm>
          <a:prstGeom prst="rect">
            <a:avLst/>
          </a:prstGeom>
          <a:noFill/>
          <a:ln/>
        </p:spPr>
        <p:txBody>
          <a:bodyPr wrap="square" lIns="0" tIns="0" rIns="0" bIns="0" rtlCol="0" anchor="ctr"/>
          <a:lstStyle/>
          <a:p>
            <a:pPr indent="0" marL="0">
              <a:buNone/>
            </a:pPr>
            <a:r>
              <a:rPr lang="en-US" sz="1050" dirty="0">
                <a:solidFill>
                  <a:srgbClr val="666666"/>
                </a:solidFill>
                <a:latin typeface="Poppins" pitchFamily="34" charset="0"/>
                <a:ea typeface="Poppins" pitchFamily="34" charset="-122"/>
                <a:cs typeface="Poppins" pitchFamily="34" charset="-120"/>
              </a:rPr>
              <a:t>the author repairs the test it wrote, then one rerun</a:t>
            </a:r>
            <a:endParaRPr lang="en-US" sz="1050" dirty="0"/>
          </a:p>
        </p:txBody>
      </p:sp>
      <p:sp>
        <p:nvSpPr>
          <p:cNvPr id="43" name="Shape 39"/>
          <p:cNvSpPr/>
          <p:nvPr/>
        </p:nvSpPr>
        <p:spPr>
          <a:xfrm>
            <a:off x="8092440" y="4553712"/>
            <a:ext cx="2606040" cy="338328"/>
          </a:xfrm>
          <a:prstGeom prst="roundRect">
            <a:avLst>
              <a:gd name="adj" fmla="val 50000"/>
            </a:avLst>
          </a:prstGeom>
          <a:solidFill>
            <a:srgbClr val="FFF6D6"/>
          </a:solidFill>
          <a:ln/>
        </p:spPr>
        <p:txBody>
          <a:bodyPr/>
          <a:p/>
        </p:txBody>
      </p:sp>
      <p:sp>
        <p:nvSpPr>
          <p:cNvPr id="44" name="Text 40"/>
          <p:cNvSpPr txBox="1"/>
          <p:nvPr/>
        </p:nvSpPr>
        <p:spPr>
          <a:xfrm>
            <a:off x="8092440" y="4553712"/>
            <a:ext cx="2606040" cy="33832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1 repair; still failing = unknown</a:t>
            </a:r>
            <a:endParaRPr lang="en-US" sz="950" dirty="0"/>
          </a:p>
        </p:txBody>
      </p:sp>
      <p:sp>
        <p:nvSpPr>
          <p:cNvPr id="45" name="Text 41"/>
          <p:cNvSpPr txBox="1"/>
          <p:nvPr/>
        </p:nvSpPr>
        <p:spPr>
          <a:xfrm>
            <a:off x="10789920" y="4434840"/>
            <a:ext cx="594360" cy="576072"/>
          </a:xfrm>
          <a:prstGeom prst="rect">
            <a:avLst/>
          </a:prstGeom>
          <a:noFill/>
          <a:ln/>
        </p:spPr>
        <p:txBody>
          <a:bodyPr wrap="square" lIns="0" tIns="0" rIns="0" bIns="0" rtlCol="0" anchor="ctr"/>
          <a:lstStyle/>
          <a:p>
            <a:pPr algn="ctr" indent="0" marL="0">
              <a:buNone/>
            </a:pPr>
            <a:r>
              <a:rPr lang="en-US" sz="1000" dirty="0">
                <a:solidFill>
                  <a:srgbClr val="999999"/>
                </a:solidFill>
                <a:latin typeface="Poppins SemiBold" pitchFamily="34" charset="0"/>
                <a:ea typeface="Poppins SemiBold" pitchFamily="34" charset="-122"/>
                <a:cs typeface="Poppins SemiBold" pitchFamily="34" charset="-120"/>
              </a:rPr>
              <a:t>H4</a:t>
            </a:r>
            <a:endParaRPr lang="en-US" sz="1000" dirty="0"/>
          </a:p>
        </p:txBody>
      </p:sp>
      <p:sp>
        <p:nvSpPr>
          <p:cNvPr id="46" name="Shape 42"/>
          <p:cNvSpPr/>
          <p:nvPr/>
        </p:nvSpPr>
        <p:spPr>
          <a:xfrm>
            <a:off x="685800" y="5120640"/>
            <a:ext cx="10817352" cy="576072"/>
          </a:xfrm>
          <a:prstGeom prst="roundRect">
            <a:avLst>
              <a:gd name="adj" fmla="val 6349"/>
            </a:avLst>
          </a:prstGeom>
          <a:solidFill>
            <a:srgbClr val="F7F9FC"/>
          </a:solidFill>
          <a:ln/>
        </p:spPr>
        <p:txBody>
          <a:bodyPr/>
          <a:p/>
        </p:txBody>
      </p:sp>
      <p:sp>
        <p:nvSpPr>
          <p:cNvPr id="47" name="Text 43"/>
          <p:cNvSpPr txBox="1"/>
          <p:nvPr/>
        </p:nvSpPr>
        <p:spPr>
          <a:xfrm>
            <a:off x="822960" y="5120640"/>
            <a:ext cx="365760" cy="576072"/>
          </a:xfrm>
          <a:prstGeom prst="rect">
            <a:avLst/>
          </a:prstGeom>
          <a:noFill/>
          <a:ln/>
        </p:spPr>
        <p:txBody>
          <a:bodyPr wrap="square" lIns="0" tIns="0" rIns="0" bIns="0" rtlCol="0" anchor="ctr"/>
          <a:lstStyle/>
          <a:p>
            <a:pPr algn="ctr" indent="0" marL="0">
              <a:buNone/>
            </a:pPr>
            <a:r>
              <a:rPr lang="en-US" sz="1800" dirty="0">
                <a:solidFill>
                  <a:srgbClr val="405AE7"/>
                </a:solidFill>
                <a:latin typeface="Poppins" pitchFamily="34" charset="0"/>
                <a:ea typeface="Poppins" pitchFamily="34" charset="-122"/>
                <a:cs typeface="Poppins" pitchFamily="34" charset="-120"/>
              </a:rPr>
              <a:t>↺</a:t>
            </a:r>
            <a:endParaRPr lang="en-US" sz="1800" dirty="0"/>
          </a:p>
        </p:txBody>
      </p:sp>
      <p:sp>
        <p:nvSpPr>
          <p:cNvPr id="48" name="Text 44"/>
          <p:cNvSpPr txBox="1"/>
          <p:nvPr/>
        </p:nvSpPr>
        <p:spPr>
          <a:xfrm>
            <a:off x="1280160" y="5120640"/>
            <a:ext cx="2377440" cy="576072"/>
          </a:xfrm>
          <a:prstGeom prst="rect">
            <a:avLst/>
          </a:prstGeom>
          <a:noFill/>
          <a:ln/>
        </p:spPr>
        <p:txBody>
          <a:bodyPr wrap="square" lIns="0" tIns="0" rIns="0" bIns="0" rtlCol="0" anchor="ctr"/>
          <a:lstStyle/>
          <a:p>
            <a:pPr indent="0" marL="0">
              <a:buNone/>
            </a:pPr>
            <a:r>
              <a:rPr lang="en-US" sz="1300" dirty="0">
                <a:solidFill>
                  <a:srgbClr val="1A1A1A"/>
                </a:solidFill>
                <a:latin typeface="Poppins SemiBold" pitchFamily="34" charset="0"/>
                <a:ea typeface="Poppins SemiBold" pitchFamily="34" charset="-122"/>
                <a:cs typeface="Poppins SemiBold" pitchFamily="34" charset="-120"/>
              </a:rPr>
              <a:t>Test launches</a:t>
            </a:r>
            <a:endParaRPr lang="en-US" sz="1300" dirty="0"/>
          </a:p>
        </p:txBody>
      </p:sp>
      <p:sp>
        <p:nvSpPr>
          <p:cNvPr id="49" name="Text 45"/>
          <p:cNvSpPr txBox="1"/>
          <p:nvPr/>
        </p:nvSpPr>
        <p:spPr>
          <a:xfrm>
            <a:off x="3657600" y="5120640"/>
            <a:ext cx="4297680" cy="576072"/>
          </a:xfrm>
          <a:prstGeom prst="rect">
            <a:avLst/>
          </a:prstGeom>
          <a:noFill/>
          <a:ln/>
        </p:spPr>
        <p:txBody>
          <a:bodyPr wrap="square" lIns="0" tIns="0" rIns="0" bIns="0" rtlCol="0" anchor="ctr"/>
          <a:lstStyle/>
          <a:p>
            <a:pPr indent="0" marL="0">
              <a:buNone/>
            </a:pPr>
            <a:r>
              <a:rPr lang="en-US" sz="1050" dirty="0">
                <a:solidFill>
                  <a:srgbClr val="666666"/>
                </a:solidFill>
                <a:latin typeface="Poppins" pitchFamily="34" charset="0"/>
                <a:ea typeface="Poppins" pitchFamily="34" charset="-122"/>
                <a:cs typeface="Poppins" pitchFamily="34" charset="-120"/>
              </a:rPr>
              <a:t>every Playwright run counts: attempts, reruns, self-checks</a:t>
            </a:r>
            <a:endParaRPr lang="en-US" sz="1050" dirty="0"/>
          </a:p>
        </p:txBody>
      </p:sp>
      <p:sp>
        <p:nvSpPr>
          <p:cNvPr id="50" name="Shape 46"/>
          <p:cNvSpPr/>
          <p:nvPr/>
        </p:nvSpPr>
        <p:spPr>
          <a:xfrm>
            <a:off x="8092440" y="5239512"/>
            <a:ext cx="2606040" cy="338328"/>
          </a:xfrm>
          <a:prstGeom prst="roundRect">
            <a:avLst>
              <a:gd name="adj" fmla="val 50000"/>
            </a:avLst>
          </a:prstGeom>
          <a:solidFill>
            <a:srgbClr val="FFF6D6"/>
          </a:solidFill>
          <a:ln/>
        </p:spPr>
        <p:txBody>
          <a:bodyPr/>
          <a:p/>
        </p:txBody>
      </p:sp>
      <p:sp>
        <p:nvSpPr>
          <p:cNvPr id="51" name="Text 47"/>
          <p:cNvSpPr txBox="1"/>
          <p:nvPr/>
        </p:nvSpPr>
        <p:spPr>
          <a:xfrm>
            <a:off x="8092440" y="5239512"/>
            <a:ext cx="2606040" cy="338328"/>
          </a:xfrm>
          <a:prstGeom prst="rect">
            <a:avLst/>
          </a:prstGeom>
          <a:noFill/>
          <a:ln/>
        </p:spPr>
        <p:txBody>
          <a:bodyPr wrap="square" lIns="0" tIns="0" rIns="0" bIns="0" rtlCol="0" anchor="ctr"/>
          <a:lstStyle/>
          <a:p>
            <a:pPr algn="ctr" indent="0" marL="0">
              <a:buNone/>
            </a:pPr>
            <a:r>
              <a:rPr lang="en-US" sz="950" dirty="0">
                <a:solidFill>
                  <a:srgbClr val="8A6D00"/>
                </a:solidFill>
                <a:latin typeface="Poppins SemiBold" pitchFamily="34" charset="0"/>
                <a:ea typeface="Poppins SemiBold" pitchFamily="34" charset="-122"/>
                <a:cs typeface="Poppins SemiBold" pitchFamily="34" charset="-120"/>
              </a:rPr>
              <a:t>7 for the whole run, then G3</a:t>
            </a:r>
            <a:endParaRPr lang="en-US" sz="950" dirty="0"/>
          </a:p>
        </p:txBody>
      </p:sp>
      <p:sp>
        <p:nvSpPr>
          <p:cNvPr id="52" name="Text 48"/>
          <p:cNvSpPr txBox="1"/>
          <p:nvPr/>
        </p:nvSpPr>
        <p:spPr>
          <a:xfrm>
            <a:off x="10789920" y="5120640"/>
            <a:ext cx="594360" cy="576072"/>
          </a:xfrm>
          <a:prstGeom prst="rect">
            <a:avLst/>
          </a:prstGeom>
          <a:noFill/>
          <a:ln/>
        </p:spPr>
        <p:txBody>
          <a:bodyPr wrap="square" lIns="0" tIns="0" rIns="0" bIns="0" rtlCol="0" anchor="ctr"/>
          <a:lstStyle/>
          <a:p>
            <a:pPr algn="ctr" indent="0" marL="0">
              <a:buNone/>
            </a:pPr>
            <a:r>
              <a:rPr lang="en-US" sz="1000" dirty="0">
                <a:solidFill>
                  <a:srgbClr val="999999"/>
                </a:solidFill>
                <a:latin typeface="Poppins SemiBold" pitchFamily="34" charset="0"/>
                <a:ea typeface="Poppins SemiBold" pitchFamily="34" charset="-122"/>
                <a:cs typeface="Poppins SemiBold" pitchFamily="34" charset="-120"/>
              </a:rPr>
              <a:t>H7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The Guard: What the AI Cannot Do</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One PreToolUse hook, 11 rules. A denied call gets a reason the model can read, and the denial is logged.</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18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3502152" cy="1719072"/>
          </a:xfrm>
          <a:prstGeom prst="roundRect">
            <a:avLst>
              <a:gd name="adj" fmla="val 3191"/>
            </a:avLst>
          </a:prstGeom>
          <a:solidFill>
            <a:srgbClr val="F7F9FC"/>
          </a:solidFill>
          <a:ln/>
        </p:spPr>
        <p:txBody>
          <a:bodyPr/>
          <a:p/>
        </p:txBody>
      </p:sp>
      <p:sp>
        <p:nvSpPr>
          <p:cNvPr id="12" name="Shape 8"/>
          <p:cNvSpPr/>
          <p:nvPr/>
        </p:nvSpPr>
        <p:spPr>
          <a:xfrm>
            <a:off x="685800" y="1691640"/>
            <a:ext cx="3502152" cy="73152"/>
          </a:xfrm>
          <a:prstGeom prst="rect">
            <a:avLst/>
          </a:prstGeom>
          <a:solidFill>
            <a:srgbClr val="2D8C55"/>
          </a:solidFill>
          <a:ln/>
        </p:spPr>
        <p:txBody>
          <a:bodyPr/>
          <a:p/>
        </p:txBody>
      </p:sp>
      <p:sp>
        <p:nvSpPr>
          <p:cNvPr id="13" name="Text 9"/>
          <p:cNvSpPr txBox="1"/>
          <p:nvPr/>
        </p:nvSpPr>
        <p:spPr>
          <a:xfrm>
            <a:off x="886968" y="1892808"/>
            <a:ext cx="3099816" cy="237744"/>
          </a:xfrm>
          <a:prstGeom prst="rect">
            <a:avLst/>
          </a:prstGeom>
          <a:noFill/>
          <a:ln/>
        </p:spPr>
        <p:txBody>
          <a:bodyPr wrap="square" lIns="0" tIns="0" rIns="0" bIns="0" rtlCol="0" anchor="t"/>
          <a:lstStyle/>
          <a:p>
            <a:pPr indent="0" marL="0">
              <a:buNone/>
            </a:pPr>
            <a:r>
              <a:rPr lang="en-US" sz="1050" spc="100" kern="0" dirty="0">
                <a:solidFill>
                  <a:srgbClr val="2D8C55"/>
                </a:solidFill>
                <a:latin typeface="Poppins SemiBold" pitchFamily="34" charset="0"/>
                <a:ea typeface="Poppins SemiBold" pitchFamily="34" charset="-122"/>
                <a:cs typeface="Poppins SemiBold" pitchFamily="34" charset="-120"/>
              </a:rPr>
              <a:t>HUMAN-ONLY</a:t>
            </a:r>
            <a:endParaRPr lang="en-US" sz="1050" dirty="0"/>
          </a:p>
        </p:txBody>
      </p:sp>
      <p:sp>
        <p:nvSpPr>
          <p:cNvPr id="14" name="Text 10"/>
          <p:cNvSpPr txBox="1"/>
          <p:nvPr/>
        </p:nvSpPr>
        <p:spPr>
          <a:xfrm>
            <a:off x="886968" y="2194560"/>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H1  </a:t>
            </a:r>
            <a:pPr indent="0" marL="0">
              <a:buNone/>
            </a:pPr>
            <a:r>
              <a:rPr lang="en-US" sz="1050" dirty="0">
                <a:solidFill>
                  <a:srgbClr val="666666"/>
                </a:solidFill>
                <a:latin typeface="Poppins" pitchFamily="34" charset="0"/>
                <a:ea typeface="Poppins" pitchFamily="34" charset="-122"/>
                <a:cs typeface="Poppins" pitchFamily="34" charset="-120"/>
              </a:rPr>
              <a:t>merge or approve a PR</a:t>
            </a:r>
            <a:endParaRPr lang="en-US" sz="1050" dirty="0"/>
          </a:p>
        </p:txBody>
      </p:sp>
      <p:sp>
        <p:nvSpPr>
          <p:cNvPr id="15" name="Text 11"/>
          <p:cNvSpPr txBox="1"/>
          <p:nvPr/>
        </p:nvSpPr>
        <p:spPr>
          <a:xfrm>
            <a:off x="886968" y="2578608"/>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H3  </a:t>
            </a:r>
            <a:pPr indent="0" marL="0">
              <a:buNone/>
            </a:pPr>
            <a:r>
              <a:rPr lang="en-US" sz="1050" dirty="0">
                <a:solidFill>
                  <a:srgbClr val="666666"/>
                </a:solidFill>
                <a:latin typeface="Poppins" pitchFamily="34" charset="0"/>
                <a:ea typeface="Poppins" pitchFamily="34" charset="-122"/>
                <a:cs typeface="Poppins" pitchFamily="34" charset="-120"/>
              </a:rPr>
              <a:t>set a final Jira status; use any other Jira connector</a:t>
            </a:r>
            <a:endParaRPr lang="en-US" sz="1050" dirty="0"/>
          </a:p>
        </p:txBody>
      </p:sp>
      <p:sp>
        <p:nvSpPr>
          <p:cNvPr id="16" name="Shape 12"/>
          <p:cNvSpPr/>
          <p:nvPr/>
        </p:nvSpPr>
        <p:spPr>
          <a:xfrm>
            <a:off x="4343400" y="1691640"/>
            <a:ext cx="3502152" cy="1719072"/>
          </a:xfrm>
          <a:prstGeom prst="roundRect">
            <a:avLst>
              <a:gd name="adj" fmla="val 3191"/>
            </a:avLst>
          </a:prstGeom>
          <a:solidFill>
            <a:srgbClr val="F7F9FC"/>
          </a:solidFill>
          <a:ln/>
        </p:spPr>
        <p:txBody>
          <a:bodyPr/>
          <a:p/>
        </p:txBody>
      </p:sp>
      <p:sp>
        <p:nvSpPr>
          <p:cNvPr id="17" name="Shape 13"/>
          <p:cNvSpPr/>
          <p:nvPr/>
        </p:nvSpPr>
        <p:spPr>
          <a:xfrm>
            <a:off x="4343400" y="1691640"/>
            <a:ext cx="3502152" cy="73152"/>
          </a:xfrm>
          <a:prstGeom prst="rect">
            <a:avLst/>
          </a:prstGeom>
          <a:solidFill>
            <a:srgbClr val="405AE7"/>
          </a:solidFill>
          <a:ln/>
        </p:spPr>
        <p:txBody>
          <a:bodyPr/>
          <a:p/>
        </p:txBody>
      </p:sp>
      <p:sp>
        <p:nvSpPr>
          <p:cNvPr id="18" name="Text 14"/>
          <p:cNvSpPr txBox="1"/>
          <p:nvPr/>
        </p:nvSpPr>
        <p:spPr>
          <a:xfrm>
            <a:off x="4544568" y="1892808"/>
            <a:ext cx="3099816" cy="237744"/>
          </a:xfrm>
          <a:prstGeom prst="rect">
            <a:avLst/>
          </a:prstGeom>
          <a:noFill/>
          <a:ln/>
        </p:spPr>
        <p:txBody>
          <a:bodyPr wrap="square" lIns="0" tIns="0" rIns="0" bIns="0" rtlCol="0" anchor="t"/>
          <a:lstStyle/>
          <a:p>
            <a:pPr indent="0" marL="0">
              <a:buNone/>
            </a:pPr>
            <a:r>
              <a:rPr lang="en-US" sz="1050" spc="100" kern="0" dirty="0">
                <a:solidFill>
                  <a:srgbClr val="405AE7"/>
                </a:solidFill>
                <a:latin typeface="Poppins SemiBold" pitchFamily="34" charset="0"/>
                <a:ea typeface="Poppins SemiBold" pitchFamily="34" charset="-122"/>
                <a:cs typeface="Poppins SemiBold" pitchFamily="34" charset="-120"/>
              </a:rPr>
              <a:t>GIT</a:t>
            </a:r>
            <a:endParaRPr lang="en-US" sz="1050" dirty="0"/>
          </a:p>
        </p:txBody>
      </p:sp>
      <p:sp>
        <p:nvSpPr>
          <p:cNvPr id="19" name="Text 15"/>
          <p:cNvSpPr txBox="1"/>
          <p:nvPr/>
        </p:nvSpPr>
        <p:spPr>
          <a:xfrm>
            <a:off x="4544568" y="2194560"/>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H2  </a:t>
            </a:r>
            <a:pPr indent="0" marL="0">
              <a:buNone/>
            </a:pPr>
            <a:r>
              <a:rPr lang="en-US" sz="1050" dirty="0">
                <a:solidFill>
                  <a:srgbClr val="666666"/>
                </a:solidFill>
                <a:latin typeface="Poppins" pitchFamily="34" charset="0"/>
                <a:ea typeface="Poppins" pitchFamily="34" charset="-122"/>
                <a:cs typeface="Poppins" pitchFamily="34" charset="-120"/>
              </a:rPr>
              <a:t>git push (only the delivery script pushes the QA branch)</a:t>
            </a:r>
            <a:endParaRPr lang="en-US" sz="1050" dirty="0"/>
          </a:p>
        </p:txBody>
      </p:sp>
      <p:sp>
        <p:nvSpPr>
          <p:cNvPr id="20" name="Text 16"/>
          <p:cNvSpPr txBox="1"/>
          <p:nvPr/>
        </p:nvSpPr>
        <p:spPr>
          <a:xfrm>
            <a:off x="4544568" y="2578608"/>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H9  </a:t>
            </a:r>
            <a:pPr indent="0" marL="0">
              <a:buNone/>
            </a:pPr>
            <a:r>
              <a:rPr lang="en-US" sz="1050" dirty="0">
                <a:solidFill>
                  <a:srgbClr val="666666"/>
                </a:solidFill>
                <a:latin typeface="Poppins" pitchFamily="34" charset="0"/>
                <a:ea typeface="Poppins" pitchFamily="34" charset="-122"/>
                <a:cs typeface="Poppins" pitchFamily="34" charset="-120"/>
              </a:rPr>
              <a:t>commit, reset, checkout, gh pr create…</a:t>
            </a:r>
            <a:endParaRPr lang="en-US" sz="1050" dirty="0"/>
          </a:p>
        </p:txBody>
      </p:sp>
      <p:sp>
        <p:nvSpPr>
          <p:cNvPr id="21" name="Shape 17"/>
          <p:cNvSpPr/>
          <p:nvPr/>
        </p:nvSpPr>
        <p:spPr>
          <a:xfrm>
            <a:off x="8001000" y="1691640"/>
            <a:ext cx="3502152" cy="1719072"/>
          </a:xfrm>
          <a:prstGeom prst="roundRect">
            <a:avLst>
              <a:gd name="adj" fmla="val 3191"/>
            </a:avLst>
          </a:prstGeom>
          <a:solidFill>
            <a:srgbClr val="F7F9FC"/>
          </a:solidFill>
          <a:ln/>
        </p:spPr>
        <p:txBody>
          <a:bodyPr/>
          <a:p/>
        </p:txBody>
      </p:sp>
      <p:sp>
        <p:nvSpPr>
          <p:cNvPr id="22" name="Shape 18"/>
          <p:cNvSpPr/>
          <p:nvPr/>
        </p:nvSpPr>
        <p:spPr>
          <a:xfrm>
            <a:off x="8001000" y="1691640"/>
            <a:ext cx="3502152" cy="73152"/>
          </a:xfrm>
          <a:prstGeom prst="rect">
            <a:avLst/>
          </a:prstGeom>
          <a:solidFill>
            <a:srgbClr val="7B5EA7"/>
          </a:solidFill>
          <a:ln/>
        </p:spPr>
        <p:txBody>
          <a:bodyPr/>
          <a:p/>
        </p:txBody>
      </p:sp>
      <p:sp>
        <p:nvSpPr>
          <p:cNvPr id="23" name="Text 19"/>
          <p:cNvSpPr txBox="1"/>
          <p:nvPr/>
        </p:nvSpPr>
        <p:spPr>
          <a:xfrm>
            <a:off x="8202168" y="1892808"/>
            <a:ext cx="3099816" cy="237744"/>
          </a:xfrm>
          <a:prstGeom prst="rect">
            <a:avLst/>
          </a:prstGeom>
          <a:noFill/>
          <a:ln/>
        </p:spPr>
        <p:txBody>
          <a:bodyPr wrap="square" lIns="0" tIns="0" rIns="0" bIns="0" rtlCol="0" anchor="t"/>
          <a:lstStyle/>
          <a:p>
            <a:pPr indent="0" marL="0">
              <a:buNone/>
            </a:pPr>
            <a:r>
              <a:rPr lang="en-US" sz="1050" spc="100" kern="0" dirty="0">
                <a:solidFill>
                  <a:srgbClr val="7B5EA7"/>
                </a:solidFill>
                <a:latin typeface="Poppins SemiBold" pitchFamily="34" charset="0"/>
                <a:ea typeface="Poppins SemiBold" pitchFamily="34" charset="-122"/>
                <a:cs typeface="Poppins SemiBold" pitchFamily="34" charset="-120"/>
              </a:rPr>
              <a:t>TESTS</a:t>
            </a:r>
            <a:endParaRPr lang="en-US" sz="1050" dirty="0"/>
          </a:p>
        </p:txBody>
      </p:sp>
      <p:sp>
        <p:nvSpPr>
          <p:cNvPr id="24" name="Text 20"/>
          <p:cNvSpPr txBox="1"/>
          <p:nvPr/>
        </p:nvSpPr>
        <p:spPr>
          <a:xfrm>
            <a:off x="8202168" y="2194560"/>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H4  </a:t>
            </a:r>
            <a:pPr indent="0" marL="0">
              <a:buNone/>
            </a:pPr>
            <a:r>
              <a:rPr lang="en-US" sz="1050" dirty="0">
                <a:solidFill>
                  <a:srgbClr val="666666"/>
                </a:solidFill>
                <a:latin typeface="Poppins" pitchFamily="34" charset="0"/>
                <a:ea typeface="Poppins" pitchFamily="34" charset="-122"/>
                <a:cs typeface="Poppins" pitchFamily="34" charset="-120"/>
              </a:rPr>
              <a:t>write before G2, outside the approved files, or add .skip / .only</a:t>
            </a:r>
            <a:endParaRPr lang="en-US" sz="1050" dirty="0"/>
          </a:p>
        </p:txBody>
      </p:sp>
      <p:sp>
        <p:nvSpPr>
          <p:cNvPr id="25" name="Shape 21"/>
          <p:cNvSpPr/>
          <p:nvPr/>
        </p:nvSpPr>
        <p:spPr>
          <a:xfrm>
            <a:off x="685800" y="3566160"/>
            <a:ext cx="3502152" cy="1719072"/>
          </a:xfrm>
          <a:prstGeom prst="roundRect">
            <a:avLst>
              <a:gd name="adj" fmla="val 3191"/>
            </a:avLst>
          </a:prstGeom>
          <a:solidFill>
            <a:srgbClr val="F7F9FC"/>
          </a:solidFill>
          <a:ln/>
        </p:spPr>
        <p:txBody>
          <a:bodyPr/>
          <a:p/>
        </p:txBody>
      </p:sp>
      <p:sp>
        <p:nvSpPr>
          <p:cNvPr id="26" name="Shape 22"/>
          <p:cNvSpPr/>
          <p:nvPr/>
        </p:nvSpPr>
        <p:spPr>
          <a:xfrm>
            <a:off x="685800" y="3566160"/>
            <a:ext cx="3502152" cy="73152"/>
          </a:xfrm>
          <a:prstGeom prst="rect">
            <a:avLst/>
          </a:prstGeom>
          <a:solidFill>
            <a:srgbClr val="8A6D00"/>
          </a:solidFill>
          <a:ln/>
        </p:spPr>
        <p:txBody>
          <a:bodyPr/>
          <a:p/>
        </p:txBody>
      </p:sp>
      <p:sp>
        <p:nvSpPr>
          <p:cNvPr id="27" name="Text 23"/>
          <p:cNvSpPr txBox="1"/>
          <p:nvPr/>
        </p:nvSpPr>
        <p:spPr>
          <a:xfrm>
            <a:off x="886968" y="3767328"/>
            <a:ext cx="3099816" cy="237744"/>
          </a:xfrm>
          <a:prstGeom prst="rect">
            <a:avLst/>
          </a:prstGeom>
          <a:noFill/>
          <a:ln/>
        </p:spPr>
        <p:txBody>
          <a:bodyPr wrap="square" lIns="0" tIns="0" rIns="0" bIns="0" rtlCol="0" anchor="t"/>
          <a:lstStyle/>
          <a:p>
            <a:pPr indent="0" marL="0">
              <a:buNone/>
            </a:pPr>
            <a:r>
              <a:rPr lang="en-US" sz="1050" spc="100" kern="0" dirty="0">
                <a:solidFill>
                  <a:srgbClr val="8A6D00"/>
                </a:solidFill>
                <a:latin typeface="Poppins SemiBold" pitchFamily="34" charset="0"/>
                <a:ea typeface="Poppins SemiBold" pitchFamily="34" charset="-122"/>
                <a:cs typeface="Poppins SemiBold" pitchFamily="34" charset="-120"/>
              </a:rPr>
              <a:t>BUDGETS</a:t>
            </a:r>
            <a:endParaRPr lang="en-US" sz="1050" dirty="0"/>
          </a:p>
        </p:txBody>
      </p:sp>
      <p:sp>
        <p:nvSpPr>
          <p:cNvPr id="28" name="Text 24"/>
          <p:cNvSpPr txBox="1"/>
          <p:nvPr/>
        </p:nvSpPr>
        <p:spPr>
          <a:xfrm>
            <a:off x="886968" y="4069080"/>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H5  </a:t>
            </a:r>
            <a:pPr indent="0" marL="0">
              <a:buNone/>
            </a:pPr>
            <a:r>
              <a:rPr lang="en-US" sz="1050" dirty="0">
                <a:solidFill>
                  <a:srgbClr val="666666"/>
                </a:solidFill>
                <a:latin typeface="Poppins" pitchFamily="34" charset="0"/>
                <a:ea typeface="Poppins" pitchFamily="34" charset="-122"/>
                <a:cs typeface="Poppins" pitchFamily="34" charset="-120"/>
              </a:rPr>
              <a:t>a 4th critic round, a model override, SendMessage</a:t>
            </a:r>
            <a:endParaRPr lang="en-US" sz="1050" dirty="0"/>
          </a:p>
        </p:txBody>
      </p:sp>
      <p:sp>
        <p:nvSpPr>
          <p:cNvPr id="29" name="Text 25"/>
          <p:cNvSpPr txBox="1"/>
          <p:nvPr/>
        </p:nvSpPr>
        <p:spPr>
          <a:xfrm>
            <a:off x="886968" y="4453128"/>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H7  </a:t>
            </a:r>
            <a:pPr indent="0" marL="0">
              <a:buNone/>
            </a:pPr>
            <a:r>
              <a:rPr lang="en-US" sz="1050" dirty="0">
                <a:solidFill>
                  <a:srgbClr val="666666"/>
                </a:solidFill>
                <a:latin typeface="Poppins" pitchFamily="34" charset="0"/>
                <a:ea typeface="Poppins" pitchFamily="34" charset="-122"/>
                <a:cs typeface="Poppins" pitchFamily="34" charset="-120"/>
              </a:rPr>
              <a:t>an 8th test launch</a:t>
            </a:r>
            <a:endParaRPr lang="en-US" sz="1050" dirty="0"/>
          </a:p>
        </p:txBody>
      </p:sp>
      <p:sp>
        <p:nvSpPr>
          <p:cNvPr id="30" name="Shape 26"/>
          <p:cNvSpPr/>
          <p:nvPr/>
        </p:nvSpPr>
        <p:spPr>
          <a:xfrm>
            <a:off x="4343400" y="3566160"/>
            <a:ext cx="3502152" cy="1719072"/>
          </a:xfrm>
          <a:prstGeom prst="roundRect">
            <a:avLst>
              <a:gd name="adj" fmla="val 3191"/>
            </a:avLst>
          </a:prstGeom>
          <a:solidFill>
            <a:srgbClr val="F7F9FC"/>
          </a:solidFill>
          <a:ln/>
        </p:spPr>
        <p:txBody>
          <a:bodyPr/>
          <a:p/>
        </p:txBody>
      </p:sp>
      <p:sp>
        <p:nvSpPr>
          <p:cNvPr id="31" name="Shape 27"/>
          <p:cNvSpPr/>
          <p:nvPr/>
        </p:nvSpPr>
        <p:spPr>
          <a:xfrm>
            <a:off x="4343400" y="3566160"/>
            <a:ext cx="3502152" cy="73152"/>
          </a:xfrm>
          <a:prstGeom prst="rect">
            <a:avLst/>
          </a:prstGeom>
          <a:solidFill>
            <a:srgbClr val="2C3FB0"/>
          </a:solidFill>
          <a:ln/>
        </p:spPr>
        <p:txBody>
          <a:bodyPr/>
          <a:p/>
        </p:txBody>
      </p:sp>
      <p:sp>
        <p:nvSpPr>
          <p:cNvPr id="32" name="Text 28"/>
          <p:cNvSpPr txBox="1"/>
          <p:nvPr/>
        </p:nvSpPr>
        <p:spPr>
          <a:xfrm>
            <a:off x="4544568" y="3767328"/>
            <a:ext cx="3099816" cy="237744"/>
          </a:xfrm>
          <a:prstGeom prst="rect">
            <a:avLst/>
          </a:prstGeom>
          <a:noFill/>
          <a:ln/>
        </p:spPr>
        <p:txBody>
          <a:bodyPr wrap="square" lIns="0" tIns="0" rIns="0" bIns="0" rtlCol="0" anchor="t"/>
          <a:lstStyle/>
          <a:p>
            <a:pPr indent="0" marL="0">
              <a:buNone/>
            </a:pPr>
            <a:r>
              <a:rPr lang="en-US" sz="1050" spc="100" kern="0" dirty="0">
                <a:solidFill>
                  <a:srgbClr val="2C3FB0"/>
                </a:solidFill>
                <a:latin typeface="Poppins SemiBold" pitchFamily="34" charset="0"/>
                <a:ea typeface="Poppins SemiBold" pitchFamily="34" charset="-122"/>
                <a:cs typeface="Poppins SemiBold" pitchFamily="34" charset="-120"/>
              </a:rPr>
              <a:t>SCOPE</a:t>
            </a:r>
            <a:endParaRPr lang="en-US" sz="1050" dirty="0"/>
          </a:p>
        </p:txBody>
      </p:sp>
      <p:sp>
        <p:nvSpPr>
          <p:cNvPr id="33" name="Text 29"/>
          <p:cNvSpPr txBox="1"/>
          <p:nvPr/>
        </p:nvSpPr>
        <p:spPr>
          <a:xfrm>
            <a:off x="4544568" y="4069080"/>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H6  </a:t>
            </a:r>
            <a:pPr indent="0" marL="0">
              <a:buNone/>
            </a:pPr>
            <a:r>
              <a:rPr lang="en-US" sz="1050" dirty="0">
                <a:solidFill>
                  <a:srgbClr val="666666"/>
                </a:solidFill>
                <a:latin typeface="Poppins" pitchFamily="34" charset="0"/>
                <a:ea typeface="Poppins" pitchFamily="34" charset="-122"/>
                <a:cs typeface="Poppins" pitchFamily="34" charset="-120"/>
              </a:rPr>
              <a:t>shell commands outside the agent's allowlist</a:t>
            </a:r>
            <a:endParaRPr lang="en-US" sz="1050" dirty="0"/>
          </a:p>
        </p:txBody>
      </p:sp>
      <p:sp>
        <p:nvSpPr>
          <p:cNvPr id="34" name="Text 30"/>
          <p:cNvSpPr txBox="1"/>
          <p:nvPr/>
        </p:nvSpPr>
        <p:spPr>
          <a:xfrm>
            <a:off x="4544568" y="4453128"/>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H8  </a:t>
            </a:r>
            <a:pPr indent="0" marL="0">
              <a:buNone/>
            </a:pPr>
            <a:r>
              <a:rPr lang="en-US" sz="1050" dirty="0">
                <a:solidFill>
                  <a:srgbClr val="666666"/>
                </a:solidFill>
                <a:latin typeface="Poppins" pitchFamily="34" charset="0"/>
                <a:ea typeface="Poppins" pitchFamily="34" charset="-122"/>
                <a:cs typeface="Poppins" pitchFamily="34" charset="-120"/>
              </a:rPr>
              <a:t>MCP from a subagent</a:t>
            </a:r>
            <a:endParaRPr lang="en-US" sz="1050" dirty="0"/>
          </a:p>
        </p:txBody>
      </p:sp>
      <p:sp>
        <p:nvSpPr>
          <p:cNvPr id="35" name="Text 31"/>
          <p:cNvSpPr txBox="1"/>
          <p:nvPr/>
        </p:nvSpPr>
        <p:spPr>
          <a:xfrm>
            <a:off x="4544568" y="4837176"/>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H11  </a:t>
            </a:r>
            <a:pPr indent="0" marL="0">
              <a:buNone/>
            </a:pPr>
            <a:r>
              <a:rPr lang="en-US" sz="1050" dirty="0">
                <a:solidFill>
                  <a:srgbClr val="666666"/>
                </a:solidFill>
                <a:latin typeface="Poppins" pitchFamily="34" charset="0"/>
                <a:ea typeface="Poppins" pitchFamily="34" charset="-122"/>
                <a:cs typeface="Poppins" pitchFamily="34" charset="-120"/>
              </a:rPr>
              <a:t>reads outside worktree, run folder, plugin</a:t>
            </a:r>
            <a:endParaRPr lang="en-US" sz="1050" dirty="0"/>
          </a:p>
        </p:txBody>
      </p:sp>
      <p:sp>
        <p:nvSpPr>
          <p:cNvPr id="36" name="Shape 32"/>
          <p:cNvSpPr/>
          <p:nvPr/>
        </p:nvSpPr>
        <p:spPr>
          <a:xfrm>
            <a:off x="8001000" y="3566160"/>
            <a:ext cx="3502152" cy="1719072"/>
          </a:xfrm>
          <a:prstGeom prst="roundRect">
            <a:avLst>
              <a:gd name="adj" fmla="val 3191"/>
            </a:avLst>
          </a:prstGeom>
          <a:solidFill>
            <a:srgbClr val="F7F9FC"/>
          </a:solidFill>
          <a:ln/>
        </p:spPr>
        <p:txBody>
          <a:bodyPr/>
          <a:p/>
        </p:txBody>
      </p:sp>
      <p:sp>
        <p:nvSpPr>
          <p:cNvPr id="37" name="Shape 33"/>
          <p:cNvSpPr/>
          <p:nvPr/>
        </p:nvSpPr>
        <p:spPr>
          <a:xfrm>
            <a:off x="8001000" y="3566160"/>
            <a:ext cx="3502152" cy="73152"/>
          </a:xfrm>
          <a:prstGeom prst="rect">
            <a:avLst/>
          </a:prstGeom>
          <a:solidFill>
            <a:srgbClr val="666666"/>
          </a:solidFill>
          <a:ln/>
        </p:spPr>
        <p:txBody>
          <a:bodyPr/>
          <a:p/>
        </p:txBody>
      </p:sp>
      <p:sp>
        <p:nvSpPr>
          <p:cNvPr id="38" name="Text 34"/>
          <p:cNvSpPr txBox="1"/>
          <p:nvPr/>
        </p:nvSpPr>
        <p:spPr>
          <a:xfrm>
            <a:off x="8202168" y="3767328"/>
            <a:ext cx="3099816" cy="237744"/>
          </a:xfrm>
          <a:prstGeom prst="rect">
            <a:avLst/>
          </a:prstGeom>
          <a:noFill/>
          <a:ln/>
        </p:spPr>
        <p:txBody>
          <a:bodyPr wrap="square" lIns="0" tIns="0" rIns="0" bIns="0" rtlCol="0" anchor="t"/>
          <a:lstStyle/>
          <a:p>
            <a:pPr indent="0" marL="0">
              <a:buNone/>
            </a:pPr>
            <a:r>
              <a:rPr lang="en-US" sz="1050" spc="100" kern="0" dirty="0">
                <a:solidFill>
                  <a:srgbClr val="666666"/>
                </a:solidFill>
                <a:latin typeface="Poppins SemiBold" pitchFamily="34" charset="0"/>
                <a:ea typeface="Poppins SemiBold" pitchFamily="34" charset="-122"/>
                <a:cs typeface="Poppins SemiBold" pitchFamily="34" charset="-120"/>
              </a:rPr>
              <a:t>STATE</a:t>
            </a:r>
            <a:endParaRPr lang="en-US" sz="1050" dirty="0"/>
          </a:p>
        </p:txBody>
      </p:sp>
      <p:sp>
        <p:nvSpPr>
          <p:cNvPr id="39" name="Text 35"/>
          <p:cNvSpPr txBox="1"/>
          <p:nvPr/>
        </p:nvSpPr>
        <p:spPr>
          <a:xfrm>
            <a:off x="8202168" y="4069080"/>
            <a:ext cx="3099816" cy="365760"/>
          </a:xfrm>
          <a:prstGeom prst="rect">
            <a:avLst/>
          </a:prstGeom>
          <a:noFill/>
          <a:ln/>
        </p:spPr>
        <p:txBody>
          <a:bodyPr wrap="square" lIns="0" tIns="0" rIns="0" bIns="0" rtlCol="0" anchor="ctr"/>
          <a:lstStyle/>
          <a:p>
            <a:pPr indent="0" marL="0">
              <a:buNone/>
            </a:pPr>
            <a:r>
              <a:rPr lang="en-US" sz="1050" dirty="0">
                <a:solidFill>
                  <a:srgbClr val="1A1A1A"/>
                </a:solidFill>
                <a:latin typeface="Poppins SemiBold" pitchFamily="34" charset="0"/>
                <a:ea typeface="Poppins SemiBold" pitchFamily="34" charset="-122"/>
                <a:cs typeface="Poppins SemiBold" pitchFamily="34" charset="-120"/>
              </a:rPr>
              <a:t>H10  </a:t>
            </a:r>
            <a:pPr indent="0" marL="0">
              <a:buNone/>
            </a:pPr>
            <a:r>
              <a:rPr lang="en-US" sz="1050" dirty="0">
                <a:solidFill>
                  <a:srgbClr val="666666"/>
                </a:solidFill>
                <a:latin typeface="Poppins" pitchFamily="34" charset="0"/>
                <a:ea typeface="Poppins" pitchFamily="34" charset="-122"/>
                <a:cs typeface="Poppins" pitchFamily="34" charset="-120"/>
              </a:rPr>
              <a:t>touch run state, metrics or memory except via the scripts</a:t>
            </a:r>
            <a:endParaRPr lang="en-US" sz="1050" dirty="0"/>
          </a:p>
        </p:txBody>
      </p:sp>
      <p:sp>
        <p:nvSpPr>
          <p:cNvPr id="40" name="Shape 36"/>
          <p:cNvSpPr/>
          <p:nvPr/>
        </p:nvSpPr>
        <p:spPr>
          <a:xfrm>
            <a:off x="685800" y="5486400"/>
            <a:ext cx="10817352" cy="566928"/>
          </a:xfrm>
          <a:prstGeom prst="roundRect">
            <a:avLst>
              <a:gd name="adj" fmla="val 9677"/>
            </a:avLst>
          </a:prstGeom>
          <a:solidFill>
            <a:srgbClr val="EEF0FF"/>
          </a:solidFill>
          <a:ln/>
        </p:spPr>
        <p:txBody>
          <a:bodyPr/>
          <a:p/>
        </p:txBody>
      </p:sp>
      <p:sp>
        <p:nvSpPr>
          <p:cNvPr id="41" name="Text 37"/>
          <p:cNvSpPr txBox="1"/>
          <p:nvPr/>
        </p:nvSpPr>
        <p:spPr>
          <a:xfrm>
            <a:off x="914400" y="5486400"/>
            <a:ext cx="10424160" cy="566928"/>
          </a:xfrm>
          <a:prstGeom prst="rect">
            <a:avLst/>
          </a:prstGeom>
          <a:noFill/>
          <a:ln/>
        </p:spPr>
        <p:txBody>
          <a:bodyPr wrap="square" lIns="0" tIns="0" rIns="0" bIns="0" rtlCol="0" anchor="ctr"/>
          <a:lstStyle/>
          <a:p>
            <a:pPr indent="0" marL="0">
              <a:buNone/>
            </a:pPr>
            <a:r>
              <a:rPr lang="en-US" sz="1150" dirty="0">
                <a:solidFill>
                  <a:srgbClr val="2C3FB0"/>
                </a:solidFill>
                <a:latin typeface="Poppins SemiBold" pitchFamily="34" charset="0"/>
                <a:ea typeface="Poppins SemiBold" pitchFamily="34" charset="-122"/>
                <a:cs typeface="Poppins SemiBold" pitchFamily="34" charset="-120"/>
              </a:rPr>
              <a:t>Dormant outside a run, strict inside it: </a:t>
            </a:r>
            <a:pPr indent="0" marL="0">
              <a:buNone/>
            </a:pPr>
            <a:r>
              <a:rPr lang="en-US" sz="1150" dirty="0">
                <a:solidFill>
                  <a:srgbClr val="666666"/>
                </a:solidFill>
                <a:latin typeface="Poppins" pitchFamily="34" charset="0"/>
                <a:ea typeface="Poppins" pitchFamily="34" charset="-122"/>
                <a:cs typeface="Poppins" pitchFamily="34" charset="-120"/>
              </a:rPr>
              <a:t>a session that doesn't own the active run is never blocked; once it does, any error blocks (fail closed).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Every Run Leaves a Trail</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Generated by the scripts and hooks from the run files, never typed by the model</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19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691640"/>
            <a:ext cx="3502152" cy="1874520"/>
          </a:xfrm>
          <a:prstGeom prst="roundRect">
            <a:avLst>
              <a:gd name="adj" fmla="val 2927"/>
            </a:avLst>
          </a:prstGeom>
          <a:solidFill>
            <a:srgbClr val="F7F9FC"/>
          </a:solidFill>
          <a:ln/>
        </p:spPr>
        <p:txBody>
          <a:bodyPr/>
          <a:p/>
        </p:txBody>
      </p:sp>
      <p:sp>
        <p:nvSpPr>
          <p:cNvPr id="12" name="Shape 8"/>
          <p:cNvSpPr/>
          <p:nvPr/>
        </p:nvSpPr>
        <p:spPr>
          <a:xfrm>
            <a:off x="914400" y="1920240"/>
            <a:ext cx="329184" cy="329184"/>
          </a:xfrm>
          <a:prstGeom prst="ellipse">
            <a:avLst/>
          </a:prstGeom>
          <a:solidFill>
            <a:srgbClr val="405AE7"/>
          </a:solidFill>
          <a:ln/>
        </p:spPr>
        <p:txBody>
          <a:bodyPr/>
          <a:p/>
        </p:txBody>
      </p:sp>
      <p:sp>
        <p:nvSpPr>
          <p:cNvPr id="13" name="Text 9"/>
          <p:cNvSpPr txBox="1"/>
          <p:nvPr/>
        </p:nvSpPr>
        <p:spPr>
          <a:xfrm>
            <a:off x="914400" y="1920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4" name="Text 10"/>
          <p:cNvSpPr txBox="1"/>
          <p:nvPr/>
        </p:nvSpPr>
        <p:spPr>
          <a:xfrm>
            <a:off x="1399032" y="19202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Live dashboard</a:t>
            </a:r>
            <a:endParaRPr lang="en-US" sz="1400" dirty="0"/>
          </a:p>
        </p:txBody>
      </p:sp>
      <p:sp>
        <p:nvSpPr>
          <p:cNvPr id="15" name="Text 11"/>
          <p:cNvSpPr txBox="1"/>
          <p:nvPr/>
        </p:nvSpPr>
        <p:spPr>
          <a:xfrm>
            <a:off x="960120" y="2404872"/>
            <a:ext cx="2953512" cy="105156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dashboard.html refreshes every 15 s; progress.md has each step. Rebuilt after every recorded step.</a:t>
            </a:r>
            <a:endParaRPr lang="en-US" sz="1200" dirty="0"/>
          </a:p>
        </p:txBody>
      </p:sp>
      <p:sp>
        <p:nvSpPr>
          <p:cNvPr id="16" name="Shape 12"/>
          <p:cNvSpPr/>
          <p:nvPr/>
        </p:nvSpPr>
        <p:spPr>
          <a:xfrm>
            <a:off x="4343400" y="1691640"/>
            <a:ext cx="3502152" cy="1874520"/>
          </a:xfrm>
          <a:prstGeom prst="roundRect">
            <a:avLst>
              <a:gd name="adj" fmla="val 2927"/>
            </a:avLst>
          </a:prstGeom>
          <a:solidFill>
            <a:srgbClr val="F7F9FC"/>
          </a:solidFill>
          <a:ln/>
        </p:spPr>
        <p:txBody>
          <a:bodyPr/>
          <a:p/>
        </p:txBody>
      </p:sp>
      <p:sp>
        <p:nvSpPr>
          <p:cNvPr id="17" name="Shape 13"/>
          <p:cNvSpPr/>
          <p:nvPr/>
        </p:nvSpPr>
        <p:spPr>
          <a:xfrm>
            <a:off x="4572000" y="1920240"/>
            <a:ext cx="329184" cy="329184"/>
          </a:xfrm>
          <a:prstGeom prst="ellipse">
            <a:avLst/>
          </a:prstGeom>
          <a:solidFill>
            <a:srgbClr val="405AE7"/>
          </a:solidFill>
          <a:ln/>
        </p:spPr>
        <p:txBody>
          <a:bodyPr/>
          <a:p/>
        </p:txBody>
      </p:sp>
      <p:sp>
        <p:nvSpPr>
          <p:cNvPr id="18" name="Text 14"/>
          <p:cNvSpPr txBox="1"/>
          <p:nvPr/>
        </p:nvSpPr>
        <p:spPr>
          <a:xfrm>
            <a:off x="4572000" y="1920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9" name="Text 15"/>
          <p:cNvSpPr txBox="1"/>
          <p:nvPr/>
        </p:nvSpPr>
        <p:spPr>
          <a:xfrm>
            <a:off x="5056632" y="19202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Agent time &amp; tokens</a:t>
            </a:r>
            <a:endParaRPr lang="en-US" sz="1400" dirty="0"/>
          </a:p>
        </p:txBody>
      </p:sp>
      <p:sp>
        <p:nvSpPr>
          <p:cNvPr id="20" name="Text 16"/>
          <p:cNvSpPr txBox="1"/>
          <p:nvPr/>
        </p:nvSpPr>
        <p:spPr>
          <a:xfrm>
            <a:off x="4617720" y="2404872"/>
            <a:ext cx="2953512" cy="105156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events.jsonl: the SubagentStop hook reads each agent's transcript. Guard denials land here too.</a:t>
            </a:r>
            <a:endParaRPr lang="en-US" sz="1200" dirty="0"/>
          </a:p>
        </p:txBody>
      </p:sp>
      <p:sp>
        <p:nvSpPr>
          <p:cNvPr id="21" name="Shape 17"/>
          <p:cNvSpPr/>
          <p:nvPr/>
        </p:nvSpPr>
        <p:spPr>
          <a:xfrm>
            <a:off x="8001000" y="1691640"/>
            <a:ext cx="3502152" cy="1874520"/>
          </a:xfrm>
          <a:prstGeom prst="roundRect">
            <a:avLst>
              <a:gd name="adj" fmla="val 2927"/>
            </a:avLst>
          </a:prstGeom>
          <a:solidFill>
            <a:srgbClr val="F7F9FC"/>
          </a:solidFill>
          <a:ln/>
        </p:spPr>
        <p:txBody>
          <a:bodyPr/>
          <a:p/>
        </p:txBody>
      </p:sp>
      <p:sp>
        <p:nvSpPr>
          <p:cNvPr id="22" name="Shape 18"/>
          <p:cNvSpPr/>
          <p:nvPr/>
        </p:nvSpPr>
        <p:spPr>
          <a:xfrm>
            <a:off x="8229600" y="1920240"/>
            <a:ext cx="329184" cy="329184"/>
          </a:xfrm>
          <a:prstGeom prst="ellipse">
            <a:avLst/>
          </a:prstGeom>
          <a:solidFill>
            <a:srgbClr val="405AE7"/>
          </a:solidFill>
          <a:ln/>
        </p:spPr>
        <p:txBody>
          <a:bodyPr/>
          <a:p/>
        </p:txBody>
      </p:sp>
      <p:sp>
        <p:nvSpPr>
          <p:cNvPr id="23" name="Text 19"/>
          <p:cNvSpPr txBox="1"/>
          <p:nvPr/>
        </p:nvSpPr>
        <p:spPr>
          <a:xfrm>
            <a:off x="8229600" y="1920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4" name="Text 20"/>
          <p:cNvSpPr txBox="1"/>
          <p:nvPr/>
        </p:nvSpPr>
        <p:spPr>
          <a:xfrm>
            <a:off x="8714232" y="19202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Run metrics</a:t>
            </a:r>
            <a:endParaRPr lang="en-US" sz="1400" dirty="0"/>
          </a:p>
        </p:txBody>
      </p:sp>
      <p:sp>
        <p:nvSpPr>
          <p:cNvPr id="25" name="Text 21"/>
          <p:cNvSpPr txBox="1"/>
          <p:nvPr/>
        </p:nvSpPr>
        <p:spPr>
          <a:xfrm>
            <a:off x="8275320" y="2404872"/>
            <a:ext cx="2953512" cy="105156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metrics.json: agent vs. orchestration time and human wait, per phase; tests, triage, critic rounds.</a:t>
            </a:r>
            <a:endParaRPr lang="en-US" sz="1200" dirty="0"/>
          </a:p>
        </p:txBody>
      </p:sp>
      <p:sp>
        <p:nvSpPr>
          <p:cNvPr id="26" name="Shape 22"/>
          <p:cNvSpPr/>
          <p:nvPr/>
        </p:nvSpPr>
        <p:spPr>
          <a:xfrm>
            <a:off x="685800" y="3749040"/>
            <a:ext cx="3502152" cy="1874520"/>
          </a:xfrm>
          <a:prstGeom prst="roundRect">
            <a:avLst>
              <a:gd name="adj" fmla="val 2927"/>
            </a:avLst>
          </a:prstGeom>
          <a:solidFill>
            <a:srgbClr val="F7F9FC"/>
          </a:solidFill>
          <a:ln/>
        </p:spPr>
        <p:txBody>
          <a:bodyPr/>
          <a:p/>
        </p:txBody>
      </p:sp>
      <p:sp>
        <p:nvSpPr>
          <p:cNvPr id="27" name="Shape 23"/>
          <p:cNvSpPr/>
          <p:nvPr/>
        </p:nvSpPr>
        <p:spPr>
          <a:xfrm>
            <a:off x="914400" y="3977640"/>
            <a:ext cx="329184" cy="329184"/>
          </a:xfrm>
          <a:prstGeom prst="ellipse">
            <a:avLst/>
          </a:prstGeom>
          <a:solidFill>
            <a:srgbClr val="405AE7"/>
          </a:solidFill>
          <a:ln/>
        </p:spPr>
        <p:txBody>
          <a:bodyPr/>
          <a:p/>
        </p:txBody>
      </p:sp>
      <p:sp>
        <p:nvSpPr>
          <p:cNvPr id="28" name="Text 24"/>
          <p:cNvSpPr txBox="1"/>
          <p:nvPr/>
        </p:nvSpPr>
        <p:spPr>
          <a:xfrm>
            <a:off x="914400" y="39776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4</a:t>
            </a:r>
            <a:endParaRPr lang="en-US" sz="1200" dirty="0"/>
          </a:p>
        </p:txBody>
      </p:sp>
      <p:sp>
        <p:nvSpPr>
          <p:cNvPr id="29" name="Text 25"/>
          <p:cNvSpPr txBox="1"/>
          <p:nvPr/>
        </p:nvSpPr>
        <p:spPr>
          <a:xfrm>
            <a:off x="1399032" y="39776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History</a:t>
            </a:r>
            <a:endParaRPr lang="en-US" sz="1400" dirty="0"/>
          </a:p>
        </p:txBody>
      </p:sp>
      <p:sp>
        <p:nvSpPr>
          <p:cNvPr id="30" name="Text 26"/>
          <p:cNvSpPr txBox="1"/>
          <p:nvPr/>
        </p:nvSpPr>
        <p:spPr>
          <a:xfrm>
            <a:off x="960120" y="4462272"/>
            <a:ext cx="2953512" cy="105156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history.jsonl: one line per run, for medians per phase across runs.</a:t>
            </a:r>
            <a:endParaRPr lang="en-US" sz="1200" dirty="0"/>
          </a:p>
        </p:txBody>
      </p:sp>
      <p:sp>
        <p:nvSpPr>
          <p:cNvPr id="31" name="Shape 27"/>
          <p:cNvSpPr/>
          <p:nvPr/>
        </p:nvSpPr>
        <p:spPr>
          <a:xfrm>
            <a:off x="4343400" y="3749040"/>
            <a:ext cx="3502152" cy="1874520"/>
          </a:xfrm>
          <a:prstGeom prst="roundRect">
            <a:avLst>
              <a:gd name="adj" fmla="val 2927"/>
            </a:avLst>
          </a:prstGeom>
          <a:solidFill>
            <a:srgbClr val="F7F9FC"/>
          </a:solidFill>
          <a:ln/>
        </p:spPr>
        <p:txBody>
          <a:bodyPr/>
          <a:p/>
        </p:txBody>
      </p:sp>
      <p:sp>
        <p:nvSpPr>
          <p:cNvPr id="32" name="Shape 28"/>
          <p:cNvSpPr/>
          <p:nvPr/>
        </p:nvSpPr>
        <p:spPr>
          <a:xfrm>
            <a:off x="4572000" y="3977640"/>
            <a:ext cx="329184" cy="329184"/>
          </a:xfrm>
          <a:prstGeom prst="ellipse">
            <a:avLst/>
          </a:prstGeom>
          <a:solidFill>
            <a:srgbClr val="405AE7"/>
          </a:solidFill>
          <a:ln/>
        </p:spPr>
        <p:txBody>
          <a:bodyPr/>
          <a:p/>
        </p:txBody>
      </p:sp>
      <p:sp>
        <p:nvSpPr>
          <p:cNvPr id="33" name="Text 29"/>
          <p:cNvSpPr txBox="1"/>
          <p:nvPr/>
        </p:nvSpPr>
        <p:spPr>
          <a:xfrm>
            <a:off x="4572000" y="39776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a:t>
            </a:r>
            <a:endParaRPr lang="en-US" sz="1200" dirty="0"/>
          </a:p>
        </p:txBody>
      </p:sp>
      <p:sp>
        <p:nvSpPr>
          <p:cNvPr id="34" name="Text 30"/>
          <p:cNvSpPr txBox="1"/>
          <p:nvPr/>
        </p:nvSpPr>
        <p:spPr>
          <a:xfrm>
            <a:off x="5056632" y="39776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Memory</a:t>
            </a:r>
            <a:endParaRPr lang="en-US" sz="1400" dirty="0"/>
          </a:p>
        </p:txBody>
      </p:sp>
      <p:sp>
        <p:nvSpPr>
          <p:cNvPr id="35" name="Text 31"/>
          <p:cNvSpPr txBox="1"/>
          <p:nvPr/>
        </p:nvSpPr>
        <p:spPr>
          <a:xfrm>
            <a:off x="4617720" y="4462272"/>
            <a:ext cx="2953512" cy="105156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Lessons from triage, critic gaps and denials. Unverified hints, shown at G2, expire after 6 runs unseen.</a:t>
            </a:r>
            <a:endParaRPr lang="en-US" sz="1200" dirty="0"/>
          </a:p>
        </p:txBody>
      </p:sp>
      <p:sp>
        <p:nvSpPr>
          <p:cNvPr id="36" name="Shape 32"/>
          <p:cNvSpPr/>
          <p:nvPr/>
        </p:nvSpPr>
        <p:spPr>
          <a:xfrm>
            <a:off x="8001000" y="3749040"/>
            <a:ext cx="3502152" cy="1874520"/>
          </a:xfrm>
          <a:prstGeom prst="roundRect">
            <a:avLst>
              <a:gd name="adj" fmla="val 2927"/>
            </a:avLst>
          </a:prstGeom>
          <a:solidFill>
            <a:srgbClr val="F7F9FC"/>
          </a:solidFill>
          <a:ln/>
        </p:spPr>
        <p:txBody>
          <a:bodyPr/>
          <a:p/>
        </p:txBody>
      </p:sp>
      <p:sp>
        <p:nvSpPr>
          <p:cNvPr id="37" name="Shape 33"/>
          <p:cNvSpPr/>
          <p:nvPr/>
        </p:nvSpPr>
        <p:spPr>
          <a:xfrm>
            <a:off x="8229600" y="3977640"/>
            <a:ext cx="329184" cy="329184"/>
          </a:xfrm>
          <a:prstGeom prst="ellipse">
            <a:avLst/>
          </a:prstGeom>
          <a:solidFill>
            <a:srgbClr val="405AE7"/>
          </a:solidFill>
          <a:ln/>
        </p:spPr>
        <p:txBody>
          <a:bodyPr/>
          <a:p/>
        </p:txBody>
      </p:sp>
      <p:sp>
        <p:nvSpPr>
          <p:cNvPr id="38" name="Text 34"/>
          <p:cNvSpPr txBox="1"/>
          <p:nvPr/>
        </p:nvSpPr>
        <p:spPr>
          <a:xfrm>
            <a:off x="8229600" y="39776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6</a:t>
            </a:r>
            <a:endParaRPr lang="en-US" sz="1200" dirty="0"/>
          </a:p>
        </p:txBody>
      </p:sp>
      <p:sp>
        <p:nvSpPr>
          <p:cNvPr id="39" name="Text 35"/>
          <p:cNvSpPr txBox="1"/>
          <p:nvPr/>
        </p:nvSpPr>
        <p:spPr>
          <a:xfrm>
            <a:off x="8714232" y="3977640"/>
            <a:ext cx="25877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Evidence</a:t>
            </a:r>
            <a:endParaRPr lang="en-US" sz="1400" dirty="0"/>
          </a:p>
        </p:txBody>
      </p:sp>
      <p:sp>
        <p:nvSpPr>
          <p:cNvPr id="40" name="Text 36"/>
          <p:cNvSpPr txBox="1"/>
          <p:nvPr/>
        </p:nvSpPr>
        <p:spPr>
          <a:xfrm>
            <a:off x="8275320" y="4462272"/>
            <a:ext cx="2953512" cy="105156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Playwright HTML report with traces and screenshots; the QA PR and Jira cite it.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Honest Limits</a:t>
            </a:r>
            <a:endParaRPr lang="en-US" sz="30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20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0" name="Shape 6"/>
          <p:cNvSpPr/>
          <p:nvPr/>
        </p:nvSpPr>
        <p:spPr>
          <a:xfrm>
            <a:off x="685800" y="1463040"/>
            <a:ext cx="5330952" cy="1524000"/>
          </a:xfrm>
          <a:prstGeom prst="roundRect">
            <a:avLst>
              <a:gd name="adj" fmla="val 2791"/>
            </a:avLst>
          </a:prstGeom>
          <a:solidFill>
            <a:srgbClr val="F7F9FC"/>
          </a:solidFill>
          <a:ln/>
        </p:spPr>
        <p:txBody>
          <a:bodyPr/>
          <a:p/>
        </p:txBody>
      </p:sp>
      <p:sp>
        <p:nvSpPr>
          <p:cNvPr id="11" name="Shape 7"/>
          <p:cNvSpPr/>
          <p:nvPr/>
        </p:nvSpPr>
        <p:spPr>
          <a:xfrm>
            <a:off x="914400" y="1645920"/>
            <a:ext cx="329184" cy="329184"/>
          </a:xfrm>
          <a:prstGeom prst="ellipse">
            <a:avLst/>
          </a:prstGeom>
          <a:solidFill>
            <a:srgbClr val="666666"/>
          </a:solidFill>
          <a:ln/>
        </p:spPr>
        <p:txBody>
          <a:bodyPr/>
          <a:p/>
        </p:txBody>
      </p:sp>
      <p:sp>
        <p:nvSpPr>
          <p:cNvPr id="12" name="Text 8"/>
          <p:cNvSpPr txBox="1"/>
          <p:nvPr/>
        </p:nvSpPr>
        <p:spPr>
          <a:xfrm>
            <a:off x="914400" y="164592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3" name="Text 9"/>
          <p:cNvSpPr txBox="1"/>
          <p:nvPr/>
        </p:nvSpPr>
        <p:spPr>
          <a:xfrm>
            <a:off x="1399032" y="1645920"/>
            <a:ext cx="44165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A workflow control, not a security boundary</a:t>
            </a:r>
            <a:endParaRPr lang="en-US" sz="1400" dirty="0"/>
          </a:p>
        </p:txBody>
      </p:sp>
      <p:sp>
        <p:nvSpPr>
          <p:cNvPr id="14" name="Text 10"/>
          <p:cNvSpPr txBox="1"/>
          <p:nvPr/>
        </p:nvSpPr>
        <p:spPr>
          <a:xfrm>
            <a:off x="960120" y="2057400"/>
            <a:ext cx="4782312" cy="838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Text scanning can be evaded by a determined program, and the plugin is locally editable. Branch protection is the second layer.</a:t>
            </a:r>
            <a:endParaRPr lang="en-US" sz="1200" dirty="0"/>
          </a:p>
        </p:txBody>
      </p:sp>
      <p:sp>
        <p:nvSpPr>
          <p:cNvPr id="15" name="Shape 11"/>
          <p:cNvSpPr/>
          <p:nvPr/>
        </p:nvSpPr>
        <p:spPr>
          <a:xfrm>
            <a:off x="6172200" y="1463040"/>
            <a:ext cx="5330952" cy="1524000"/>
          </a:xfrm>
          <a:prstGeom prst="roundRect">
            <a:avLst>
              <a:gd name="adj" fmla="val 2791"/>
            </a:avLst>
          </a:prstGeom>
          <a:solidFill>
            <a:srgbClr val="F7F9FC"/>
          </a:solidFill>
          <a:ln/>
        </p:spPr>
        <p:txBody>
          <a:bodyPr/>
          <a:p/>
        </p:txBody>
      </p:sp>
      <p:sp>
        <p:nvSpPr>
          <p:cNvPr id="16" name="Shape 12"/>
          <p:cNvSpPr/>
          <p:nvPr/>
        </p:nvSpPr>
        <p:spPr>
          <a:xfrm>
            <a:off x="6400800" y="1645920"/>
            <a:ext cx="329184" cy="329184"/>
          </a:xfrm>
          <a:prstGeom prst="ellipse">
            <a:avLst/>
          </a:prstGeom>
          <a:solidFill>
            <a:srgbClr val="666666"/>
          </a:solidFill>
          <a:ln/>
        </p:spPr>
        <p:txBody>
          <a:bodyPr/>
          <a:p/>
        </p:txBody>
      </p:sp>
      <p:sp>
        <p:nvSpPr>
          <p:cNvPr id="17" name="Text 13"/>
          <p:cNvSpPr txBox="1"/>
          <p:nvPr/>
        </p:nvSpPr>
        <p:spPr>
          <a:xfrm>
            <a:off x="6400800" y="164592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18" name="Text 14"/>
          <p:cNvSpPr txBox="1"/>
          <p:nvPr/>
        </p:nvSpPr>
        <p:spPr>
          <a:xfrm>
            <a:off x="6885432" y="1645920"/>
            <a:ext cx="44165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G2 can't prove a human answered</a:t>
            </a:r>
            <a:endParaRPr lang="en-US" sz="1400" dirty="0"/>
          </a:p>
        </p:txBody>
      </p:sp>
      <p:sp>
        <p:nvSpPr>
          <p:cNvPr id="19" name="Text 15"/>
          <p:cNvSpPr txBox="1"/>
          <p:nvPr/>
        </p:nvSpPr>
        <p:spPr>
          <a:xfrm>
            <a:off x="6446520" y="2057400"/>
            <a:ext cx="4782312" cy="838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The approval is recorded by a script the model runs after asking. It binds to the plan on disk, nothing more.</a:t>
            </a:r>
            <a:endParaRPr lang="en-US" sz="1200" dirty="0"/>
          </a:p>
        </p:txBody>
      </p:sp>
      <p:sp>
        <p:nvSpPr>
          <p:cNvPr id="20" name="Shape 16"/>
          <p:cNvSpPr/>
          <p:nvPr/>
        </p:nvSpPr>
        <p:spPr>
          <a:xfrm>
            <a:off x="685800" y="3124200"/>
            <a:ext cx="5330952" cy="1524000"/>
          </a:xfrm>
          <a:prstGeom prst="roundRect">
            <a:avLst>
              <a:gd name="adj" fmla="val 2791"/>
            </a:avLst>
          </a:prstGeom>
          <a:solidFill>
            <a:srgbClr val="F7F9FC"/>
          </a:solidFill>
          <a:ln/>
        </p:spPr>
        <p:txBody>
          <a:bodyPr/>
          <a:p/>
        </p:txBody>
      </p:sp>
      <p:sp>
        <p:nvSpPr>
          <p:cNvPr id="21" name="Shape 17"/>
          <p:cNvSpPr/>
          <p:nvPr/>
        </p:nvSpPr>
        <p:spPr>
          <a:xfrm>
            <a:off x="914400" y="3307080"/>
            <a:ext cx="329184" cy="329184"/>
          </a:xfrm>
          <a:prstGeom prst="ellipse">
            <a:avLst/>
          </a:prstGeom>
          <a:solidFill>
            <a:srgbClr val="666666"/>
          </a:solidFill>
          <a:ln/>
        </p:spPr>
        <p:txBody>
          <a:bodyPr/>
          <a:p/>
        </p:txBody>
      </p:sp>
      <p:sp>
        <p:nvSpPr>
          <p:cNvPr id="22" name="Text 18"/>
          <p:cNvSpPr txBox="1"/>
          <p:nvPr/>
        </p:nvSpPr>
        <p:spPr>
          <a:xfrm>
            <a:off x="914400" y="330708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3" name="Text 19"/>
          <p:cNvSpPr txBox="1"/>
          <p:nvPr/>
        </p:nvSpPr>
        <p:spPr>
          <a:xfrm>
            <a:off x="1399032" y="3307080"/>
            <a:ext cx="44165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One machine at a time</a:t>
            </a:r>
            <a:endParaRPr lang="en-US" sz="1400" dirty="0"/>
          </a:p>
        </p:txBody>
      </p:sp>
      <p:sp>
        <p:nvSpPr>
          <p:cNvPr id="24" name="Text 20"/>
          <p:cNvSpPr txBox="1"/>
          <p:nvPr/>
        </p:nvSpPr>
        <p:spPr>
          <a:xfrm>
            <a:off x="960120" y="3718560"/>
            <a:ext cx="4782312" cy="838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The lock doesn't coordinate across machines.</a:t>
            </a:r>
            <a:endParaRPr lang="en-US" sz="1200" dirty="0"/>
          </a:p>
        </p:txBody>
      </p:sp>
      <p:sp>
        <p:nvSpPr>
          <p:cNvPr id="25" name="Shape 21"/>
          <p:cNvSpPr/>
          <p:nvPr/>
        </p:nvSpPr>
        <p:spPr>
          <a:xfrm>
            <a:off x="6172200" y="3124200"/>
            <a:ext cx="5330952" cy="1524000"/>
          </a:xfrm>
          <a:prstGeom prst="roundRect">
            <a:avLst>
              <a:gd name="adj" fmla="val 2791"/>
            </a:avLst>
          </a:prstGeom>
          <a:solidFill>
            <a:srgbClr val="F7F9FC"/>
          </a:solidFill>
          <a:ln/>
        </p:spPr>
        <p:txBody>
          <a:bodyPr/>
          <a:p/>
        </p:txBody>
      </p:sp>
      <p:sp>
        <p:nvSpPr>
          <p:cNvPr id="26" name="Shape 22"/>
          <p:cNvSpPr/>
          <p:nvPr/>
        </p:nvSpPr>
        <p:spPr>
          <a:xfrm>
            <a:off x="6400800" y="3307080"/>
            <a:ext cx="329184" cy="329184"/>
          </a:xfrm>
          <a:prstGeom prst="ellipse">
            <a:avLst/>
          </a:prstGeom>
          <a:solidFill>
            <a:srgbClr val="666666"/>
          </a:solidFill>
          <a:ln/>
        </p:spPr>
        <p:txBody>
          <a:bodyPr/>
          <a:p/>
        </p:txBody>
      </p:sp>
      <p:sp>
        <p:nvSpPr>
          <p:cNvPr id="27" name="Text 23"/>
          <p:cNvSpPr txBox="1"/>
          <p:nvPr/>
        </p:nvSpPr>
        <p:spPr>
          <a:xfrm>
            <a:off x="6400800" y="330708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4</a:t>
            </a:r>
            <a:endParaRPr lang="en-US" sz="1200" dirty="0"/>
          </a:p>
        </p:txBody>
      </p:sp>
      <p:sp>
        <p:nvSpPr>
          <p:cNvPr id="28" name="Text 24"/>
          <p:cNvSpPr txBox="1"/>
          <p:nvPr/>
        </p:nvSpPr>
        <p:spPr>
          <a:xfrm>
            <a:off x="6885432" y="3307080"/>
            <a:ext cx="44165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Local stack, local evidence</a:t>
            </a:r>
            <a:endParaRPr lang="en-US" sz="1400" dirty="0"/>
          </a:p>
        </p:txBody>
      </p:sp>
      <p:sp>
        <p:nvSpPr>
          <p:cNvPr id="29" name="Text 25"/>
          <p:cNvSpPr txBox="1"/>
          <p:nvPr/>
        </p:nvSpPr>
        <p:spPr>
          <a:xfrm>
            <a:off x="6446520" y="3718560"/>
            <a:ext cx="4782312" cy="838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It tests a QA stack built from the tested commit, not a deployed environment, and reports stay on the QA engineer's machine.</a:t>
            </a:r>
            <a:endParaRPr lang="en-US" sz="1200" dirty="0"/>
          </a:p>
        </p:txBody>
      </p:sp>
      <p:sp>
        <p:nvSpPr>
          <p:cNvPr id="30" name="Shape 21"/>
          <p:cNvSpPr/>
          <p:nvPr/>
        </p:nvSpPr>
        <p:spPr>
          <a:xfrm>
            <a:off x="685800" y="4785360"/>
            <a:ext cx="5330952" cy="1524000"/>
          </a:xfrm>
          <a:prstGeom prst="roundRect">
            <a:avLst>
              <a:gd name="adj" fmla="val 2791"/>
            </a:avLst>
          </a:prstGeom>
          <a:solidFill>
            <a:srgbClr val="F7F9FC"/>
          </a:solidFill>
          <a:ln/>
        </p:spPr>
        <p:txBody>
          <a:bodyPr/>
          <a:p/>
        </p:txBody>
      </p:sp>
      <p:sp>
        <p:nvSpPr>
          <p:cNvPr id="31" name="Shape 22"/>
          <p:cNvSpPr/>
          <p:nvPr/>
        </p:nvSpPr>
        <p:spPr>
          <a:xfrm>
            <a:off x="914400" y="4968240"/>
            <a:ext cx="329184" cy="329184"/>
          </a:xfrm>
          <a:prstGeom prst="ellipse">
            <a:avLst/>
          </a:prstGeom>
          <a:solidFill>
            <a:srgbClr val="666666"/>
          </a:solidFill>
          <a:ln/>
        </p:spPr>
        <p:txBody>
          <a:bodyPr/>
          <a:p/>
        </p:txBody>
      </p:sp>
      <p:sp>
        <p:nvSpPr>
          <p:cNvPr id="32" name="Text 23"/>
          <p:cNvSpPr txBox="1"/>
          <p:nvPr/>
        </p:nvSpPr>
        <p:spPr>
          <a:xfrm>
            <a:off x="914400" y="4968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a:t>
            </a:r>
            <a:endParaRPr lang="en-US" sz="1200" dirty="0"/>
          </a:p>
        </p:txBody>
      </p:sp>
      <p:sp>
        <p:nvSpPr>
          <p:cNvPr id="33" name="Text 24"/>
          <p:cNvSpPr txBox="1"/>
          <p:nvPr/>
        </p:nvSpPr>
        <p:spPr>
          <a:xfrm>
            <a:off x="1399032" y="4968240"/>
            <a:ext cx="44165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Token cost is high</a:t>
            </a:r>
            <a:endParaRPr lang="en-US" sz="1400" dirty="0"/>
          </a:p>
        </p:txBody>
      </p:sp>
      <p:sp>
        <p:nvSpPr>
          <p:cNvPr id="34" name="Text 25"/>
          <p:cNvSpPr txBox="1"/>
          <p:nvPr/>
        </p:nvSpPr>
        <p:spPr>
          <a:xfrm>
            <a:off x="960120" y="5379720"/>
            <a:ext cx="4782312" cy="838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Seven agents, two of them on Opus, each reading code and test output. The last three runs used 2.4M–5.0M tokens each.</a:t>
            </a:r>
            <a:endParaRPr lang="en-US" sz="1200" dirty="0"/>
          </a:p>
        </p:txBody>
      </p:sp>
      <p:sp>
        <p:nvSpPr>
          <p:cNvPr id="35" name="Shape 21"/>
          <p:cNvSpPr/>
          <p:nvPr/>
        </p:nvSpPr>
        <p:spPr>
          <a:xfrm>
            <a:off x="6172200" y="4785360"/>
            <a:ext cx="5330952" cy="1524000"/>
          </a:xfrm>
          <a:prstGeom prst="roundRect">
            <a:avLst>
              <a:gd name="adj" fmla="val 2791"/>
            </a:avLst>
          </a:prstGeom>
          <a:solidFill>
            <a:srgbClr val="F7F9FC"/>
          </a:solidFill>
          <a:ln/>
        </p:spPr>
        <p:txBody>
          <a:bodyPr/>
          <a:p/>
        </p:txBody>
      </p:sp>
      <p:sp>
        <p:nvSpPr>
          <p:cNvPr id="36" name="Shape 22"/>
          <p:cNvSpPr/>
          <p:nvPr/>
        </p:nvSpPr>
        <p:spPr>
          <a:xfrm>
            <a:off x="6400800" y="4968240"/>
            <a:ext cx="329184" cy="329184"/>
          </a:xfrm>
          <a:prstGeom prst="ellipse">
            <a:avLst/>
          </a:prstGeom>
          <a:solidFill>
            <a:srgbClr val="666666"/>
          </a:solidFill>
          <a:ln/>
        </p:spPr>
        <p:txBody>
          <a:bodyPr/>
          <a:p/>
        </p:txBody>
      </p:sp>
      <p:sp>
        <p:nvSpPr>
          <p:cNvPr id="37" name="Text 23"/>
          <p:cNvSpPr txBox="1"/>
          <p:nvPr/>
        </p:nvSpPr>
        <p:spPr>
          <a:xfrm>
            <a:off x="6400800" y="4968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6</a:t>
            </a:r>
            <a:endParaRPr lang="en-US" sz="1200" dirty="0"/>
          </a:p>
        </p:txBody>
      </p:sp>
      <p:sp>
        <p:nvSpPr>
          <p:cNvPr id="38" name="Text 24"/>
          <p:cNvSpPr txBox="1"/>
          <p:nvPr/>
        </p:nvSpPr>
        <p:spPr>
          <a:xfrm>
            <a:off x="6885432" y="4968240"/>
            <a:ext cx="4416552" cy="329184"/>
          </a:xfrm>
          <a:prstGeom prst="rect">
            <a:avLst/>
          </a:prstGeom>
          <a:noFill/>
          <a:ln/>
        </p:spPr>
        <p:txBody>
          <a:bodyPr wrap="square" lIns="0" tIns="0" rIns="0" bIns="0" rtlCol="0" anchor="ctr"/>
          <a:lstStyle/>
          <a:p>
            <a:pPr indent="0" marL="0">
              <a:buNone/>
            </a:pPr>
            <a:r>
              <a:rPr lang="en-US" sz="1400" dirty="0">
                <a:solidFill>
                  <a:srgbClr val="1A1A1A"/>
                </a:solidFill>
                <a:latin typeface="Poppins SemiBold" pitchFamily="34" charset="0"/>
                <a:ea typeface="Poppins SemiBold" pitchFamily="34" charset="-122"/>
                <a:cs typeface="Poppins SemiBold" pitchFamily="34" charset="-120"/>
              </a:rPr>
              <a:t>It needs an owner</a:t>
            </a:r>
            <a:endParaRPr lang="en-US" sz="1400" dirty="0"/>
          </a:p>
        </p:txBody>
      </p:sp>
      <p:sp>
        <p:nvSpPr>
          <p:cNvPr id="39" name="Text 25"/>
          <p:cNvSpPr txBox="1"/>
          <p:nvPr/>
        </p:nvSpPr>
        <p:spPr>
          <a:xfrm>
            <a:off x="6446520" y="5379720"/>
            <a:ext cx="4782312" cy="838200"/>
          </a:xfrm>
          <a:prstGeom prst="rect">
            <a:avLst/>
          </a:prstGeom>
          <a:noFill/>
          <a:ln/>
        </p:spPr>
        <p:txBody>
          <a:bodyPr wrap="square" lIns="0" tIns="0" rIns="0" bIns="0" rtlCol="0" anchor="t"/>
          <a:lstStyle/>
          <a:p>
            <a:pPr indent="0" marL="0">
              <a:buNone/>
            </a:pPr>
            <a:r>
              <a:rPr lang="en-US" sz="1200" dirty="0">
                <a:solidFill>
                  <a:srgbClr val="666666"/>
                </a:solidFill>
                <a:latin typeface="Poppins" pitchFamily="34" charset="0"/>
                <a:ea typeface="Poppins" pitchFamily="34" charset="-122"/>
                <a:cs typeface="Poppins" pitchFamily="34" charset="-120"/>
              </a:rPr>
              <a:t>Claude Code, the models and the app keep changing. The skills, briefs, guard rules and flow need monitoring, upgrades and re-testing.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Live Demo</a:t>
            </a:r>
            <a:endParaRPr lang="en-US" sz="3000" dirty="0"/>
          </a:p>
        </p:txBody>
      </p:sp>
      <p:sp>
        <p:nvSpPr>
          <p:cNvPr id="5" name="Shape 3"/>
          <p:cNvSpPr/>
          <p:nvPr/>
        </p:nvSpPr>
        <p:spPr>
          <a:xfrm>
            <a:off x="10177272" y="694944"/>
            <a:ext cx="1325880" cy="365760"/>
          </a:xfrm>
          <a:prstGeom prst="roundRect">
            <a:avLst>
              <a:gd name="adj" fmla="val 50000"/>
            </a:avLst>
          </a:prstGeom>
          <a:solidFill>
            <a:srgbClr val="E6F3EC"/>
          </a:solidFill>
          <a:ln/>
        </p:spPr>
        <p:txBody>
          <a:bodyPr/>
          <a:p/>
        </p:txBody>
      </p:sp>
      <p:sp>
        <p:nvSpPr>
          <p:cNvPr id="6" name="Text 4"/>
          <p:cNvSpPr txBox="1"/>
          <p:nvPr/>
        </p:nvSpPr>
        <p:spPr>
          <a:xfrm>
            <a:off x="10177272" y="694944"/>
            <a:ext cx="1325880" cy="365760"/>
          </a:xfrm>
          <a:prstGeom prst="rect">
            <a:avLst/>
          </a:prstGeom>
          <a:noFill/>
          <a:ln/>
        </p:spPr>
        <p:txBody>
          <a:bodyPr wrap="square" lIns="0" tIns="0" rIns="0" bIns="0" rtlCol="0" anchor="ctr"/>
          <a:lstStyle/>
          <a:p>
            <a:pPr algn="ctr" indent="0" marL="0">
              <a:buNone/>
            </a:pPr>
            <a:r>
              <a:rPr lang="en-US" sz="1200" dirty="0">
                <a:solidFill>
                  <a:srgbClr val="2D8C55"/>
                </a:solidFill>
                <a:latin typeface="Poppins SemiBold" pitchFamily="34" charset="0"/>
                <a:ea typeface="Poppins SemiBold" pitchFamily="34" charset="-122"/>
                <a:cs typeface="Poppins SemiBold" pitchFamily="34" charset="-120"/>
              </a:rPr>
              <a:t>LIVE</a:t>
            </a:r>
            <a:endParaRPr lang="en-US" sz="1200" dirty="0"/>
          </a:p>
        </p:txBody>
      </p:sp>
      <p:sp>
        <p:nvSpPr>
          <p:cNvPr id="7" name="Text 5"/>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21 —</a:t>
            </a:r>
            <a:endParaRPr lang="en-US" sz="1000" dirty="0"/>
          </a:p>
        </p:txBody>
      </p:sp>
      <p:pic>
        <p:nvPicPr>
          <p:cNvPr id="8"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0" name="Shape 6"/>
          <p:cNvSpPr/>
          <p:nvPr/>
        </p:nvSpPr>
        <p:spPr>
          <a:xfrm>
            <a:off x="685800" y="1600200"/>
            <a:ext cx="10817352" cy="822960"/>
          </a:xfrm>
          <a:prstGeom prst="roundRect">
            <a:avLst>
              <a:gd name="adj" fmla="val 6667"/>
            </a:avLst>
          </a:prstGeom>
          <a:solidFill>
            <a:srgbClr val="1A1A1A"/>
          </a:solidFill>
          <a:ln/>
        </p:spPr>
        <p:txBody>
          <a:bodyPr/>
          <a:p/>
        </p:txBody>
      </p:sp>
      <p:sp>
        <p:nvSpPr>
          <p:cNvPr id="11" name="Text 7"/>
          <p:cNvSpPr txBox="1"/>
          <p:nvPr/>
        </p:nvSpPr>
        <p:spPr>
          <a:xfrm>
            <a:off x="960120" y="1600200"/>
            <a:ext cx="10332720" cy="822960"/>
          </a:xfrm>
          <a:prstGeom prst="rect">
            <a:avLst/>
          </a:prstGeom>
          <a:noFill/>
          <a:ln/>
        </p:spPr>
        <p:txBody>
          <a:bodyPr wrap="square" lIns="0" tIns="0" rIns="0" bIns="0" rtlCol="0" anchor="ctr"/>
          <a:lstStyle/>
          <a:p>
            <a:pPr indent="0" marL="0">
              <a:buNone/>
            </a:pPr>
            <a:r>
              <a:rPr lang="en-US" sz="2200" dirty="0">
                <a:solidFill>
                  <a:srgbClr val="2D8C55"/>
                </a:solidFill>
                <a:latin typeface="Consolas" pitchFamily="34" charset="0"/>
                <a:ea typeface="Consolas" pitchFamily="34" charset="-122"/>
                <a:cs typeface="Consolas" pitchFamily="34" charset="-120"/>
              </a:rPr>
              <a:t>&gt; </a:t>
            </a:r>
            <a:pPr indent="0" marL="0">
              <a:buNone/>
            </a:pPr>
            <a:r>
              <a:rPr lang="en-US" sz="2200" dirty="0">
                <a:solidFill>
                  <a:srgbClr val="FFFFFF"/>
                </a:solidFill>
                <a:latin typeface="Consolas" pitchFamily="34" charset="0"/>
                <a:ea typeface="Consolas" pitchFamily="34" charset="-122"/>
                <a:cs typeface="Consolas" pitchFamily="34" charset="-120"/>
              </a:rPr>
              <a:t>/qa-orchestrator:qa-run </a:t>
            </a:r>
            <a:pPr indent="0" marL="0">
              <a:buNone/>
            </a:pPr>
            <a:r>
              <a:rPr lang="en-US" sz="2200" dirty="0">
                <a:solidFill>
                  <a:srgbClr val="C9D6F5"/>
                </a:solidFill>
                <a:latin typeface="Consolas" pitchFamily="34" charset="0"/>
                <a:ea typeface="Consolas" pitchFamily="34" charset="-122"/>
                <a:cs typeface="Consolas" pitchFamily="34" charset="-120"/>
              </a:rPr>
              <a:t>&lt;TICKET-KEY&gt;</a:t>
            </a:r>
            <a:endParaRPr lang="en-US" sz="2200" dirty="0"/>
          </a:p>
        </p:txBody>
      </p:sp>
      <p:sp>
        <p:nvSpPr>
          <p:cNvPr id="12" name="Text 8"/>
          <p:cNvSpPr txBox="1"/>
          <p:nvPr/>
        </p:nvSpPr>
        <p:spPr>
          <a:xfrm>
            <a:off x="685800" y="2697480"/>
            <a:ext cx="5486400" cy="256032"/>
          </a:xfrm>
          <a:prstGeom prst="rect">
            <a:avLst/>
          </a:prstGeom>
          <a:noFill/>
          <a:ln/>
        </p:spPr>
        <p:txBody>
          <a:bodyPr wrap="square" lIns="0" tIns="0" rIns="0" bIns="0" rtlCol="0" anchor="t"/>
          <a:lstStyle/>
          <a:p>
            <a:pPr indent="0" marL="0">
              <a:buNone/>
            </a:pPr>
            <a:r>
              <a:rPr lang="en-US" sz="1050" spc="100" kern="0" dirty="0">
                <a:solidFill>
                  <a:srgbClr val="999999"/>
                </a:solidFill>
                <a:latin typeface="Poppins SemiBold" pitchFamily="34" charset="0"/>
                <a:ea typeface="Poppins SemiBold" pitchFamily="34" charset="-122"/>
                <a:cs typeface="Poppins SemiBold" pitchFamily="34" charset="-120"/>
              </a:rPr>
              <a:t>WHAT TO WATCH FOR</a:t>
            </a:r>
            <a:endParaRPr lang="en-US" sz="1050" dirty="0"/>
          </a:p>
        </p:txBody>
      </p:sp>
      <p:sp>
        <p:nvSpPr>
          <p:cNvPr id="13" name="Shape 9"/>
          <p:cNvSpPr/>
          <p:nvPr/>
        </p:nvSpPr>
        <p:spPr>
          <a:xfrm>
            <a:off x="685800" y="3063240"/>
            <a:ext cx="5330952" cy="731520"/>
          </a:xfrm>
          <a:prstGeom prst="roundRect">
            <a:avLst>
              <a:gd name="adj" fmla="val 5000"/>
            </a:avLst>
          </a:prstGeom>
          <a:solidFill>
            <a:srgbClr val="F7F9FC"/>
          </a:solidFill>
          <a:ln/>
        </p:spPr>
        <p:txBody>
          <a:bodyPr/>
          <a:p/>
        </p:txBody>
      </p:sp>
      <p:sp>
        <p:nvSpPr>
          <p:cNvPr id="14" name="Shape 10"/>
          <p:cNvSpPr/>
          <p:nvPr/>
        </p:nvSpPr>
        <p:spPr>
          <a:xfrm>
            <a:off x="868680" y="3264408"/>
            <a:ext cx="329184" cy="329184"/>
          </a:xfrm>
          <a:prstGeom prst="ellipse">
            <a:avLst/>
          </a:prstGeom>
          <a:solidFill>
            <a:srgbClr val="405AE7"/>
          </a:solidFill>
          <a:ln/>
        </p:spPr>
        <p:txBody>
          <a:bodyPr/>
          <a:p/>
        </p:txBody>
      </p:sp>
      <p:sp>
        <p:nvSpPr>
          <p:cNvPr id="15" name="Text 11"/>
          <p:cNvSpPr txBox="1"/>
          <p:nvPr/>
        </p:nvSpPr>
        <p:spPr>
          <a:xfrm>
            <a:off x="868680" y="326440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1</a:t>
            </a:r>
            <a:endParaRPr lang="en-US" sz="1200" dirty="0"/>
          </a:p>
        </p:txBody>
      </p:sp>
      <p:sp>
        <p:nvSpPr>
          <p:cNvPr id="16" name="Text 12"/>
          <p:cNvSpPr txBox="1"/>
          <p:nvPr/>
        </p:nvSpPr>
        <p:spPr>
          <a:xfrm>
            <a:off x="1371600" y="3063240"/>
            <a:ext cx="4480560" cy="731520"/>
          </a:xfrm>
          <a:prstGeom prst="rect">
            <a:avLst/>
          </a:prstGeom>
          <a:noFill/>
          <a:ln/>
        </p:spPr>
        <p:txBody>
          <a:bodyPr wrap="square" lIns="0" tIns="0" rIns="0" bIns="0" rtlCol="0" anchor="ct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Preflight</a:t>
            </a:r>
            <a:pPr indent="0" marL="0">
              <a:buNone/>
            </a:pPr>
            <a:r>
              <a:rPr lang="en-US" sz="1200" dirty="0">
                <a:solidFill>
                  <a:srgbClr val="666666"/>
                </a:solidFill>
                <a:latin typeface="Poppins" pitchFamily="34" charset="0"/>
                <a:ea typeface="Poppins" pitchFamily="34" charset="-122"/>
                <a:cs typeface="Poppins" pitchFamily="34" charset="-120"/>
              </a:rPr>
              <a:t>  —  a worktree, the QA stack in Docker, proof it runs the tested commit</a:t>
            </a:r>
            <a:endParaRPr lang="en-US" sz="1200" dirty="0"/>
          </a:p>
        </p:txBody>
      </p:sp>
      <p:sp>
        <p:nvSpPr>
          <p:cNvPr id="17" name="Shape 13"/>
          <p:cNvSpPr/>
          <p:nvPr/>
        </p:nvSpPr>
        <p:spPr>
          <a:xfrm>
            <a:off x="6172200" y="3063240"/>
            <a:ext cx="5330952" cy="731520"/>
          </a:xfrm>
          <a:prstGeom prst="roundRect">
            <a:avLst>
              <a:gd name="adj" fmla="val 5000"/>
            </a:avLst>
          </a:prstGeom>
          <a:solidFill>
            <a:srgbClr val="F7F9FC"/>
          </a:solidFill>
          <a:ln/>
        </p:spPr>
        <p:txBody>
          <a:bodyPr/>
          <a:p/>
        </p:txBody>
      </p:sp>
      <p:sp>
        <p:nvSpPr>
          <p:cNvPr id="18" name="Shape 14"/>
          <p:cNvSpPr/>
          <p:nvPr/>
        </p:nvSpPr>
        <p:spPr>
          <a:xfrm>
            <a:off x="6355080" y="3264408"/>
            <a:ext cx="329184" cy="329184"/>
          </a:xfrm>
          <a:prstGeom prst="ellipse">
            <a:avLst/>
          </a:prstGeom>
          <a:solidFill>
            <a:srgbClr val="405AE7"/>
          </a:solidFill>
          <a:ln/>
        </p:spPr>
        <p:txBody>
          <a:bodyPr/>
          <a:p/>
        </p:txBody>
      </p:sp>
      <p:sp>
        <p:nvSpPr>
          <p:cNvPr id="19" name="Text 15"/>
          <p:cNvSpPr txBox="1"/>
          <p:nvPr/>
        </p:nvSpPr>
        <p:spPr>
          <a:xfrm>
            <a:off x="6355080" y="326440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2</a:t>
            </a:r>
            <a:endParaRPr lang="en-US" sz="1200" dirty="0"/>
          </a:p>
        </p:txBody>
      </p:sp>
      <p:sp>
        <p:nvSpPr>
          <p:cNvPr id="20" name="Text 16"/>
          <p:cNvSpPr txBox="1"/>
          <p:nvPr/>
        </p:nvSpPr>
        <p:spPr>
          <a:xfrm>
            <a:off x="6858000" y="3063240"/>
            <a:ext cx="4480560" cy="731520"/>
          </a:xfrm>
          <a:prstGeom prst="rect">
            <a:avLst/>
          </a:prstGeom>
          <a:noFill/>
          <a:ln/>
        </p:spPr>
        <p:txBody>
          <a:bodyPr wrap="square" lIns="0" tIns="0" rIns="0" bIns="0" rtlCol="0" anchor="ct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Two agents at once</a:t>
            </a:r>
            <a:pPr indent="0" marL="0">
              <a:buNone/>
            </a:pPr>
            <a:r>
              <a:rPr lang="en-US" sz="1200" dirty="0">
                <a:solidFill>
                  <a:srgbClr val="666666"/>
                </a:solidFill>
                <a:latin typeface="Poppins" pitchFamily="34" charset="0"/>
                <a:ea typeface="Poppins" pitchFamily="34" charset="-122"/>
                <a:cs typeface="Poppins" pitchFamily="34" charset="-120"/>
              </a:rPr>
              <a:t>  —  suite-impact and change-analyst in one message</a:t>
            </a:r>
            <a:endParaRPr lang="en-US" sz="1200" dirty="0"/>
          </a:p>
        </p:txBody>
      </p:sp>
      <p:sp>
        <p:nvSpPr>
          <p:cNvPr id="21" name="Shape 17"/>
          <p:cNvSpPr/>
          <p:nvPr/>
        </p:nvSpPr>
        <p:spPr>
          <a:xfrm>
            <a:off x="685800" y="3931920"/>
            <a:ext cx="5330952" cy="731520"/>
          </a:xfrm>
          <a:prstGeom prst="roundRect">
            <a:avLst>
              <a:gd name="adj" fmla="val 5000"/>
            </a:avLst>
          </a:prstGeom>
          <a:solidFill>
            <a:srgbClr val="F7F9FC"/>
          </a:solidFill>
          <a:ln/>
        </p:spPr>
        <p:txBody>
          <a:bodyPr/>
          <a:p/>
        </p:txBody>
      </p:sp>
      <p:sp>
        <p:nvSpPr>
          <p:cNvPr id="22" name="Shape 18"/>
          <p:cNvSpPr/>
          <p:nvPr/>
        </p:nvSpPr>
        <p:spPr>
          <a:xfrm>
            <a:off x="868680" y="4133088"/>
            <a:ext cx="329184" cy="329184"/>
          </a:xfrm>
          <a:prstGeom prst="ellipse">
            <a:avLst/>
          </a:prstGeom>
          <a:solidFill>
            <a:srgbClr val="405AE7"/>
          </a:solidFill>
          <a:ln/>
        </p:spPr>
        <p:txBody>
          <a:bodyPr/>
          <a:p/>
        </p:txBody>
      </p:sp>
      <p:sp>
        <p:nvSpPr>
          <p:cNvPr id="23" name="Text 19"/>
          <p:cNvSpPr txBox="1"/>
          <p:nvPr/>
        </p:nvSpPr>
        <p:spPr>
          <a:xfrm>
            <a:off x="868680" y="413308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3</a:t>
            </a:r>
            <a:endParaRPr lang="en-US" sz="1200" dirty="0"/>
          </a:p>
        </p:txBody>
      </p:sp>
      <p:sp>
        <p:nvSpPr>
          <p:cNvPr id="24" name="Text 20"/>
          <p:cNvSpPr txBox="1"/>
          <p:nvPr/>
        </p:nvSpPr>
        <p:spPr>
          <a:xfrm>
            <a:off x="1371600" y="3931920"/>
            <a:ext cx="4480560" cy="731520"/>
          </a:xfrm>
          <a:prstGeom prst="rect">
            <a:avLst/>
          </a:prstGeom>
          <a:noFill/>
          <a:ln/>
        </p:spPr>
        <p:txBody>
          <a:bodyPr wrap="square" lIns="0" tIns="0" rIns="0" bIns="0" rtlCol="0" anchor="ct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The critic</a:t>
            </a:r>
            <a:pPr indent="0" marL="0">
              <a:buNone/>
            </a:pPr>
            <a:r>
              <a:rPr lang="en-US" sz="1200" dirty="0">
                <a:solidFill>
                  <a:srgbClr val="666666"/>
                </a:solidFill>
                <a:latin typeface="Poppins" pitchFamily="34" charset="0"/>
                <a:ea typeface="Poppins" pitchFamily="34" charset="-122"/>
                <a:cs typeface="Poppins" pitchFamily="34" charset="-120"/>
              </a:rPr>
              <a:t>  —  approve, or revise with gaps for a named agent</a:t>
            </a:r>
            <a:endParaRPr lang="en-US" sz="1200" dirty="0"/>
          </a:p>
        </p:txBody>
      </p:sp>
      <p:sp>
        <p:nvSpPr>
          <p:cNvPr id="25" name="Shape 21"/>
          <p:cNvSpPr/>
          <p:nvPr/>
        </p:nvSpPr>
        <p:spPr>
          <a:xfrm>
            <a:off x="6172200" y="3931920"/>
            <a:ext cx="5330952" cy="731520"/>
          </a:xfrm>
          <a:prstGeom prst="roundRect">
            <a:avLst>
              <a:gd name="adj" fmla="val 5000"/>
            </a:avLst>
          </a:prstGeom>
          <a:solidFill>
            <a:srgbClr val="F7F9FC"/>
          </a:solidFill>
          <a:ln/>
        </p:spPr>
        <p:txBody>
          <a:bodyPr/>
          <a:p/>
        </p:txBody>
      </p:sp>
      <p:sp>
        <p:nvSpPr>
          <p:cNvPr id="26" name="Shape 22"/>
          <p:cNvSpPr/>
          <p:nvPr/>
        </p:nvSpPr>
        <p:spPr>
          <a:xfrm>
            <a:off x="6355080" y="4133088"/>
            <a:ext cx="329184" cy="329184"/>
          </a:xfrm>
          <a:prstGeom prst="ellipse">
            <a:avLst/>
          </a:prstGeom>
          <a:solidFill>
            <a:srgbClr val="2D8C55"/>
          </a:solidFill>
          <a:ln/>
        </p:spPr>
        <p:txBody>
          <a:bodyPr/>
          <a:p/>
        </p:txBody>
      </p:sp>
      <p:sp>
        <p:nvSpPr>
          <p:cNvPr id="27" name="Text 23"/>
          <p:cNvSpPr txBox="1"/>
          <p:nvPr/>
        </p:nvSpPr>
        <p:spPr>
          <a:xfrm>
            <a:off x="6355080" y="413308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4</a:t>
            </a:r>
            <a:endParaRPr lang="en-US" sz="1200" dirty="0"/>
          </a:p>
        </p:txBody>
      </p:sp>
      <p:sp>
        <p:nvSpPr>
          <p:cNvPr id="28" name="Text 24"/>
          <p:cNvSpPr txBox="1"/>
          <p:nvPr/>
        </p:nvSpPr>
        <p:spPr>
          <a:xfrm>
            <a:off x="6858000" y="3931920"/>
            <a:ext cx="4480560" cy="731520"/>
          </a:xfrm>
          <a:prstGeom prst="rect">
            <a:avLst/>
          </a:prstGeom>
          <a:noFill/>
          <a:ln/>
        </p:spPr>
        <p:txBody>
          <a:bodyPr wrap="square" lIns="0" tIns="0" rIns="0" bIns="0" rtlCol="0" anchor="ct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G2</a:t>
            </a:r>
            <a:pPr indent="0" marL="0">
              <a:buNone/>
            </a:pPr>
            <a:r>
              <a:rPr lang="en-US" sz="1200" dirty="0">
                <a:solidFill>
                  <a:srgbClr val="666666"/>
                </a:solidFill>
                <a:latin typeface="Poppins" pitchFamily="34" charset="0"/>
                <a:ea typeface="Poppins" pitchFamily="34" charset="-122"/>
                <a:cs typeface="Poppins" pitchFamily="34" charset="-120"/>
              </a:rPr>
              <a:t>  —  I approve the plan, live</a:t>
            </a:r>
            <a:endParaRPr lang="en-US" sz="1200" dirty="0"/>
          </a:p>
        </p:txBody>
      </p:sp>
      <p:sp>
        <p:nvSpPr>
          <p:cNvPr id="29" name="Shape 25"/>
          <p:cNvSpPr/>
          <p:nvPr/>
        </p:nvSpPr>
        <p:spPr>
          <a:xfrm>
            <a:off x="685800" y="4800600"/>
            <a:ext cx="5330952" cy="731520"/>
          </a:xfrm>
          <a:prstGeom prst="roundRect">
            <a:avLst>
              <a:gd name="adj" fmla="val 5000"/>
            </a:avLst>
          </a:prstGeom>
          <a:solidFill>
            <a:srgbClr val="F7F9FC"/>
          </a:solidFill>
          <a:ln/>
        </p:spPr>
        <p:txBody>
          <a:bodyPr/>
          <a:p/>
        </p:txBody>
      </p:sp>
      <p:sp>
        <p:nvSpPr>
          <p:cNvPr id="30" name="Shape 26"/>
          <p:cNvSpPr/>
          <p:nvPr/>
        </p:nvSpPr>
        <p:spPr>
          <a:xfrm>
            <a:off x="868680" y="5001768"/>
            <a:ext cx="329184" cy="329184"/>
          </a:xfrm>
          <a:prstGeom prst="ellipse">
            <a:avLst/>
          </a:prstGeom>
          <a:solidFill>
            <a:srgbClr val="405AE7"/>
          </a:solidFill>
          <a:ln/>
        </p:spPr>
        <p:txBody>
          <a:bodyPr/>
          <a:p/>
        </p:txBody>
      </p:sp>
      <p:sp>
        <p:nvSpPr>
          <p:cNvPr id="31" name="Text 27"/>
          <p:cNvSpPr txBox="1"/>
          <p:nvPr/>
        </p:nvSpPr>
        <p:spPr>
          <a:xfrm>
            <a:off x="868680" y="500176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5</a:t>
            </a:r>
            <a:endParaRPr lang="en-US" sz="1200" dirty="0"/>
          </a:p>
        </p:txBody>
      </p:sp>
      <p:sp>
        <p:nvSpPr>
          <p:cNvPr id="32" name="Text 28"/>
          <p:cNvSpPr txBox="1"/>
          <p:nvPr/>
        </p:nvSpPr>
        <p:spPr>
          <a:xfrm>
            <a:off x="1371600" y="4800600"/>
            <a:ext cx="4480560" cy="731520"/>
          </a:xfrm>
          <a:prstGeom prst="rect">
            <a:avLst/>
          </a:prstGeom>
          <a:noFill/>
          <a:ln/>
        </p:spPr>
        <p:txBody>
          <a:bodyPr wrap="square" lIns="0" tIns="0" rIns="0" bIns="0" rtlCol="0" anchor="ct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Playwright + triage</a:t>
            </a:r>
            <a:pPr indent="0" marL="0">
              <a:buNone/>
            </a:pPr>
            <a:r>
              <a:rPr lang="en-US" sz="1200" dirty="0">
                <a:solidFill>
                  <a:srgbClr val="666666"/>
                </a:solidFill>
                <a:latin typeface="Poppins" pitchFamily="34" charset="0"/>
                <a:ea typeface="Poppins" pitchFamily="34" charset="-122"/>
                <a:cs typeface="Poppins" pitchFamily="34" charset="-120"/>
              </a:rPr>
              <a:t>  —  real test runs; every failure classified</a:t>
            </a:r>
            <a:endParaRPr lang="en-US" sz="1200" dirty="0"/>
          </a:p>
        </p:txBody>
      </p:sp>
      <p:sp>
        <p:nvSpPr>
          <p:cNvPr id="33" name="Shape 29"/>
          <p:cNvSpPr/>
          <p:nvPr/>
        </p:nvSpPr>
        <p:spPr>
          <a:xfrm>
            <a:off x="6172200" y="4800600"/>
            <a:ext cx="5330952" cy="731520"/>
          </a:xfrm>
          <a:prstGeom prst="roundRect">
            <a:avLst>
              <a:gd name="adj" fmla="val 5000"/>
            </a:avLst>
          </a:prstGeom>
          <a:solidFill>
            <a:srgbClr val="F7F9FC"/>
          </a:solidFill>
          <a:ln/>
        </p:spPr>
        <p:txBody>
          <a:bodyPr/>
          <a:p/>
        </p:txBody>
      </p:sp>
      <p:sp>
        <p:nvSpPr>
          <p:cNvPr id="34" name="Shape 30"/>
          <p:cNvSpPr/>
          <p:nvPr/>
        </p:nvSpPr>
        <p:spPr>
          <a:xfrm>
            <a:off x="6355080" y="5001768"/>
            <a:ext cx="329184" cy="329184"/>
          </a:xfrm>
          <a:prstGeom prst="ellipse">
            <a:avLst/>
          </a:prstGeom>
          <a:solidFill>
            <a:srgbClr val="2D8C55"/>
          </a:solidFill>
          <a:ln/>
        </p:spPr>
        <p:txBody>
          <a:bodyPr/>
          <a:p/>
        </p:txBody>
      </p:sp>
      <p:sp>
        <p:nvSpPr>
          <p:cNvPr id="35" name="Text 31"/>
          <p:cNvSpPr txBox="1"/>
          <p:nvPr/>
        </p:nvSpPr>
        <p:spPr>
          <a:xfrm>
            <a:off x="6355080" y="500176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6</a:t>
            </a:r>
            <a:endParaRPr lang="en-US" sz="1200" dirty="0"/>
          </a:p>
        </p:txBody>
      </p:sp>
      <p:sp>
        <p:nvSpPr>
          <p:cNvPr id="36" name="Text 32"/>
          <p:cNvSpPr txBox="1"/>
          <p:nvPr/>
        </p:nvSpPr>
        <p:spPr>
          <a:xfrm>
            <a:off x="6858000" y="4800600"/>
            <a:ext cx="4480560" cy="731520"/>
          </a:xfrm>
          <a:prstGeom prst="rect">
            <a:avLst/>
          </a:prstGeom>
          <a:noFill/>
          <a:ln/>
        </p:spPr>
        <p:txBody>
          <a:bodyPr wrap="square" lIns="0" tIns="0" rIns="0" bIns="0" rtlCol="0" anchor="ctr"/>
          <a:lstStyle/>
          <a:p>
            <a:pPr indent="0" marL="0">
              <a:buNone/>
            </a:pPr>
            <a:r>
              <a:rPr lang="en-US" sz="1200" dirty="0">
                <a:solidFill>
                  <a:srgbClr val="1A1A1A"/>
                </a:solidFill>
                <a:latin typeface="Poppins SemiBold" pitchFamily="34" charset="0"/>
                <a:ea typeface="Poppins SemiBold" pitchFamily="34" charset="-122"/>
                <a:cs typeface="Poppins SemiBold" pitchFamily="34" charset="-120"/>
              </a:rPr>
              <a:t>Hand-over</a:t>
            </a:r>
            <a:pPr indent="0" marL="0">
              <a:buNone/>
            </a:pPr>
            <a:r>
              <a:rPr lang="en-US" sz="1200" dirty="0">
                <a:solidFill>
                  <a:srgbClr val="666666"/>
                </a:solidFill>
                <a:latin typeface="Poppins" pitchFamily="34" charset="0"/>
                <a:ea typeface="Poppins" pitchFamily="34" charset="-122"/>
                <a:cs typeface="Poppins" pitchFamily="34" charset="-120"/>
              </a:rPr>
              <a:t>  —  QA PR + Jira comment → QA Review; the verdict stays mine</a:t>
            </a:r>
            <a:endParaRPr lang="en-US" sz="1200" dirty="0"/>
          </a:p>
        </p:txBody>
      </p:sp>
      <p:sp>
        <p:nvSpPr>
          <p:cNvPr id="37" name="Text 33"/>
          <p:cNvSpPr txBox="1"/>
          <p:nvPr/>
        </p:nvSpPr>
        <p:spPr>
          <a:xfrm>
            <a:off x="685800" y="5760720"/>
            <a:ext cx="10817352" cy="365760"/>
          </a:xfrm>
          <a:prstGeom prst="rect">
            <a:avLst/>
          </a:prstGeom>
          <a:noFill/>
          <a:ln/>
        </p:spPr>
        <p:txBody>
          <a:bodyPr wrap="square" lIns="0" tIns="0" rIns="0" bIns="0" rtlCol="0" anchor="t"/>
          <a:lstStyle/>
          <a:p>
            <a:pPr algn="ctr" indent="0" marL="0">
              <a:buNone/>
            </a:pPr>
            <a:r>
              <a:rPr lang="en-US" sz="1100" i="1" dirty="0">
                <a:solidFill>
                  <a:srgbClr val="999999"/>
                </a:solidFill>
                <a:latin typeface="Poppins Light" pitchFamily="34" charset="0"/>
                <a:ea typeface="Poppins Light" pitchFamily="34" charset="-122"/>
                <a:cs typeface="Poppins Light" pitchFamily="34" charset="-120"/>
              </a:rPr>
              <a:t>Follow along: .qa-runs/&lt;KEY&gt;/&lt;runId&gt;/dashboard.html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988552" y="256032"/>
            <a:ext cx="2743200" cy="228600"/>
          </a:xfrm>
          <a:prstGeom prst="rect">
            <a:avLst/>
          </a:prstGeom>
          <a:noFill/>
          <a:ln/>
        </p:spPr>
        <p:txBody>
          <a:bodyPr wrap="square" lIns="0" tIns="0" rIns="0" bIns="0" rtlCol="0" anchor="t"/>
          <a:lstStyle/>
          <a:p>
            <a:pPr algn="r" indent="0" marL="0">
              <a:buNone/>
            </a:pPr>
            <a:r>
              <a:rPr lang="en-US" sz="900" spc="100" kern="0" dirty="0">
                <a:solidFill>
                  <a:srgbClr val="405AE7"/>
                </a:solidFill>
                <a:latin typeface="Poppins SemiBold" pitchFamily="34" charset="0"/>
                <a:ea typeface="Poppins SemiBold" pitchFamily="34" charset="-122"/>
                <a:cs typeface="Poppins SemiBold" pitchFamily="34" charset="-120"/>
              </a:rPr>
              <a:t>QA ORCHESTRATOR · DEMO</a:t>
            </a:r>
            <a:endParaRPr lang="en-US" sz="900" dirty="0"/>
          </a:p>
        </p:txBody>
      </p:sp>
      <p:sp>
        <p:nvSpPr>
          <p:cNvPr id="3" name="Shape 1"/>
          <p:cNvSpPr/>
          <p:nvPr/>
        </p:nvSpPr>
        <p:spPr>
          <a:xfrm>
            <a:off x="457200" y="740664"/>
            <a:ext cx="82296" cy="384048"/>
          </a:xfrm>
          <a:prstGeom prst="rect">
            <a:avLst/>
          </a:prstGeom>
          <a:solidFill>
            <a:srgbClr val="405AE7"/>
          </a:solidFill>
          <a:ln/>
        </p:spPr>
        <p:txBody>
          <a:bodyPr/>
          <a:p/>
        </p:txBody>
      </p:sp>
      <p:sp>
        <p:nvSpPr>
          <p:cNvPr id="4" name="Text 2"/>
          <p:cNvSpPr txBox="1"/>
          <p:nvPr/>
        </p:nvSpPr>
        <p:spPr>
          <a:xfrm>
            <a:off x="685800" y="640080"/>
            <a:ext cx="9262872" cy="566928"/>
          </a:xfrm>
          <a:prstGeom prst="rect">
            <a:avLst/>
          </a:prstGeom>
          <a:noFill/>
          <a:ln/>
        </p:spPr>
        <p:txBody>
          <a:bodyPr wrap="square" lIns="0" tIns="0" rIns="0" bIns="0" rtlCol="0" anchor="ctr"/>
          <a:lstStyle/>
          <a:p>
            <a:pPr indent="0" marL="0">
              <a:buNone/>
            </a:pPr>
            <a:r>
              <a:rPr lang="en-US" sz="3000" dirty="0">
                <a:solidFill>
                  <a:srgbClr val="1A1A1A"/>
                </a:solidFill>
                <a:latin typeface="Poppins SemiBold" pitchFamily="34" charset="0"/>
                <a:ea typeface="Poppins SemiBold" pitchFamily="34" charset="-122"/>
                <a:cs typeface="Poppins SemiBold" pitchFamily="34" charset="-120"/>
              </a:rPr>
              <a:t>Q&amp;A / Next Steps</a:t>
            </a:r>
            <a:endParaRPr lang="en-US" sz="3000" dirty="0"/>
          </a:p>
        </p:txBody>
      </p:sp>
      <p:sp>
        <p:nvSpPr>
          <p:cNvPr id="7" name="Text 5"/>
          <p:cNvSpPr txBox="1"/>
          <p:nvPr/>
        </p:nvSpPr>
        <p:spPr>
          <a:xfrm>
            <a:off x="685800" y="1207008"/>
            <a:ext cx="10817352" cy="320040"/>
          </a:xfrm>
          <a:prstGeom prst="rect">
            <a:avLst/>
          </a:prstGeom>
          <a:noFill/>
          <a:ln/>
        </p:spPr>
        <p:txBody>
          <a:bodyPr wrap="square" lIns="0" tIns="0" rIns="0" bIns="0" rtlCol="0" anchor="t"/>
          <a:lstStyle/>
          <a:p>
            <a:pPr indent="0" marL="0">
              <a:buNone/>
            </a:pPr>
            <a:r>
              <a:rPr lang="en-US" sz="1300" dirty="0">
                <a:solidFill>
                  <a:srgbClr val="666666"/>
                </a:solidFill>
                <a:latin typeface="Poppins" pitchFamily="34" charset="0"/>
                <a:ea typeface="Poppins" pitchFamily="34" charset="-122"/>
                <a:cs typeface="Poppins" pitchFamily="34" charset="-120"/>
              </a:rPr>
              <a:t>What would you hand to an agent next?</a:t>
            </a:r>
            <a:endParaRPr lang="en-US" sz="1300" dirty="0"/>
          </a:p>
        </p:txBody>
      </p:sp>
      <p:sp>
        <p:nvSpPr>
          <p:cNvPr id="8" name="Text 6"/>
          <p:cNvSpPr txBox="1"/>
          <p:nvPr/>
        </p:nvSpPr>
        <p:spPr>
          <a:xfrm>
            <a:off x="0" y="6473952"/>
            <a:ext cx="12188952" cy="274320"/>
          </a:xfrm>
          <a:prstGeom prst="rect">
            <a:avLst/>
          </a:prstGeom>
          <a:noFill/>
          <a:ln/>
        </p:spPr>
        <p:txBody>
          <a:bodyPr wrap="square" lIns="0" tIns="0" rIns="0" bIns="0" rtlCol="0" anchor="t"/>
          <a:lstStyle/>
          <a:p>
            <a:pPr algn="ctr" indent="0" marL="0">
              <a:buNone/>
            </a:pPr>
            <a:r>
              <a:rPr lang="en-US" sz="1000" dirty="0">
                <a:solidFill>
                  <a:srgbClr val="999999"/>
                </a:solidFill>
                <a:latin typeface="Poppins Light" pitchFamily="34" charset="0"/>
                <a:ea typeface="Poppins Light" pitchFamily="34" charset="-122"/>
                <a:cs typeface="Poppins Light" pitchFamily="34" charset="-120"/>
              </a:rPr>
              <a:t>— 22 —</a:t>
            </a:r>
            <a:endParaRPr lang="en-US" sz="1000" dirty="0"/>
          </a:p>
        </p:txBody>
      </p:sp>
      <p:pic>
        <p:nvPicPr>
          <p:cNvPr id="9" name="Image 0" descr="logo">    </p:cNvPr>
          <p:cNvPicPr>
            <a:picLocks noChangeAspect="1"/>
          </p:cNvPicPr>
          <p:nvPr/>
        </p:nvPicPr>
        <p:blipFill>
          <a:blip r:embed="rId1"/>
          <a:stretch>
            <a:fillRect/>
          </a:stretch>
        </p:blipFill>
        <p:spPr>
          <a:xfrm>
            <a:off x="11622024" y="6400800"/>
            <a:ext cx="256032" cy="256032"/>
          </a:xfrm>
          <a:prstGeom prst="rect">
            <a:avLst/>
          </a:prstGeom>
        </p:spPr>
      </p:pic>
      <p:sp>
        <p:nvSpPr>
          <p:cNvPr id="11" name="Shape 7"/>
          <p:cNvSpPr/>
          <p:nvPr/>
        </p:nvSpPr>
        <p:spPr>
          <a:xfrm>
            <a:off x="685800" y="1828800"/>
            <a:ext cx="10817352" cy="2011680"/>
          </a:xfrm>
          <a:prstGeom prst="roundRect">
            <a:avLst>
              <a:gd name="adj" fmla="val 2727"/>
            </a:avLst>
          </a:prstGeom>
          <a:solidFill>
            <a:srgbClr val="EEF0FF"/>
          </a:solidFill>
          <a:ln/>
        </p:spPr>
        <p:txBody>
          <a:bodyPr/>
          <a:p/>
        </p:txBody>
      </p:sp>
      <p:sp>
        <p:nvSpPr>
          <p:cNvPr id="12" name="Text 8"/>
          <p:cNvSpPr txBox="1"/>
          <p:nvPr/>
        </p:nvSpPr>
        <p:spPr>
          <a:xfrm>
            <a:off x="685800" y="2286000"/>
            <a:ext cx="10817352" cy="548640"/>
          </a:xfrm>
          <a:prstGeom prst="rect">
            <a:avLst/>
          </a:prstGeom>
          <a:noFill/>
          <a:ln/>
        </p:spPr>
        <p:txBody>
          <a:bodyPr wrap="square" lIns="0" tIns="0" rIns="0" bIns="0" rtlCol="0" anchor="t"/>
          <a:lstStyle/>
          <a:p>
            <a:pPr algn="ctr" indent="0" marL="0">
              <a:buNone/>
            </a:pPr>
            <a:r>
              <a:rPr lang="en-US" sz="2400" dirty="0">
                <a:solidFill>
                  <a:srgbClr val="2C3FB0"/>
                </a:solidFill>
                <a:latin typeface="Poppins SemiBold" pitchFamily="34" charset="0"/>
                <a:ea typeface="Poppins SemiBold" pitchFamily="34" charset="-122"/>
                <a:cs typeface="Poppins SemiBold" pitchFamily="34" charset="-120"/>
              </a:rPr>
              <a:t>Questions &amp; Discussion</a:t>
            </a:r>
            <a:endParaRPr lang="en-US" sz="2400" dirty="0"/>
          </a:p>
        </p:txBody>
      </p:sp>
      <p:sp>
        <p:nvSpPr>
          <p:cNvPr id="13" name="Text 9"/>
          <p:cNvSpPr txBox="1"/>
          <p:nvPr/>
        </p:nvSpPr>
        <p:spPr>
          <a:xfrm>
            <a:off x="685800" y="2926080"/>
            <a:ext cx="10817352" cy="365760"/>
          </a:xfrm>
          <a:prstGeom prst="rect">
            <a:avLst/>
          </a:prstGeom>
          <a:noFill/>
          <a:ln/>
        </p:spPr>
        <p:txBody>
          <a:bodyPr wrap="square" lIns="0" tIns="0" rIns="0" bIns="0" rtlCol="0" anchor="t"/>
          <a:lstStyle/>
          <a:p>
            <a:pPr algn="ctr" indent="0" marL="0">
              <a:buNone/>
            </a:pPr>
            <a:r>
              <a:rPr lang="en-US" sz="1300" dirty="0">
                <a:solidFill>
                  <a:srgbClr val="666666"/>
                </a:solidFill>
                <a:latin typeface="Poppins" pitchFamily="34" charset="0"/>
                <a:ea typeface="Poppins" pitchFamily="34" charset="-122"/>
                <a:cs typeface="Poppins" pitchFamily="34" charset="-120"/>
              </a:rPr>
              <a:t>Open floor: the flow, the guard, adopting it in your project</a:t>
            </a:r>
            <a:endParaRPr lang="en-US" sz="1300" dirty="0"/>
          </a:p>
        </p:txBody>
      </p:sp>
      <p:sp>
        <p:nvSpPr>
          <p:cNvPr id="14" name="Shape 10"/>
          <p:cNvSpPr/>
          <p:nvPr/>
        </p:nvSpPr>
        <p:spPr>
          <a:xfrm>
            <a:off x="685800" y="4114800"/>
            <a:ext cx="3502152" cy="1371600"/>
          </a:xfrm>
          <a:prstGeom prst="roundRect">
            <a:avLst>
              <a:gd name="adj" fmla="val 4000"/>
            </a:avLst>
          </a:prstGeom>
          <a:solidFill>
            <a:srgbClr val="F7F9FC"/>
          </a:solidFill>
          <a:ln/>
        </p:spPr>
        <p:txBody>
          <a:bodyPr/>
          <a:p/>
        </p:txBody>
      </p:sp>
      <p:sp>
        <p:nvSpPr>
          <p:cNvPr id="15" name="Text 11"/>
          <p:cNvSpPr txBox="1"/>
          <p:nvPr/>
        </p:nvSpPr>
        <p:spPr>
          <a:xfrm>
            <a:off x="914400" y="4279392"/>
            <a:ext cx="3044952" cy="320040"/>
          </a:xfrm>
          <a:prstGeom prst="rect">
            <a:avLst/>
          </a:prstGeom>
          <a:noFill/>
          <a:ln/>
        </p:spPr>
        <p:txBody>
          <a:bodyPr wrap="square" lIns="0" tIns="0" rIns="0" bIns="0" rtlCol="0" anchor="t"/>
          <a:lstStyle/>
          <a:p>
            <a:pPr indent="0" marL="0">
              <a:buNone/>
            </a:pPr>
            <a:r>
              <a:rPr lang="en-US" sz="1350" dirty="0">
                <a:solidFill>
                  <a:srgbClr val="1A1A1A"/>
                </a:solidFill>
                <a:latin typeface="Poppins SemiBold" pitchFamily="34" charset="0"/>
                <a:ea typeface="Poppins SemiBold" pitchFamily="34" charset="-122"/>
                <a:cs typeface="Poppins SemiBold" pitchFamily="34" charset="-120"/>
              </a:rPr>
              <a:t>Adopt it</a:t>
            </a:r>
            <a:endParaRPr lang="en-US" sz="1350" dirty="0"/>
          </a:p>
        </p:txBody>
      </p:sp>
      <p:sp>
        <p:nvSpPr>
          <p:cNvPr id="16" name="Text 12"/>
          <p:cNvSpPr txBox="1"/>
          <p:nvPr/>
        </p:nvSpPr>
        <p:spPr>
          <a:xfrm>
            <a:off x="914400" y="4645152"/>
            <a:ext cx="3044952" cy="7315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Install per project, run /qa-orchestrator:setup, dry-run</a:t>
            </a:r>
            <a:endParaRPr lang="en-US" sz="1100" dirty="0"/>
          </a:p>
        </p:txBody>
      </p:sp>
      <p:sp>
        <p:nvSpPr>
          <p:cNvPr id="17" name="Shape 13"/>
          <p:cNvSpPr/>
          <p:nvPr/>
        </p:nvSpPr>
        <p:spPr>
          <a:xfrm>
            <a:off x="4343400" y="4114800"/>
            <a:ext cx="3502152" cy="1371600"/>
          </a:xfrm>
          <a:prstGeom prst="roundRect">
            <a:avLst>
              <a:gd name="adj" fmla="val 4000"/>
            </a:avLst>
          </a:prstGeom>
          <a:solidFill>
            <a:srgbClr val="F7F9FC"/>
          </a:solidFill>
          <a:ln/>
        </p:spPr>
        <p:txBody>
          <a:bodyPr/>
          <a:p/>
        </p:txBody>
      </p:sp>
      <p:sp>
        <p:nvSpPr>
          <p:cNvPr id="18" name="Text 14"/>
          <p:cNvSpPr txBox="1"/>
          <p:nvPr/>
        </p:nvSpPr>
        <p:spPr>
          <a:xfrm>
            <a:off x="4572000" y="4279392"/>
            <a:ext cx="3044952" cy="320040"/>
          </a:xfrm>
          <a:prstGeom prst="rect">
            <a:avLst/>
          </a:prstGeom>
          <a:noFill/>
          <a:ln/>
        </p:spPr>
        <p:txBody>
          <a:bodyPr wrap="square" lIns="0" tIns="0" rIns="0" bIns="0" rtlCol="0" anchor="t"/>
          <a:lstStyle/>
          <a:p>
            <a:pPr indent="0" marL="0">
              <a:buNone/>
            </a:pPr>
            <a:r>
              <a:rPr lang="en-US" sz="1350" dirty="0">
                <a:solidFill>
                  <a:srgbClr val="1A1A1A"/>
                </a:solidFill>
                <a:latin typeface="Poppins SemiBold" pitchFamily="34" charset="0"/>
                <a:ea typeface="Poppins SemiBold" pitchFamily="34" charset="-122"/>
                <a:cs typeface="Poppins SemiBold" pitchFamily="34" charset="-120"/>
              </a:rPr>
              <a:t>Docs</a:t>
            </a:r>
            <a:endParaRPr lang="en-US" sz="1350" dirty="0"/>
          </a:p>
        </p:txBody>
      </p:sp>
      <p:sp>
        <p:nvSpPr>
          <p:cNvPr id="19" name="Text 15"/>
          <p:cNvSpPr txBox="1"/>
          <p:nvPr/>
        </p:nvSpPr>
        <p:spPr>
          <a:xfrm>
            <a:off x="4572000" y="4645152"/>
            <a:ext cx="3044952" cy="7315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README · docs/design.md · docs/demo/workflow.html</a:t>
            </a:r>
            <a:endParaRPr lang="en-US" sz="1100" dirty="0"/>
          </a:p>
        </p:txBody>
      </p:sp>
      <p:sp>
        <p:nvSpPr>
          <p:cNvPr id="20" name="Shape 16"/>
          <p:cNvSpPr/>
          <p:nvPr/>
        </p:nvSpPr>
        <p:spPr>
          <a:xfrm>
            <a:off x="8001000" y="4114800"/>
            <a:ext cx="3502152" cy="1371600"/>
          </a:xfrm>
          <a:prstGeom prst="roundRect">
            <a:avLst>
              <a:gd name="adj" fmla="val 4000"/>
            </a:avLst>
          </a:prstGeom>
          <a:solidFill>
            <a:srgbClr val="F7F9FC"/>
          </a:solidFill>
          <a:ln/>
        </p:spPr>
        <p:txBody>
          <a:bodyPr/>
          <a:p/>
        </p:txBody>
      </p:sp>
      <p:sp>
        <p:nvSpPr>
          <p:cNvPr id="21" name="Text 17"/>
          <p:cNvSpPr txBox="1"/>
          <p:nvPr/>
        </p:nvSpPr>
        <p:spPr>
          <a:xfrm>
            <a:off x="8229600" y="4279392"/>
            <a:ext cx="3044952" cy="320040"/>
          </a:xfrm>
          <a:prstGeom prst="rect">
            <a:avLst/>
          </a:prstGeom>
          <a:noFill/>
          <a:ln/>
        </p:spPr>
        <p:txBody>
          <a:bodyPr wrap="square" lIns="0" tIns="0" rIns="0" bIns="0" rtlCol="0" anchor="t"/>
          <a:lstStyle/>
          <a:p>
            <a:pPr indent="0" marL="0">
              <a:buNone/>
            </a:pPr>
            <a:r>
              <a:rPr lang="en-US" sz="1350" dirty="0">
                <a:solidFill>
                  <a:srgbClr val="1A1A1A"/>
                </a:solidFill>
                <a:latin typeface="Poppins SemiBold" pitchFamily="34" charset="0"/>
                <a:ea typeface="Poppins SemiBold" pitchFamily="34" charset="-122"/>
                <a:cs typeface="Poppins SemiBold" pitchFamily="34" charset="-120"/>
              </a:rPr>
              <a:t>Source</a:t>
            </a:r>
            <a:endParaRPr lang="en-US" sz="1350" dirty="0"/>
          </a:p>
        </p:txBody>
      </p:sp>
      <p:sp>
        <p:nvSpPr>
          <p:cNvPr id="22" name="Text 18"/>
          <p:cNvSpPr txBox="1"/>
          <p:nvPr/>
        </p:nvSpPr>
        <p:spPr>
          <a:xfrm>
            <a:off x="8229600" y="4645152"/>
            <a:ext cx="3044952" cy="731520"/>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github.com/aneskurtovic/qa-orchestrator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405AE7"/>
        </a:solidFill>
      </p:bgPr>
    </p:bg>
    <p:spTree>
      <p:nvGrpSpPr>
        <p:cNvPr id="1" name=""/>
        <p:cNvGrpSpPr/>
        <p:nvPr/>
      </p:nvGrpSpPr>
      <p:grpSpPr>
        <a:xfrm>
          <a:off x="0" y="0"/>
          <a:ext cx="0" cy="0"/>
          <a:chOff x="0" y="0"/>
          <a:chExt cx="0" cy="0"/>
        </a:xfrm>
      </p:grpSpPr>
      <p:pic>
        <p:nvPicPr>
          <p:cNvPr id="2" name="Image 0" descr="logo">    </p:cNvPr>
          <p:cNvPicPr>
            <a:picLocks noChangeAspect="1"/>
          </p:cNvPicPr>
          <p:nvPr/>
        </p:nvPicPr>
        <p:blipFill>
          <a:blip r:embed="rId1"/>
          <a:stretch>
            <a:fillRect/>
          </a:stretch>
        </p:blipFill>
        <p:spPr>
          <a:xfrm>
            <a:off x="548640" y="502920"/>
            <a:ext cx="1737360" cy="310896"/>
          </a:xfrm>
          <a:prstGeom prst="rect">
            <a:avLst/>
          </a:prstGeom>
        </p:spPr>
      </p:pic>
      <p:sp>
        <p:nvSpPr>
          <p:cNvPr id="3" name="Text 0"/>
          <p:cNvSpPr txBox="1"/>
          <p:nvPr/>
        </p:nvSpPr>
        <p:spPr>
          <a:xfrm>
            <a:off x="548640" y="2743200"/>
            <a:ext cx="11091672" cy="822960"/>
          </a:xfrm>
          <a:prstGeom prst="rect">
            <a:avLst/>
          </a:prstGeom>
          <a:noFill/>
          <a:ln/>
        </p:spPr>
        <p:txBody>
          <a:bodyPr wrap="square" lIns="0" tIns="0" rIns="0" bIns="0" rtlCol="0" anchor="ctr"/>
          <a:lstStyle/>
          <a:p>
            <a:pPr indent="0" marL="0">
              <a:buNone/>
            </a:pPr>
            <a:r>
              <a:rPr lang="en-US" sz="3800" dirty="0">
                <a:solidFill>
                  <a:srgbClr val="FFFFFF"/>
                </a:solidFill>
                <a:latin typeface="Poppins SemiBold" pitchFamily="34" charset="0"/>
                <a:ea typeface="Poppins SemiBold" pitchFamily="34" charset="-122"/>
                <a:cs typeface="Poppins SemiBold" pitchFamily="34" charset="-120"/>
              </a:rPr>
              <a:t>Thank You</a:t>
            </a:r>
            <a:endParaRPr lang="en-US" sz="3800" dirty="0"/>
          </a:p>
        </p:txBody>
      </p:sp>
      <p:sp>
        <p:nvSpPr>
          <p:cNvPr id="4" name="Text 1"/>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1600" dirty="0">
                <a:solidFill>
                  <a:srgbClr val="C9D6F5"/>
                </a:solidFill>
                <a:latin typeface="Poppins" pitchFamily="34" charset="0"/>
                <a:ea typeface="Poppins" pitchFamily="34" charset="-122"/>
                <a:cs typeface="Poppins" pitchFamily="34" charset="-120"/>
              </a:rPr>
              <a:t>AI recommends · Playwright executes · Humans approve</a:t>
            </a:r>
            <a:endParaRPr lang="en-US" sz="1600" dirty="0"/>
          </a:p>
        </p:txBody>
      </p:sp>
      <p:sp>
        <p:nvSpPr>
          <p:cNvPr id="5" name="Text 2"/>
          <p:cNvSpPr txBox="1"/>
          <p:nvPr/>
        </p:nvSpPr>
        <p:spPr>
          <a:xfrm>
            <a:off x="548640" y="6217920"/>
            <a:ext cx="2743200" cy="274320"/>
          </a:xfrm>
          <a:prstGeom prst="rect">
            <a:avLst/>
          </a:prstGeom>
          <a:noFill/>
          <a:ln/>
        </p:spPr>
        <p:txBody>
          <a:bodyPr wrap="square" lIns="0" tIns="0" rIns="0" bIns="0" rtlCol="0" anchor="t"/>
          <a:lstStyle/>
          <a:p>
            <a:pPr indent="0" marL="0">
              <a:buNone/>
            </a:pPr>
            <a:r>
              <a:rPr lang="en-US" sz="1200" dirty="0">
                <a:solidFill>
                  <a:srgbClr val="C9D6F5"/>
                </a:solidFill>
                <a:latin typeface="Poppins Light" pitchFamily="34" charset="0"/>
                <a:ea typeface="Poppins Light" pitchFamily="34" charset="-122"/>
                <a:cs typeface="Poppins Light" pitchFamily="34" charset="-120"/>
              </a:rPr>
              <a:t>October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QA with Claude Code</dc:title>
  <dc:subject>PptxGenJS Presentation</dc:subject>
  <dc:creator>Anes Kurtovic</dc:creator>
  <cp:lastModifiedBy>Anes Kurtovic</cp:lastModifiedBy>
  <cp:revision>1</cp:revision>
  <dcterms:created xsi:type="dcterms:W3CDTF">2026-10-03T17:17:09Z</dcterms:created>
  <dcterms:modified xsi:type="dcterms:W3CDTF">2026-10-03T17:17:09Z</dcterms:modified>
</cp:coreProperties>
</file>